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embedTrueTypeFonts="1"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6858000" type="screen4x3"/>
  <p:notesSz cx="7104063" cy="10234613"/>
  <p:embeddedFontLst>
    <p:embeddedFont>
      <p:font typeface="Meiryo" panose="020B0604030504040204" pitchFamily="50" charset="-128"/>
      <p:regular r:id="rId47"/>
      <p:bold r:id="rId48"/>
      <p:italic r:id="rId49"/>
      <p:boldItalic r:id="rId50"/>
    </p:embeddedFont>
    <p:embeddedFont>
      <p:font typeface="Century" panose="02040604050505020304" pitchFamily="18" charset="0"/>
      <p:regular r:id="rId51"/>
    </p:embeddedFont>
    <p:embeddedFont>
      <p:font typeface="Helvetica Neue" panose="020B0600070205080204" charset="0"/>
      <p:regular r:id="rId52"/>
      <p:bold r:id="rId53"/>
      <p:italic r:id="rId54"/>
      <p:boldItalic r:id="rId55"/>
    </p:embeddedFont>
    <p:embeddedFont>
      <p:font typeface="Helvetica Neue Light" panose="020B0600070205080204" charset="0"/>
      <p:regular r:id="rId56"/>
      <p:bold r:id="rId57"/>
      <p:italic r:id="rId58"/>
      <p:boldItalic r:id="rId59"/>
    </p:embeddedFont>
    <p:embeddedFont>
      <p:font typeface="Poppins" panose="00000500000000000000" pitchFamily="2" charset="0"/>
      <p:regular r:id="rId60"/>
      <p:bold r:id="rId61"/>
      <p:italic r:id="rId62"/>
      <p:boldItalic r:id="rId63"/>
    </p:embeddedFont>
    <p:embeddedFont>
      <p:font typeface="Poppins Light" panose="00000400000000000000" pitchFamily="2" charset="0"/>
      <p:regular r:id="rId64"/>
      <p:bold r:id="rId65"/>
      <p:italic r:id="rId66"/>
      <p:boldItalic r:id="rId67"/>
    </p:embeddedFont>
    <p:embeddedFont>
      <p:font typeface="Poppins Medium" panose="00000600000000000000" pitchFamily="2"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2" roundtripDataSignature="AMtx7mgVEQKiN/T5BsFhtdJ9jb4S8eHnH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FEB39E-33E0-4033-A97A-97D64E5FD191}">
  <a:tblStyle styleId="{02FEB39E-33E0-4033-A97A-97D64E5FD19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017" autoAdjust="0"/>
  </p:normalViewPr>
  <p:slideViewPr>
    <p:cSldViewPr snapToGrid="0">
      <p:cViewPr varScale="1">
        <p:scale>
          <a:sx n="77" d="100"/>
          <a:sy n="77" d="100"/>
        </p:scale>
        <p:origin x="2067" y="4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font" Target="fonts/font2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font" Target="fonts/font20.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font" Target="fonts/font23.fntdata"/><Relationship Id="rId8" Type="http://schemas.openxmlformats.org/officeDocument/2006/relationships/slide" Target="slides/slide7.xml"/><Relationship Id="rId51" Type="http://schemas.openxmlformats.org/officeDocument/2006/relationships/font" Target="fonts/font5.fntdata"/><Relationship Id="rId72"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font" Target="fonts/font24.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4.fntdata"/><Relationship Id="rId55" Type="http://schemas.openxmlformats.org/officeDocument/2006/relationships/font" Target="fonts/font9.fntdata"/><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2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427" cy="513508"/>
          </a:xfrm>
          <a:prstGeom prst="rect">
            <a:avLst/>
          </a:prstGeom>
          <a:noFill/>
          <a:ln>
            <a:noFill/>
          </a:ln>
        </p:spPr>
        <p:txBody>
          <a:bodyPr spcFirstLastPara="1" wrap="square" lIns="99059" tIns="49516" rIns="99059" bIns="49516"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023992" y="0"/>
            <a:ext cx="3078427" cy="513508"/>
          </a:xfrm>
          <a:prstGeom prst="rect">
            <a:avLst/>
          </a:prstGeom>
          <a:noFill/>
          <a:ln>
            <a:noFill/>
          </a:ln>
        </p:spPr>
        <p:txBody>
          <a:bodyPr spcFirstLastPara="1" wrap="square" lIns="99059" tIns="49516" rIns="99059" bIns="49516"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721107"/>
            <a:ext cx="3078427" cy="513507"/>
          </a:xfrm>
          <a:prstGeom prst="rect">
            <a:avLst/>
          </a:prstGeom>
          <a:noFill/>
          <a:ln>
            <a:noFill/>
          </a:ln>
        </p:spPr>
        <p:txBody>
          <a:bodyPr spcFirstLastPara="1" wrap="square" lIns="99059" tIns="49516" rIns="99059" bIns="49516"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023992" y="9721107"/>
            <a:ext cx="3078427" cy="513507"/>
          </a:xfrm>
          <a:prstGeom prst="rect">
            <a:avLst/>
          </a:prstGeom>
          <a:noFill/>
          <a:ln>
            <a:noFill/>
          </a:ln>
        </p:spPr>
        <p:txBody>
          <a:bodyPr spcFirstLastPara="1" wrap="square" lIns="99059" tIns="49516" rIns="99059" bIns="49516" anchor="b" anchorCtr="0">
            <a:noAutofit/>
          </a:bodyPr>
          <a:lstStyle/>
          <a:p>
            <a:pPr algn="r">
              <a:buSzPts val="1200"/>
            </a:pPr>
            <a:fld id="{00000000-1234-1234-1234-123412341234}" type="slidenum">
              <a:rPr lang="en-US" altLang="ja-JP" sz="1300" smtClean="0">
                <a:solidFill>
                  <a:schemeClr val="dk1"/>
                </a:solidFill>
              </a:rPr>
              <a:pPr algn="r">
                <a:buSzPts val="1200"/>
              </a:pPr>
              <a:t>‹#›</a:t>
            </a:fld>
            <a:endParaRPr lang="en-US" sz="13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492a305654_0_182: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g2492a305654_0_182: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7a54df0703_0_3: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g27a54df0703_0_3: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dde2198658_4_1: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g2dde2198658_4_1: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2: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buClr>
                <a:schemeClr val="dk1"/>
              </a:buClr>
            </a:pPr>
            <a:r>
              <a:rPr lang="ja-JP">
                <a:solidFill>
                  <a:srgbClr val="DE2726"/>
                </a:solidFill>
              </a:rPr>
              <a:t>皆様、本日はご参加いただきありがとうございます。説明を担当しますIAESTE学生委員の〇〇です。</a:t>
            </a:r>
            <a:endParaRPr/>
          </a:p>
          <a:p>
            <a:pPr marL="0" indent="0">
              <a:buClr>
                <a:schemeClr val="dk1"/>
              </a:buClr>
            </a:pPr>
            <a:r>
              <a:rPr lang="ja-JP">
                <a:solidFill>
                  <a:srgbClr val="DE2726"/>
                </a:solidFill>
              </a:rPr>
              <a:t>どうぞよろしくお願いいたします。</a:t>
            </a:r>
            <a:endParaRPr/>
          </a:p>
          <a:p>
            <a:pPr marL="0" indent="0">
              <a:buClr>
                <a:schemeClr val="dk1"/>
              </a:buClr>
            </a:pPr>
            <a:r>
              <a:rPr lang="ja-JP">
                <a:solidFill>
                  <a:srgbClr val="DE2726"/>
                </a:solidFill>
              </a:rPr>
              <a:t>それではIAESTE海外インターンシッププログラムについて説明いたします。</a:t>
            </a:r>
            <a:endParaRPr/>
          </a:p>
          <a:p>
            <a:pPr marL="0" indent="0"/>
            <a:r>
              <a:rPr lang="ja-JP"/>
              <a:t>これからIAESTEについて大きく3つに分けて、説明を進めてまいります。</a:t>
            </a:r>
            <a:endParaRPr/>
          </a:p>
          <a:p>
            <a:pPr marL="0" indent="0"/>
            <a:r>
              <a:rPr lang="ja-JP"/>
              <a:t>はじめにIAESTEとは一体どのような組織であるか、次にIAESTEのプログラムとは一体どの様なものであるか、</a:t>
            </a:r>
            <a:endParaRPr/>
          </a:p>
          <a:p>
            <a:pPr marL="0" indent="0"/>
            <a:r>
              <a:rPr lang="ja-JP"/>
              <a:t>その後にIAESTEのプログラムに参加する際の簡単な流れ、この3点について説明させていただきます。</a:t>
            </a:r>
            <a:endParaRPr/>
          </a:p>
          <a:p>
            <a:pPr marL="0" inden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3: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3: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buClr>
                <a:schemeClr val="dk1"/>
              </a:buClr>
              <a:buSzPts val="1200"/>
            </a:pPr>
            <a:r>
              <a:rPr lang="ja-JP"/>
              <a:t>それでは、はじめにIAESTEという組織がどのような団体であるかについてお話しをさせていただきます。</a:t>
            </a:r>
            <a:endParaRPr/>
          </a:p>
          <a:p>
            <a:pPr marL="0" inden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4: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4: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IAESTEは，理系学生を中心とした海外インターンシップの仲介をしている国際的な非営利・非政府組織です。</a:t>
            </a:r>
            <a:endParaRPr/>
          </a:p>
          <a:p>
            <a:pPr marL="0" indent="0"/>
            <a:endParaRPr/>
          </a:p>
          <a:p>
            <a:pPr marL="0" indent="0"/>
            <a:r>
              <a:rPr lang="ja-JP"/>
              <a:t>基本的に理系のインターンシップが多いですが、近年文系分野に関しても幅広いインターンプログラムを提供しています</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buClr>
                <a:schemeClr val="dk1"/>
              </a:buClr>
              <a:buSzPts val="1200"/>
            </a:pPr>
            <a:r>
              <a:rPr lang="ja-JP"/>
              <a:t>現在は世界約81か国にある各委員会が相互に連携し、</a:t>
            </a:r>
            <a:endParaRPr/>
          </a:p>
          <a:p>
            <a:pPr marL="0" indent="0">
              <a:buClr>
                <a:schemeClr val="dk1"/>
              </a:buClr>
              <a:buSzPts val="1200"/>
            </a:pPr>
            <a:r>
              <a:rPr lang="ja-JP"/>
              <a:t>海外インターンシップの促進に貢献しています。 </a:t>
            </a:r>
            <a:endParaRPr/>
          </a:p>
          <a:p>
            <a:pPr marL="0" indent="0">
              <a:buClr>
                <a:schemeClr val="dk1"/>
              </a:buClr>
              <a:buSzPts val="1200"/>
            </a:pPr>
            <a:endParaRPr/>
          </a:p>
          <a:p>
            <a:pPr marL="0" indent="0">
              <a:buClr>
                <a:schemeClr val="dk1"/>
              </a:buClr>
              <a:buSzPts val="1200"/>
            </a:pPr>
            <a:r>
              <a:rPr lang="ja-JP"/>
              <a:t>以前は欧州へのインターンシップが大半でしたが、近年は多種多様な研究内容かつ受け入れ態勢が整っている欧州以外の加盟国へのインターンシップが増えつつあります。</a:t>
            </a:r>
            <a:endParaRPr/>
          </a:p>
          <a:p>
            <a:pPr marL="0" indent="0">
              <a:buClr>
                <a:schemeClr val="dk1"/>
              </a:buClr>
              <a:buSzPts val="1200"/>
            </a:pPr>
            <a:r>
              <a:rPr lang="ja-JP"/>
              <a:t>やりたい研究を軸にインターンシップを探せるのがIAESTEの特徴です。</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6: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つづいて，IAESTEプログラムの特徴について説明いたします．</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7: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7: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本海外インターンのプログラムは、</a:t>
            </a:r>
            <a:endParaRPr/>
          </a:p>
          <a:p>
            <a:pPr marL="0" indent="0"/>
            <a:r>
              <a:rPr lang="ja-JP"/>
              <a:t>　1. 専門性の高い理系分野が豊富であること</a:t>
            </a:r>
            <a:endParaRPr/>
          </a:p>
          <a:p>
            <a:pPr marL="0" indent="0"/>
            <a:r>
              <a:rPr lang="ja-JP"/>
              <a:t>　2. 柔軟に研修期間を選べる　　　</a:t>
            </a:r>
            <a:endParaRPr/>
          </a:p>
          <a:p>
            <a:pPr marL="0" indent="0"/>
            <a:r>
              <a:rPr lang="ja-JP"/>
              <a:t>　3. インターン先の現地スタッフによるサポート</a:t>
            </a:r>
            <a:endParaRPr/>
          </a:p>
          <a:p>
            <a:pPr marL="0" indent="0"/>
            <a:r>
              <a:rPr lang="ja-JP"/>
              <a:t>といった特徴がございます。こちらのサポートを行うスタッフは、現地の学生委員です。日本にいながらインターンシップを行うことができる、リモートインターンシップもございます。</a:t>
            </a:r>
            <a:endParaRPr/>
          </a:p>
          <a:p>
            <a:pPr marL="0" indent="0"/>
            <a:endParaRPr/>
          </a:p>
          <a:p>
            <a:pPr marL="0" indent="0"/>
            <a:endParaRPr/>
          </a:p>
          <a:p>
            <a:pPr marL="0" inden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8: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8: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250もの幅広い分野から、また、大学等専門性の高い研究機関へのインターンが可能です。</a:t>
            </a:r>
            <a:endParaRPr/>
          </a:p>
          <a:p>
            <a:pPr marL="0" indent="0"/>
            <a:endParaRPr/>
          </a:p>
          <a:p>
            <a:pPr marL="0" indent="0"/>
            <a:r>
              <a:rPr lang="ja-JP"/>
              <a:t>本プログラムは日本で一般的に行われる職業体験的インターンとは違い、技術研修を主軸としていて、より実践的な経験を積むことができます。</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p1: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495376" indent="-247688"/>
            <a:r>
              <a:rPr lang="ja-JP" dirty="0"/>
              <a:t>250もの分野のうち、研修先マッチングの際に使用する番号についてご説明します。</a:t>
            </a:r>
            <a:endParaRPr dirty="0"/>
          </a:p>
          <a:p>
            <a:pPr marL="495376" indent="-247688"/>
            <a:r>
              <a:rPr lang="ja-JP" dirty="0"/>
              <a:t>研修分野の選択には6ケタの番号を使用します。使用する6ケタの研修先番号のうち、頭の2ケタは主に学問分野を示しています。</a:t>
            </a:r>
            <a:endParaRPr dirty="0"/>
          </a:p>
          <a:p>
            <a:pPr marL="495376" indent="-247688"/>
            <a:r>
              <a:rPr lang="ja-JP" dirty="0"/>
              <a:t>その学問分野の2ケタを示したものを、一部まとめさせていただきました。</a:t>
            </a:r>
            <a:endParaRPr dirty="0"/>
          </a:p>
          <a:p>
            <a:pPr marL="495376" indent="-247688"/>
            <a:r>
              <a:rPr lang="ja-JP" dirty="0"/>
              <a:t>例えば、6ケタの研修分野番号のうち、01から始まるものであれば、それは農業、あるいは食品化学に関する分野であることを表しています。</a:t>
            </a:r>
            <a:endParaRPr dirty="0"/>
          </a:p>
          <a:p>
            <a:pPr marL="495376" indent="-247688"/>
            <a:endParaRPr dirty="0"/>
          </a:p>
          <a:p>
            <a:pPr marL="495376" indent="-247688"/>
            <a:r>
              <a:rPr lang="ja-JP" dirty="0"/>
              <a:t>研修分野選択の際には、こちらの番号を参照することが必要です。詳しくは</a:t>
            </a:r>
            <a:r>
              <a:rPr lang="ja-JP" altLang="en-US" dirty="0"/>
              <a:t>応募要項</a:t>
            </a:r>
            <a:r>
              <a:rPr lang="ja-JP" dirty="0"/>
              <a:t>にリストが載っています。</a:t>
            </a:r>
            <a:endParaRPr dirty="0"/>
          </a:p>
        </p:txBody>
      </p:sp>
      <p:sp>
        <p:nvSpPr>
          <p:cNvPr id="252" name="Google Shape;252;p1:notes"/>
          <p:cNvSpPr txBox="1">
            <a:spLocks noGrp="1"/>
          </p:cNvSpPr>
          <p:nvPr>
            <p:ph type="sldNum" idx="12"/>
          </p:nvPr>
        </p:nvSpPr>
        <p:spPr>
          <a:xfrm>
            <a:off x="4023992" y="9721107"/>
            <a:ext cx="3078427" cy="513507"/>
          </a:xfrm>
          <a:prstGeom prst="rect">
            <a:avLst/>
          </a:prstGeom>
          <a:noFill/>
          <a:ln>
            <a:noFill/>
          </a:ln>
        </p:spPr>
        <p:txBody>
          <a:bodyPr spcFirstLastPara="1" wrap="square" lIns="99059" tIns="49516" rIns="99059" bIns="49516" anchor="b" anchorCtr="0">
            <a:noAutofit/>
          </a:bodyPr>
          <a:lstStyle/>
          <a:p>
            <a:pPr algn="r">
              <a:buSzPts val="1200"/>
            </a:pPr>
            <a:fld id="{00000000-1234-1234-1234-123412341234}" type="slidenum">
              <a:rPr lang="en-US" altLang="ja-JP" sz="1300">
                <a:solidFill>
                  <a:schemeClr val="dk1"/>
                </a:solidFill>
              </a:rPr>
              <a:pPr algn="r">
                <a:buSzPts val="1200"/>
              </a:pPr>
              <a:t>11</a:t>
            </a:fld>
            <a:endParaRPr sz="13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9: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9: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dirty="0"/>
              <a:t>過去のIAESTEのOBの中には、有名な宇宙飛行士の野口聡一さん、星出あきひこさんがいらっしゃいます。</a:t>
            </a:r>
            <a:endParaRPr dirty="0"/>
          </a:p>
          <a:p>
            <a:pPr marL="0" indent="0"/>
            <a:r>
              <a:rPr lang="ja-JP" dirty="0"/>
              <a:t>IAESTEのプログラムに参加することで、将来的な活躍も期待できます。</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0: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10: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一般的な海外インターンシップでは、研修期間が決まっており、休学等の措置をとらなければいけないこともございます。</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1: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11: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ですが、本プログラムでは、長期休暇程度の休みを利用したインターンも可能で、8から52週間で自由に研修期間を選ぶことができます。</a:t>
            </a:r>
            <a:endParaRPr/>
          </a:p>
          <a:p>
            <a:pPr marL="0" indent="0"/>
            <a:r>
              <a:rPr lang="ja-JP"/>
              <a:t>Exchange internship は8-12週間が多く、Global internship は半年から１年間の長期が多いのが特徴です。</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2: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12: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インターンの最中は，現地のIAESTE学生委員が身の回りのことについてサポートいたします。</a:t>
            </a:r>
            <a:endParaRPr/>
          </a:p>
          <a:p>
            <a:pPr marL="0" indent="0"/>
            <a:r>
              <a:rPr lang="ja-JP"/>
              <a:t>例にある通り些細なことから、休日のイベント開催まで、研修だけでなくその国についてより一層、見聞を広めることができます。</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3: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13: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dirty="0"/>
              <a:t>また、研修中だけでなく、出発前にはOB・OGをお招きしてご講演いただく</a:t>
            </a:r>
            <a:r>
              <a:rPr lang="ja-JP" altLang="en-US" dirty="0"/>
              <a:t>研修</a:t>
            </a:r>
            <a:r>
              <a:rPr lang="ja-JP" dirty="0"/>
              <a:t>準備会や、</a:t>
            </a:r>
            <a:endParaRPr dirty="0"/>
          </a:p>
          <a:p>
            <a:pPr marL="0" indent="0"/>
            <a:r>
              <a:rPr lang="ja-JP" dirty="0"/>
              <a:t>帰国後にはご自分の経験されたことをほかのインターン生と共有・発表していただける</a:t>
            </a:r>
            <a:r>
              <a:rPr lang="ja-JP" altLang="en-US" dirty="0"/>
              <a:t>研修</a:t>
            </a:r>
            <a:r>
              <a:rPr lang="ja-JP" dirty="0"/>
              <a:t>報告会という企画も実施しております。</a:t>
            </a:r>
            <a:endParaRPr dirty="0"/>
          </a:p>
          <a:p>
            <a:pPr marL="0" indent="0"/>
            <a:endParaRPr dirty="0"/>
          </a:p>
          <a:p>
            <a:pPr marL="0" indent="0"/>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4: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14: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現地の学生委員とはもちろん、同じくIAESTEを利用して研修に来ている他国の学生たちと交流を深めることもできます。</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09de7d90b5_0_1: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g209de7d90b5_0_1: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r>
              <a:rPr lang="ja-JP"/>
              <a:t>ここで主なインターン先の紹介をさせていただきます。</a:t>
            </a:r>
            <a:endParaRPr/>
          </a:p>
          <a:p>
            <a:pPr marL="0" indent="0"/>
            <a:r>
              <a:rPr lang="ja-JP"/>
              <a:t>まず初めに中東です。中東にはモスクと呼ばれるイスラム教の礼拝堂が多数あります。</a:t>
            </a:r>
            <a:endParaRPr/>
          </a:p>
          <a:p>
            <a:pPr marL="0" indent="0"/>
            <a:r>
              <a:rPr lang="ja-JP"/>
              <a:t>左はUAEの世界一美しいと言われているモスクで、</a:t>
            </a:r>
            <a:endParaRPr/>
          </a:p>
          <a:p>
            <a:pPr marL="0" indent="0"/>
            <a:r>
              <a:rPr lang="ja-JP"/>
              <a:t>右はオマーン最大のモスクです。</a:t>
            </a:r>
            <a:endParaRPr/>
          </a:p>
        </p:txBody>
      </p:sp>
      <p:sp>
        <p:nvSpPr>
          <p:cNvPr id="357" name="Google Shape;357;g209de7d90b5_0_1:notes"/>
          <p:cNvSpPr txBox="1">
            <a:spLocks noGrp="1"/>
          </p:cNvSpPr>
          <p:nvPr>
            <p:ph type="sldNum" idx="12"/>
          </p:nvPr>
        </p:nvSpPr>
        <p:spPr>
          <a:xfrm>
            <a:off x="4023992" y="9721106"/>
            <a:ext cx="3078427" cy="513410"/>
          </a:xfrm>
          <a:prstGeom prst="rect">
            <a:avLst/>
          </a:prstGeom>
          <a:noFill/>
          <a:ln>
            <a:noFill/>
          </a:ln>
        </p:spPr>
        <p:txBody>
          <a:bodyPr spcFirstLastPara="1" wrap="square" lIns="99059" tIns="49516" rIns="99059" bIns="49516" anchor="b" anchorCtr="0">
            <a:noAutofit/>
          </a:bodyPr>
          <a:lstStyle/>
          <a:p>
            <a:pPr algn="r">
              <a:buSzPts val="1200"/>
            </a:pPr>
            <a:fld id="{00000000-1234-1234-1234-123412341234}" type="slidenum">
              <a:rPr lang="en-US" altLang="ja-JP"/>
              <a:pPr algn="r">
                <a:buSzPts val="1200"/>
              </a:p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09de7d90b5_0_24: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g209de7d90b5_0_24: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r>
              <a:rPr lang="ja-JP"/>
              <a:t>ケニアの国立公園で撮った写真。</a:t>
            </a:r>
            <a:endParaRPr/>
          </a:p>
        </p:txBody>
      </p:sp>
      <p:sp>
        <p:nvSpPr>
          <p:cNvPr id="369" name="Google Shape;369;g209de7d90b5_0_24:notes"/>
          <p:cNvSpPr txBox="1">
            <a:spLocks noGrp="1"/>
          </p:cNvSpPr>
          <p:nvPr>
            <p:ph type="sldNum" idx="12"/>
          </p:nvPr>
        </p:nvSpPr>
        <p:spPr>
          <a:xfrm>
            <a:off x="4023992" y="9721106"/>
            <a:ext cx="3078427" cy="513410"/>
          </a:xfrm>
          <a:prstGeom prst="rect">
            <a:avLst/>
          </a:prstGeom>
          <a:noFill/>
          <a:ln>
            <a:noFill/>
          </a:ln>
        </p:spPr>
        <p:txBody>
          <a:bodyPr spcFirstLastPara="1" wrap="square" lIns="99059" tIns="49516" rIns="99059" bIns="49516" anchor="b" anchorCtr="0">
            <a:noAutofit/>
          </a:bodyPr>
          <a:lstStyle/>
          <a:p>
            <a:pPr algn="r">
              <a:buSzPts val="1400"/>
            </a:pPr>
            <a:fld id="{00000000-1234-1234-1234-123412341234}" type="slidenum">
              <a:rPr lang="en-US" altLang="ja-JP"/>
              <a:pPr algn="r">
                <a:buSzPts val="1400"/>
              </a:p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09de7d90b5_0_11: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g209de7d90b5_0_11: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r>
              <a:rPr lang="ja-JP"/>
              <a:t>ノルウェーにある「プレーケストーレン」と呼ばれるで有名な観光地</a:t>
            </a:r>
            <a:endParaRPr/>
          </a:p>
          <a:p>
            <a:pPr marL="0" indent="0"/>
            <a:r>
              <a:rPr lang="ja-JP"/>
              <a:t>アイスランドの首都であるレイキャヴィークのカラフルな街並み。</a:t>
            </a:r>
            <a:endParaRPr/>
          </a:p>
        </p:txBody>
      </p:sp>
      <p:sp>
        <p:nvSpPr>
          <p:cNvPr id="379" name="Google Shape;379;g209de7d90b5_0_11:notes"/>
          <p:cNvSpPr txBox="1">
            <a:spLocks noGrp="1"/>
          </p:cNvSpPr>
          <p:nvPr>
            <p:ph type="sldNum" idx="12"/>
          </p:nvPr>
        </p:nvSpPr>
        <p:spPr>
          <a:xfrm>
            <a:off x="4023992" y="9721106"/>
            <a:ext cx="3078427" cy="513410"/>
          </a:xfrm>
          <a:prstGeom prst="rect">
            <a:avLst/>
          </a:prstGeom>
          <a:noFill/>
          <a:ln>
            <a:noFill/>
          </a:ln>
        </p:spPr>
        <p:txBody>
          <a:bodyPr spcFirstLastPara="1" wrap="square" lIns="99059" tIns="49516" rIns="99059" bIns="49516" anchor="b" anchorCtr="0">
            <a:noAutofit/>
          </a:bodyPr>
          <a:lstStyle/>
          <a:p>
            <a:pPr algn="r">
              <a:buSzPts val="1400"/>
            </a:pPr>
            <a:fld id="{00000000-1234-1234-1234-123412341234}" type="slidenum">
              <a:rPr lang="en-US" altLang="ja-JP"/>
              <a:pPr algn="r">
                <a:buSzPts val="1400"/>
              </a:p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09de7d90b5_0_34: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g209de7d90b5_0_34: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r>
              <a:rPr lang="ja-JP"/>
              <a:t>スロベニアの首都リュブリャナの街並み。旅先としてはマイナーですが、とても綺麗で治安も良い国です。</a:t>
            </a:r>
            <a:endParaRPr/>
          </a:p>
          <a:p>
            <a:pPr marL="0" indent="0"/>
            <a:r>
              <a:rPr lang="ja-JP"/>
              <a:t>欧州グリーン首都賞を受賞したオランダのナイメーヘン市。欧州グリーン首都賞とは持続可能な都市開発のために先駆的な取り組みをしている都市に送られる賞。</a:t>
            </a:r>
            <a:endParaRPr/>
          </a:p>
          <a:p>
            <a:pPr marL="0" indent="0"/>
            <a:endParaRPr/>
          </a:p>
        </p:txBody>
      </p:sp>
      <p:sp>
        <p:nvSpPr>
          <p:cNvPr id="391" name="Google Shape;391;g209de7d90b5_0_34:notes"/>
          <p:cNvSpPr txBox="1">
            <a:spLocks noGrp="1"/>
          </p:cNvSpPr>
          <p:nvPr>
            <p:ph type="sldNum" idx="12"/>
          </p:nvPr>
        </p:nvSpPr>
        <p:spPr>
          <a:xfrm>
            <a:off x="4023992" y="9721106"/>
            <a:ext cx="3078427" cy="513410"/>
          </a:xfrm>
          <a:prstGeom prst="rect">
            <a:avLst/>
          </a:prstGeom>
          <a:noFill/>
          <a:ln>
            <a:noFill/>
          </a:ln>
        </p:spPr>
        <p:txBody>
          <a:bodyPr spcFirstLastPara="1" wrap="square" lIns="99059" tIns="49516" rIns="99059" bIns="49516" anchor="b" anchorCtr="0">
            <a:noAutofit/>
          </a:bodyPr>
          <a:lstStyle/>
          <a:p>
            <a:pPr algn="r">
              <a:buSzPts val="1400"/>
            </a:pPr>
            <a:fld id="{00000000-1234-1234-1234-123412341234}" type="slidenum">
              <a:rPr lang="en-US" altLang="ja-JP"/>
              <a:pPr algn="r">
                <a:buSzPts val="1400"/>
              </a:p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5: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15: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最後に，応募から研修までの流れを説明いたします．</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6: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6" name="Google Shape;426;p16: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buClr>
                <a:schemeClr val="dk1"/>
              </a:buClr>
              <a:buSzPts val="1200"/>
            </a:pPr>
            <a:r>
              <a:rPr lang="ja-JP"/>
              <a:t>まず対象者は、研修時に日本の大学の理系分野を中心とした、経営、マーケティングなどを専攻している、学部３年生以上の方となります。</a:t>
            </a:r>
            <a:endParaRPr/>
          </a:p>
          <a:p>
            <a:pPr marL="0" indent="0">
              <a:buClr>
                <a:schemeClr val="dk1"/>
              </a:buClr>
              <a:buSzPts val="1200"/>
            </a:pPr>
            <a:r>
              <a:rPr lang="ja-JP"/>
              <a:t>従って、現在２年生以上の学生は受験資格をもっている、ということになります。</a:t>
            </a:r>
            <a:endParaRPr/>
          </a:p>
          <a:p>
            <a:pPr marL="0" indent="0">
              <a:buClr>
                <a:schemeClr val="dk1"/>
              </a:buClr>
              <a:buSzPts val="1200"/>
            </a:pPr>
            <a:endParaRPr/>
          </a:p>
          <a:p>
            <a:pPr marL="0" indent="0">
              <a:buClr>
                <a:srgbClr val="FF0000"/>
              </a:buClr>
              <a:buSzPts val="1200"/>
            </a:pPr>
            <a:r>
              <a:rPr lang="ja-JP" b="1">
                <a:solidFill>
                  <a:srgbClr val="FF0000"/>
                </a:solidFill>
              </a:rPr>
              <a:t>欧州の先進国は学部 3〜4 年修了レベルのスキルが必要な受入機関が多く、受入審査の際にオンラインや電話でのインタビューが入る国が多いです。</a:t>
            </a:r>
            <a:endParaRPr b="1">
              <a:solidFill>
                <a:srgbClr val="FF0000"/>
              </a:solidFill>
            </a:endParaRPr>
          </a:p>
          <a:p>
            <a:pPr marL="0" indent="0">
              <a:buClr>
                <a:schemeClr val="dk1"/>
              </a:buClr>
              <a:buSzPts val="1200"/>
            </a:pPr>
            <a:endParaRPr b="1">
              <a:solidFill>
                <a:srgbClr val="FF0000"/>
              </a:solidFill>
            </a:endParaRPr>
          </a:p>
          <a:p>
            <a:pPr marL="0" indent="0">
              <a:buClr>
                <a:schemeClr val="dk1"/>
              </a:buClr>
              <a:buSzPts val="1200"/>
            </a:pPr>
            <a:r>
              <a:rPr lang="ja-JP"/>
              <a:t>研修先は，企業や大学で，研修地域のみ指定して，</a:t>
            </a:r>
            <a:endParaRPr/>
          </a:p>
          <a:p>
            <a:pPr marL="0" indent="0">
              <a:buClr>
                <a:schemeClr val="dk1"/>
              </a:buClr>
              <a:buSzPts val="1200"/>
            </a:pPr>
            <a:r>
              <a:rPr lang="ja-JP"/>
              <a:t>期間は 8週間 から 52 週間からお選びいただけます．</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7: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17: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つづいて、応募方法は大きく3つに分かれます。</a:t>
            </a:r>
            <a:endParaRPr/>
          </a:p>
          <a:p>
            <a:pPr marL="0" indent="0">
              <a:buClr>
                <a:schemeClr val="dk1"/>
              </a:buClr>
              <a:buSzPts val="1200"/>
            </a:pPr>
            <a:r>
              <a:rPr lang="ja-JP"/>
              <a:t>1つは、Exchange Internshipです。Exchange Internshipというのは、毎年1月中旬から下旬にかけて、全</a:t>
            </a:r>
            <a:r>
              <a:rPr lang="en-US" altLang="ja-JP" sz="1300"/>
              <a:t>IAESTE</a:t>
            </a:r>
            <a:r>
              <a:rPr lang="ja-JP" altLang="en-US" sz="1300"/>
              <a:t>加盟国の事務局</a:t>
            </a:r>
            <a:r>
              <a:rPr lang="ja-JP"/>
              <a:t>が</a:t>
            </a:r>
            <a:r>
              <a:rPr lang="ja-JP" altLang="en-US" sz="1300"/>
              <a:t>一堂に会し</a:t>
            </a:r>
            <a:r>
              <a:rPr lang="ja-JP"/>
              <a:t>て、</a:t>
            </a:r>
            <a:endParaRPr sz="1300"/>
          </a:p>
          <a:p>
            <a:pPr marL="0" indent="0">
              <a:buClr>
                <a:schemeClr val="dk1"/>
              </a:buClr>
              <a:buSzPts val="1200"/>
            </a:pPr>
            <a:r>
              <a:rPr lang="ja-JP" altLang="en-US" sz="1300"/>
              <a:t>国際総会という</a:t>
            </a:r>
            <a:r>
              <a:rPr lang="ja-JP"/>
              <a:t>会議</a:t>
            </a:r>
            <a:r>
              <a:rPr lang="ja-JP" altLang="en-US" sz="1300"/>
              <a:t>が開催されて</a:t>
            </a:r>
            <a:r>
              <a:rPr lang="ja-JP"/>
              <a:t>おります。</a:t>
            </a:r>
            <a:r>
              <a:rPr lang="ja-JP" altLang="en-US" sz="1300"/>
              <a:t>そこで</a:t>
            </a:r>
            <a:r>
              <a:rPr lang="ja-JP"/>
              <a:t>お互いの国で</a:t>
            </a:r>
            <a:r>
              <a:rPr lang="ja-JP" altLang="en-US" sz="1300"/>
              <a:t>交換されるインターンシップオファーのことを言います。</a:t>
            </a:r>
            <a:r>
              <a:rPr lang="ja-JP"/>
              <a:t>1人の学生のために1つのオファーを探してきます。</a:t>
            </a:r>
            <a:endParaRPr/>
          </a:p>
          <a:p>
            <a:pPr marL="0" indent="0">
              <a:buClr>
                <a:schemeClr val="dk1"/>
              </a:buClr>
              <a:buSzPts val="1200"/>
            </a:pPr>
            <a:r>
              <a:rPr lang="ja-JP"/>
              <a:t>このオファー８月を除く６月から１０月までの間に２－３か月間の研修を行うオファーが多いです。</a:t>
            </a:r>
            <a:endParaRPr/>
          </a:p>
          <a:p>
            <a:pPr marL="0" indent="0">
              <a:buClr>
                <a:schemeClr val="dk1"/>
              </a:buClr>
              <a:buSzPts val="1200"/>
            </a:pPr>
            <a:endParaRPr/>
          </a:p>
          <a:p>
            <a:pPr marL="0" indent="0"/>
            <a:r>
              <a:rPr lang="ja-JP"/>
              <a:t>2つ目は、Global Internshipです。Global Internshipでは、IAESTEのシステムに公開されている複数のオファーに応募ができます。年間を通して応募が可能で、一度に２つのオファーに併願して応募できます。インターンシップが決まるまで何度でも応募できます。</a:t>
            </a:r>
            <a:endParaRPr/>
          </a:p>
          <a:p>
            <a:pPr marL="0" indent="0"/>
            <a:endParaRPr/>
          </a:p>
          <a:p>
            <a:pPr marL="0" indent="0"/>
            <a:r>
              <a:rPr lang="ja-JP"/>
              <a:t>以上2つより、応募の際にExchange Internship又はGlobal Internshipのどちらかを選んでいただきます。</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18: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18: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続いて、2020年より始まりましたリモートインターンシップについて説明いたします。</a:t>
            </a:r>
            <a:endParaRPr/>
          </a:p>
          <a:p>
            <a:pPr marL="0" indent="0"/>
            <a:r>
              <a:rPr lang="ja-JP"/>
              <a:t>リモートインターンシップは日本にいながら研修を行い、受入機関とはオンラインでミーティングを行います。</a:t>
            </a:r>
            <a:endParaRPr/>
          </a:p>
          <a:p>
            <a:pPr marL="0" indent="0"/>
            <a:r>
              <a:rPr lang="ja-JP"/>
              <a:t>新型コロナウイルスの影響により2020年より発足いたしました。</a:t>
            </a:r>
            <a:endParaRPr/>
          </a:p>
          <a:p>
            <a:pPr marL="0" indent="0"/>
            <a:r>
              <a:rPr lang="ja-JP"/>
              <a:t>研修分野はコンピュータサイエンス系が多く、滞在費支給はなく、無給で与えられた研修内容をこなします。</a:t>
            </a:r>
            <a:endParaRPr/>
          </a:p>
          <a:p>
            <a:pPr marL="0" indent="0"/>
            <a:r>
              <a:rPr lang="ja-JP"/>
              <a:t>リモートを希望する場合は先程のスライドで紹介したGlobal Internshipを選んでください。</a:t>
            </a:r>
            <a:endParaRPr/>
          </a:p>
          <a:p>
            <a:pPr marL="0" indent="0"/>
            <a:r>
              <a:rPr lang="ja-JP"/>
              <a:t>リモートインターンシップをご希望の場合、この後紹介するプログラム参加料から2万5000円が返金されます。</a:t>
            </a:r>
            <a:endParaRPr/>
          </a:p>
          <a:p>
            <a:pPr marL="0" indent="0"/>
            <a:endParaRPr/>
          </a:p>
        </p:txBody>
      </p:sp>
      <p:sp>
        <p:nvSpPr>
          <p:cNvPr id="457" name="Google Shape;457;p18:notes"/>
          <p:cNvSpPr txBox="1">
            <a:spLocks noGrp="1"/>
          </p:cNvSpPr>
          <p:nvPr>
            <p:ph type="sldNum" idx="12"/>
          </p:nvPr>
        </p:nvSpPr>
        <p:spPr>
          <a:xfrm>
            <a:off x="4023992" y="9721107"/>
            <a:ext cx="3078427" cy="513507"/>
          </a:xfrm>
          <a:prstGeom prst="rect">
            <a:avLst/>
          </a:prstGeom>
          <a:noFill/>
          <a:ln>
            <a:noFill/>
          </a:ln>
        </p:spPr>
        <p:txBody>
          <a:bodyPr spcFirstLastPara="1" wrap="square" lIns="99059" tIns="49516" rIns="99059" bIns="49516" anchor="b" anchorCtr="0">
            <a:noAutofit/>
          </a:bodyPr>
          <a:lstStyle/>
          <a:p>
            <a:pPr algn="r">
              <a:buSzPts val="1400"/>
            </a:pPr>
            <a:fld id="{00000000-1234-1234-1234-123412341234}" type="slidenum">
              <a:rPr lang="en-US" altLang="ja-JP"/>
              <a:pPr algn="r">
                <a:buSzPts val="1400"/>
              </a:p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9: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19: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事務局のサポートを希望した場合のIAESTEプログラム参加費は，こちらのようになっています．</a:t>
            </a:r>
            <a:endParaRPr/>
          </a:p>
          <a:p>
            <a:pPr marL="0" indent="0"/>
            <a:r>
              <a:rPr lang="ja-JP"/>
              <a:t>日本の事務局への応募手数料は</a:t>
            </a:r>
            <a:r>
              <a:rPr lang="ja-JP" b="1"/>
              <a:t>大学会員校生</a:t>
            </a:r>
            <a:r>
              <a:rPr lang="ja-JP"/>
              <a:t>は </a:t>
            </a:r>
            <a:r>
              <a:rPr lang="ja-JP" b="1"/>
              <a:t>5千</a:t>
            </a:r>
            <a:r>
              <a:rPr lang="ja-JP"/>
              <a:t>円，一般生は </a:t>
            </a:r>
            <a:r>
              <a:rPr lang="ja-JP" b="1"/>
              <a:t>1万</a:t>
            </a:r>
            <a:r>
              <a:rPr lang="ja-JP"/>
              <a:t> 円です．</a:t>
            </a:r>
            <a:endParaRPr/>
          </a:p>
          <a:p>
            <a:pPr marL="0" indent="0"/>
            <a:r>
              <a:rPr lang="ja-JP"/>
              <a:t>交換手数料という、選考およびマッチングに関する手数料は、</a:t>
            </a:r>
            <a:r>
              <a:rPr lang="ja-JP" b="1"/>
              <a:t>大学会員校生</a:t>
            </a:r>
            <a:r>
              <a:rPr lang="ja-JP"/>
              <a:t>は </a:t>
            </a:r>
            <a:r>
              <a:rPr lang="ja-JP" b="1"/>
              <a:t>5万</a:t>
            </a:r>
            <a:r>
              <a:rPr lang="ja-JP"/>
              <a:t>円，一般生は </a:t>
            </a:r>
            <a:r>
              <a:rPr lang="ja-JP" b="1"/>
              <a:t>10万</a:t>
            </a:r>
            <a:r>
              <a:rPr lang="ja-JP"/>
              <a:t> 円です．</a:t>
            </a:r>
            <a:endParaRPr/>
          </a:p>
          <a:p>
            <a:pPr marL="0" indent="0"/>
            <a:r>
              <a:rPr lang="ja-JP"/>
              <a:t>合計で、</a:t>
            </a:r>
            <a:r>
              <a:rPr lang="ja-JP" b="1"/>
              <a:t>大学会員校生</a:t>
            </a:r>
            <a:r>
              <a:rPr lang="ja-JP"/>
              <a:t>は </a:t>
            </a:r>
            <a:r>
              <a:rPr lang="ja-JP" b="1"/>
              <a:t>5万5千</a:t>
            </a:r>
            <a:r>
              <a:rPr lang="ja-JP"/>
              <a:t>円，一般生は </a:t>
            </a:r>
            <a:r>
              <a:rPr lang="ja-JP" b="1"/>
              <a:t>11万</a:t>
            </a:r>
            <a:r>
              <a:rPr lang="ja-JP"/>
              <a:t> 円となっています．</a:t>
            </a:r>
            <a:endParaRPr/>
          </a:p>
          <a:p>
            <a:pPr marL="0" inden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21: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21: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先ほどご紹介した大学会員校生，というのは，こちらの大学に所属されている学生です。</a:t>
            </a:r>
            <a:endParaRPr/>
          </a:p>
          <a:p>
            <a:pPr marL="0" inden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22: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22: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また，渡航費などは自己負担，</a:t>
            </a:r>
            <a:endParaRPr/>
          </a:p>
          <a:p>
            <a:pPr marL="0" indent="0"/>
            <a:r>
              <a:rPr lang="ja-JP"/>
              <a:t>滞在中の住居費や食費、交通費などは、受け入れ機関から支払われる滞在費で賄うことができます。</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23: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2" name="Google Shape;492;p23: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buClr>
                <a:schemeClr val="dk1"/>
              </a:buClr>
              <a:buSzPts val="1200"/>
            </a:pPr>
            <a:r>
              <a:rPr lang="ja-JP" dirty="0"/>
              <a:t>続いてご応募から研修までについて、より詳しく説明いたします。</a:t>
            </a:r>
            <a:endParaRPr dirty="0"/>
          </a:p>
          <a:p>
            <a:pPr marL="0" indent="0"/>
            <a:r>
              <a:rPr lang="ja-JP" dirty="0"/>
              <a:t>こちらの図はExchange Internshipを希望される学生に向けたものとなります。</a:t>
            </a:r>
            <a:endParaRPr dirty="0"/>
          </a:p>
          <a:p>
            <a:pPr marL="0" indent="0"/>
            <a:r>
              <a:rPr lang="ja-JP" dirty="0"/>
              <a:t>この後も同様のスライドが出てきますが、Global Internship希望の学生は年間を通して応募が可能のため、一人一人時期が異なります。ご注意ください。</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24: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p24: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buClr>
                <a:schemeClr val="dk1"/>
              </a:buClr>
              <a:buSzPts val="1200"/>
            </a:pPr>
            <a:r>
              <a:rPr lang="ja-JP"/>
              <a:t>まず、11月中に行われる面談についてです。</a:t>
            </a:r>
            <a:endParaRPr/>
          </a:p>
          <a:p>
            <a:pPr marL="0" inden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5: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25: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buClr>
                <a:schemeClr val="dk1"/>
              </a:buClr>
              <a:buSzPts val="1200"/>
            </a:pPr>
            <a:r>
              <a:rPr lang="ja-JP"/>
              <a:t>研修に行くためには、まず教授との面接を通過する必要があります。</a:t>
            </a:r>
            <a:endParaRPr/>
          </a:p>
          <a:p>
            <a:pPr marL="0" indent="0">
              <a:buClr>
                <a:schemeClr val="dk1"/>
              </a:buClr>
              <a:buSzPts val="1200"/>
            </a:pPr>
            <a:r>
              <a:rPr lang="ja-JP"/>
              <a:t>目的は、英語力やIAESTEインターンシップへの意欲をはかることです。</a:t>
            </a:r>
            <a:endParaRPr/>
          </a:p>
          <a:p>
            <a:pPr marL="0" indent="0">
              <a:buClr>
                <a:schemeClr val="dk1"/>
              </a:buClr>
              <a:buSzPts val="1200"/>
            </a:pPr>
            <a:r>
              <a:rPr lang="ja-JP"/>
              <a:t>項目としては、書類選考と面接選考の２段階ございます。</a:t>
            </a:r>
            <a:endParaRPr/>
          </a:p>
          <a:p>
            <a:pPr marL="0" indent="0">
              <a:buClr>
                <a:schemeClr val="dk1"/>
              </a:buClr>
              <a:buSzPts val="1200"/>
            </a:pPr>
            <a:r>
              <a:rPr lang="ja-JP"/>
              <a:t>書類審査では、志望理由書を日本語と英語で、TOEICやTOEFL、英検など英語試験のスコア、CVという英文の履歴書を提出していただきます。</a:t>
            </a:r>
            <a:endParaRPr/>
          </a:p>
          <a:p>
            <a:pPr marL="0" indent="0">
              <a:buClr>
                <a:schemeClr val="dk1"/>
              </a:buClr>
              <a:buSzPts val="1200"/>
            </a:pPr>
            <a:r>
              <a:rPr lang="ja-JP"/>
              <a:t>面接は、英語及び日本語で行われ、専門分野の習得度、IAESTE海外インターンシップ研修に対する意欲、英語によるコミュニケーション能力が審査されます。</a:t>
            </a:r>
            <a:endParaRPr/>
          </a:p>
          <a:p>
            <a:pPr marL="0" indent="0">
              <a:buClr>
                <a:schemeClr val="dk1"/>
              </a:buClr>
              <a:buSzPts val="1200"/>
            </a:pPr>
            <a:r>
              <a:rPr lang="ja-JP"/>
              <a:t>これらに加え、Exchange Internshipを希望する学生は、マッチングの精度を高めるため、研修の際にどうしても譲れない条件を聞かれます。</a:t>
            </a:r>
            <a:endParaRPr/>
          </a:p>
          <a:p>
            <a:pPr marL="0" indent="0">
              <a:buClr>
                <a:schemeClr val="dk1"/>
              </a:buClr>
              <a:buSzPts val="1200"/>
            </a:pPr>
            <a:r>
              <a:rPr lang="ja-JP"/>
              <a:t>また、会員校の学生は大学会員校ごとに面談を行い、非会員校は選考委員会の教授と面談を行っていただきます。</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26: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26: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dirty="0"/>
              <a:t>面接は10月中を予定しております。面接日は教授のスケジュールに合わせてオンラインで行う予定です。</a:t>
            </a:r>
            <a:endParaRPr dirty="0"/>
          </a:p>
          <a:p>
            <a:pPr marL="0" indent="0"/>
            <a:r>
              <a:rPr lang="ja-JP" dirty="0"/>
              <a:t>日時や詳しい情報はホームページで随時更新していく予定です。</a:t>
            </a:r>
            <a:endParaRPr dirty="0"/>
          </a:p>
          <a:p>
            <a:pPr marL="0" indent="0"/>
            <a:r>
              <a:rPr lang="ja-JP" dirty="0"/>
              <a:t>申込期限は9月30日必着予定であり，面接結果に関してはメールで通知される予定です。</a:t>
            </a:r>
            <a:endParaRPr dirty="0"/>
          </a:p>
          <a:p>
            <a:pPr marL="0" indent="0"/>
            <a:r>
              <a:rPr lang="ja-JP" dirty="0"/>
              <a:t>詳しくは</a:t>
            </a:r>
            <a:r>
              <a:rPr lang="ja-JP" altLang="en-US" dirty="0"/>
              <a:t>応募要項</a:t>
            </a:r>
            <a:r>
              <a:rPr lang="ja-JP" dirty="0"/>
              <a:t>，公式HPにてご確認いただきますよう，よろしくお願いいたします。</a:t>
            </a:r>
            <a:endParaRPr dirty="0"/>
          </a:p>
        </p:txBody>
      </p:sp>
      <p:sp>
        <p:nvSpPr>
          <p:cNvPr id="593" name="Google Shape;593;p26:notes"/>
          <p:cNvSpPr txBox="1">
            <a:spLocks noGrp="1"/>
          </p:cNvSpPr>
          <p:nvPr>
            <p:ph type="sldNum" idx="12"/>
          </p:nvPr>
        </p:nvSpPr>
        <p:spPr>
          <a:xfrm>
            <a:off x="4023992" y="9721107"/>
            <a:ext cx="3078427" cy="513507"/>
          </a:xfrm>
          <a:prstGeom prst="rect">
            <a:avLst/>
          </a:prstGeom>
          <a:noFill/>
          <a:ln>
            <a:noFill/>
          </a:ln>
        </p:spPr>
        <p:txBody>
          <a:bodyPr spcFirstLastPara="1" wrap="square" lIns="99059" tIns="49516" rIns="99059" bIns="49516" anchor="b" anchorCtr="0">
            <a:noAutofit/>
          </a:bodyPr>
          <a:lstStyle/>
          <a:p>
            <a:pPr algn="r">
              <a:buSzPts val="1400"/>
            </a:pPr>
            <a:fld id="{00000000-1234-1234-1234-123412341234}" type="slidenum">
              <a:rPr lang="en-US" altLang="ja-JP"/>
              <a:pPr algn="r">
                <a:buSzPts val="1400"/>
              </a:pP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27: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27: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buClr>
                <a:schemeClr val="dk1"/>
              </a:buClr>
              <a:buSzPts val="1200"/>
            </a:pPr>
            <a:r>
              <a:rPr lang="ja-JP" dirty="0"/>
              <a:t>それでは次に、インターンシップに必要となる語学試験のスコアについてご説明いたします。</a:t>
            </a:r>
            <a:endParaRPr dirty="0"/>
          </a:p>
          <a:p>
            <a:pPr marL="0" indent="0">
              <a:buClr>
                <a:schemeClr val="dk1"/>
              </a:buClr>
              <a:buSzPts val="1200"/>
            </a:pPr>
            <a:endParaRPr dirty="0"/>
          </a:p>
          <a:p>
            <a:pPr marL="0" indent="0">
              <a:buClr>
                <a:schemeClr val="dk1"/>
              </a:buClr>
              <a:buSzPts val="1200"/>
            </a:pPr>
            <a:r>
              <a:rPr lang="ja-JP" dirty="0"/>
              <a:t>まず初めにExchange Internshipの場合についてです。書類選考における英語試験のスコアでは、TOEIC speaking &amp; writing tests 240点以上、</a:t>
            </a:r>
            <a:endParaRPr dirty="0"/>
          </a:p>
          <a:p>
            <a:pPr marL="0" indent="0">
              <a:buClr>
                <a:schemeClr val="dk1"/>
              </a:buClr>
              <a:buSzPts val="1200"/>
            </a:pPr>
            <a:r>
              <a:rPr lang="ja-JP" dirty="0"/>
              <a:t>TOEIC listening &amp; reading tests 600点以上、TOEFL iBT62以上、TOEFL ITP503以上、</a:t>
            </a:r>
            <a:endParaRPr dirty="0"/>
          </a:p>
          <a:p>
            <a:pPr marL="0" indent="0">
              <a:buClr>
                <a:schemeClr val="dk1"/>
              </a:buClr>
              <a:buSzPts val="1200"/>
            </a:pPr>
            <a:r>
              <a:rPr lang="ja-JP" dirty="0"/>
              <a:t>IELTS(アイエルツ)5.5以上、英検準一級以上 </a:t>
            </a:r>
            <a:r>
              <a:rPr lang="ja-JP" b="1" dirty="0"/>
              <a:t>のいずれか </a:t>
            </a:r>
            <a:r>
              <a:rPr lang="ja-JP" dirty="0"/>
              <a:t>に達していることが必要となります。</a:t>
            </a:r>
            <a:endParaRPr dirty="0"/>
          </a:p>
          <a:p>
            <a:pPr marL="0" indent="0">
              <a:buClr>
                <a:schemeClr val="dk1"/>
              </a:buClr>
              <a:buSzPts val="1200"/>
            </a:pPr>
            <a:r>
              <a:rPr lang="ja-JP" dirty="0"/>
              <a:t>有効期限がある場合は期限内のものとします。</a:t>
            </a:r>
            <a:endParaRPr dirty="0"/>
          </a:p>
          <a:p>
            <a:pPr marL="0" indent="0">
              <a:buClr>
                <a:schemeClr val="dk1"/>
              </a:buClr>
              <a:buSzPts val="1200"/>
            </a:pPr>
            <a:r>
              <a:rPr lang="ja-JP" dirty="0"/>
              <a:t>また、申し込み時にこれらのスコアに達していなくても、10月に行われるIAESTE面接選考日までに達した事を示す書類を提出していただければ、</a:t>
            </a:r>
            <a:endParaRPr dirty="0"/>
          </a:p>
          <a:p>
            <a:pPr marL="0" indent="0">
              <a:buClr>
                <a:schemeClr val="dk1"/>
              </a:buClr>
              <a:buSzPts val="1200"/>
            </a:pPr>
            <a:r>
              <a:rPr lang="ja-JP" dirty="0"/>
              <a:t>その結果を反映することが可能です。</a:t>
            </a:r>
            <a:endParaRPr dirty="0"/>
          </a:p>
          <a:p>
            <a:pPr marL="0" indent="0">
              <a:buClr>
                <a:schemeClr val="dk1"/>
              </a:buClr>
              <a:buSzPts val="1200"/>
            </a:pPr>
            <a:r>
              <a:rPr lang="ja-JP" dirty="0"/>
              <a:t>TOEIC  IPのスコアは書類選考においてのみ認めます。</a:t>
            </a:r>
            <a:endParaRPr dirty="0"/>
          </a:p>
          <a:p>
            <a:pPr marL="0" indent="0">
              <a:buClr>
                <a:schemeClr val="dk1"/>
              </a:buClr>
              <a:buSzPts val="1200"/>
            </a:pPr>
            <a:r>
              <a:rPr lang="ja-JP" dirty="0"/>
              <a:t>ただし、マッチング後、研修先の書類審査にて公式認定書の提出を求められるので、公式テストの受験をお勧めします。</a:t>
            </a:r>
            <a:endParaRPr dirty="0"/>
          </a:p>
          <a:p>
            <a:pPr marL="0" indent="0">
              <a:buClr>
                <a:schemeClr val="dk1"/>
              </a:buClr>
              <a:buSzPts val="1200"/>
            </a:pPr>
            <a:r>
              <a:rPr lang="ja-JP" dirty="0"/>
              <a:t>また、英語の他にドイツ語、フランス語の基礎技能があるとヨーロッパ圏でのインターンシップには非常に優利です。</a:t>
            </a:r>
            <a:endParaRPr dirty="0"/>
          </a:p>
          <a:p>
            <a:pPr marL="0" indent="0">
              <a:buClr>
                <a:schemeClr val="dk1"/>
              </a:buClr>
              <a:buSzPts val="1200"/>
            </a:pPr>
            <a:endParaRPr dirty="0"/>
          </a:p>
          <a:p>
            <a:pPr marL="0" indent="0">
              <a:buClr>
                <a:schemeClr val="dk1"/>
              </a:buClr>
              <a:buSzPts val="1200"/>
            </a:pPr>
            <a:r>
              <a:rPr lang="ja-JP" b="1" dirty="0"/>
              <a:t>研修分野によっては，他のスキルも必要とされる場合があります．詳しくは</a:t>
            </a:r>
            <a:r>
              <a:rPr lang="ja-JP" altLang="en-US" b="1" dirty="0"/>
              <a:t>応募要項</a:t>
            </a:r>
            <a:r>
              <a:rPr lang="ja-JP" b="1" dirty="0"/>
              <a:t>をご確認ください．</a:t>
            </a:r>
            <a:endParaRPr b="1" dirty="0"/>
          </a:p>
          <a:p>
            <a:pPr marL="0" indent="0"/>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212f2384a0d_0_0: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8" name="Google Shape;618;g212f2384a0d_0_0: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buClr>
                <a:schemeClr val="dk1"/>
              </a:buClr>
              <a:buSzPts val="1200"/>
            </a:pPr>
            <a:r>
              <a:rPr lang="ja-JP" dirty="0"/>
              <a:t>次にGlobal Internshipについて説明いたします。なお、書類選考における英語試験のスコアについてですが、TOEIC speaking &amp; writing tests 300点以上、</a:t>
            </a:r>
            <a:endParaRPr dirty="0"/>
          </a:p>
          <a:p>
            <a:pPr marL="0" indent="0">
              <a:buClr>
                <a:schemeClr val="dk1"/>
              </a:buClr>
              <a:buSzPts val="1200"/>
            </a:pPr>
            <a:r>
              <a:rPr lang="ja-JP" dirty="0"/>
              <a:t>TOEIC listening &amp; reading tests 800点以上、TOEFL iBT88以上、TOEFL ITP570以上、</a:t>
            </a:r>
            <a:endParaRPr dirty="0"/>
          </a:p>
          <a:p>
            <a:pPr marL="0" indent="0">
              <a:buClr>
                <a:schemeClr val="dk1"/>
              </a:buClr>
              <a:buSzPts val="1200"/>
            </a:pPr>
            <a:r>
              <a:rPr lang="ja-JP" dirty="0"/>
              <a:t>IELTS(アイエルツ)6.5以上、英検準一級以上 </a:t>
            </a:r>
            <a:r>
              <a:rPr lang="ja-JP" b="1" dirty="0"/>
              <a:t>のいずれか </a:t>
            </a:r>
            <a:r>
              <a:rPr lang="ja-JP" dirty="0"/>
              <a:t>に達していることが必要となります。</a:t>
            </a:r>
            <a:endParaRPr dirty="0"/>
          </a:p>
          <a:p>
            <a:pPr marL="0" indent="0">
              <a:buClr>
                <a:schemeClr val="dk1"/>
              </a:buClr>
              <a:buSzPts val="1200"/>
            </a:pPr>
            <a:r>
              <a:rPr lang="ja-JP" dirty="0"/>
              <a:t>有効期限がある場合は期限内のものとします。</a:t>
            </a:r>
            <a:endParaRPr dirty="0"/>
          </a:p>
          <a:p>
            <a:pPr marL="0" indent="0">
              <a:buClr>
                <a:schemeClr val="dk1"/>
              </a:buClr>
              <a:buSzPts val="1200"/>
            </a:pPr>
            <a:r>
              <a:rPr lang="ja-JP" dirty="0"/>
              <a:t>また、申し込み時にこれらのスコアに達していなくても、11月に行われるIAESTE面接選考日までに達した事を示す書類を提出していただければ、</a:t>
            </a:r>
            <a:endParaRPr dirty="0"/>
          </a:p>
          <a:p>
            <a:pPr marL="0" indent="0">
              <a:buClr>
                <a:schemeClr val="dk1"/>
              </a:buClr>
              <a:buSzPts val="1200"/>
            </a:pPr>
            <a:r>
              <a:rPr lang="ja-JP" dirty="0"/>
              <a:t>その結果を反映することが可能です。</a:t>
            </a:r>
            <a:endParaRPr dirty="0"/>
          </a:p>
          <a:p>
            <a:pPr marL="0" indent="0">
              <a:buClr>
                <a:schemeClr val="dk1"/>
              </a:buClr>
              <a:buSzPts val="1200"/>
            </a:pPr>
            <a:r>
              <a:rPr lang="ja-JP" dirty="0"/>
              <a:t>TOEIC  IPのスコアは書類選考においてのみ認めます。</a:t>
            </a:r>
            <a:endParaRPr dirty="0"/>
          </a:p>
          <a:p>
            <a:pPr marL="0" indent="0">
              <a:buClr>
                <a:schemeClr val="dk1"/>
              </a:buClr>
              <a:buSzPts val="1200"/>
            </a:pPr>
            <a:r>
              <a:rPr lang="ja-JP" dirty="0"/>
              <a:t>ただし、マッチング後、研修先の書類審査にて公式認定書の提出を求められるので、公式テストの受験をお勧めします。</a:t>
            </a:r>
            <a:endParaRPr dirty="0"/>
          </a:p>
          <a:p>
            <a:pPr marL="0" indent="0">
              <a:buClr>
                <a:schemeClr val="dk1"/>
              </a:buClr>
              <a:buSzPts val="1200"/>
            </a:pPr>
            <a:r>
              <a:rPr lang="ja-JP" dirty="0"/>
              <a:t>また、英語の他にドイツ語、フランス語の基礎技能があるとヨーロッパ圏でのインターンシップには非常に優利です。</a:t>
            </a:r>
            <a:endParaRPr dirty="0"/>
          </a:p>
          <a:p>
            <a:pPr marL="0" indent="0">
              <a:buClr>
                <a:schemeClr val="dk1"/>
              </a:buClr>
              <a:buSzPts val="1200"/>
            </a:pPr>
            <a:endParaRPr dirty="0"/>
          </a:p>
          <a:p>
            <a:pPr marL="0" indent="0">
              <a:buClr>
                <a:schemeClr val="dk1"/>
              </a:buClr>
              <a:buSzPts val="1200"/>
            </a:pPr>
            <a:r>
              <a:rPr lang="ja-JP" b="1" dirty="0"/>
              <a:t>研修分野によっては，他のスキルも必要とされる場合があります．詳しくは</a:t>
            </a:r>
            <a:r>
              <a:rPr lang="ja-JP" altLang="en-US" b="1" dirty="0"/>
              <a:t>応募要項</a:t>
            </a:r>
            <a:r>
              <a:rPr lang="ja-JP" b="1" dirty="0"/>
              <a:t>をご確認ください．</a:t>
            </a:r>
            <a:endParaRPr b="1" dirty="0"/>
          </a:p>
          <a:p>
            <a:pPr marL="0" indent="0"/>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28: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8" name="Google Shape;628;p28: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以上が選考についての説明となります。</a:t>
            </a:r>
            <a:endParaRPr/>
          </a:p>
          <a:p>
            <a:pPr marL="0" indent="0"/>
            <a:r>
              <a:rPr lang="ja-JP"/>
              <a:t>続いて、選考後の「マッチング」について説明いたします。</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29: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7" name="Google Shape;667;p29: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dirty="0"/>
              <a:t>IAESTEインターンシップの大きな特徴として、インターンシップ先を「マッチング」という方式で決定することが挙げられます。</a:t>
            </a:r>
            <a:endParaRPr dirty="0"/>
          </a:p>
          <a:p>
            <a:pPr marL="0" indent="0"/>
            <a:r>
              <a:rPr lang="ja-JP" dirty="0"/>
              <a:t>選考を通過した学生は</a:t>
            </a:r>
            <a:r>
              <a:rPr lang="ja-JP" altLang="en-US" dirty="0"/>
              <a:t>研修</a:t>
            </a:r>
            <a:r>
              <a:rPr lang="ja-JP" dirty="0"/>
              <a:t>候補生と呼ばれます。</a:t>
            </a:r>
            <a:endParaRPr dirty="0"/>
          </a:p>
          <a:p>
            <a:pPr marL="0" indent="0"/>
            <a:r>
              <a:rPr lang="ja-JP" dirty="0"/>
              <a:t>選考と同時期に、インターン生を受け入れる大学や企業が、各国のIAESTE事務局に、インターンシップの内容や期間など、</a:t>
            </a:r>
            <a:endParaRPr dirty="0"/>
          </a:p>
          <a:p>
            <a:pPr marL="0" indent="0"/>
            <a:r>
              <a:rPr lang="ja-JP" dirty="0"/>
              <a:t>受入に関する条件を提出します。これを「オファー」と呼びます。</a:t>
            </a:r>
            <a:endParaRPr dirty="0"/>
          </a:p>
          <a:p>
            <a:pPr marL="0" indent="0"/>
            <a:r>
              <a:rPr lang="ja-JP" dirty="0"/>
              <a:t>その後、毎年１月中旬に行われるIAESTEの国際総会にて、各国のIAESTE事務局が自分の国の</a:t>
            </a:r>
            <a:r>
              <a:rPr lang="ja-JP" altLang="en-US" dirty="0"/>
              <a:t>研修</a:t>
            </a:r>
            <a:r>
              <a:rPr lang="ja-JP" dirty="0"/>
              <a:t>候補生の希望に沿うオファーを探し、</a:t>
            </a:r>
            <a:endParaRPr dirty="0"/>
          </a:p>
          <a:p>
            <a:pPr marL="0" indent="0"/>
            <a:r>
              <a:rPr lang="ja-JP" dirty="0"/>
              <a:t>各加盟国と交渉します。ここで獲得するオファーをExchange Internshipと呼びます。</a:t>
            </a:r>
            <a:endParaRPr dirty="0"/>
          </a:p>
          <a:p>
            <a:pPr marL="0" indent="0"/>
            <a:r>
              <a:rPr lang="ja-JP" dirty="0"/>
              <a:t>Exchange Internshipの場合、</a:t>
            </a:r>
            <a:r>
              <a:rPr lang="ja-JP" altLang="en-US" dirty="0"/>
              <a:t>研修</a:t>
            </a:r>
            <a:r>
              <a:rPr lang="ja-JP" dirty="0"/>
              <a:t>時期に関しては、6月から12月の研修可能期間のうち夏休み期間の7月～9月が最もオファーの数が多くなっています。</a:t>
            </a:r>
            <a:endParaRPr dirty="0"/>
          </a:p>
          <a:p>
            <a:pPr marL="0" indent="0"/>
            <a:r>
              <a:rPr lang="ja-JP" dirty="0"/>
              <a:t>年間を通して好きな時期にオファーを選び好きな時期に</a:t>
            </a:r>
            <a:r>
              <a:rPr lang="ja-JP" altLang="en-US" dirty="0"/>
              <a:t>研修</a:t>
            </a:r>
            <a:r>
              <a:rPr lang="ja-JP" dirty="0"/>
              <a:t>に行きたい学生の方は通年募集をしているGlobal Internshipという選択肢があります。</a:t>
            </a:r>
            <a:endParaRPr dirty="0"/>
          </a:p>
          <a:p>
            <a:pPr marL="0" indent="0"/>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30: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1" name="Google Shape;691;p30: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dirty="0"/>
              <a:t>つづいて、マッチングにより</a:t>
            </a:r>
            <a:r>
              <a:rPr lang="ja-JP" altLang="en-US" dirty="0"/>
              <a:t>研修</a:t>
            </a:r>
            <a:r>
              <a:rPr lang="ja-JP" dirty="0"/>
              <a:t>候補生のインターン先が決定された後、６月上旬に、</a:t>
            </a:r>
            <a:r>
              <a:rPr lang="ja-JP" altLang="en-US" dirty="0"/>
              <a:t>研修</a:t>
            </a:r>
            <a:r>
              <a:rPr lang="ja-JP" dirty="0"/>
              <a:t>準備会があります。</a:t>
            </a:r>
            <a:endParaRPr dirty="0"/>
          </a:p>
          <a:p>
            <a:pPr marL="0" indent="0"/>
            <a:r>
              <a:rPr lang="ja-JP" dirty="0"/>
              <a:t>これは</a:t>
            </a:r>
            <a:r>
              <a:rPr lang="ja-JP" altLang="en-US" dirty="0"/>
              <a:t>研修</a:t>
            </a:r>
            <a:r>
              <a:rPr lang="ja-JP" dirty="0"/>
              <a:t>生に対し、より高度な英語力の養成等を目的として首都圏の大学にて開催されるものです。</a:t>
            </a: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31: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2" name="Google Shape;732;p31: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r>
              <a:rPr lang="ja-JP"/>
              <a:t>さいごは、マッチングによって決定した受入機関にて研修開始となります。</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32: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2" name="Google Shape;772;p32:notes"/>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p>
            <a:pPr marL="0" indent="0">
              <a:buClr>
                <a:schemeClr val="dk1"/>
              </a:buClr>
              <a:buSzPts val="1200"/>
            </a:pPr>
            <a:r>
              <a:rPr lang="ja-JP" dirty="0"/>
              <a:t>IAESTEについてやインターンシップ選考の詳細、</a:t>
            </a:r>
            <a:r>
              <a:rPr lang="ja-JP" altLang="en-US" dirty="0"/>
              <a:t>応募要項</a:t>
            </a:r>
            <a:r>
              <a:rPr lang="ja-JP" dirty="0"/>
              <a:t>については、IAESTEホームページにて確認できます。</a:t>
            </a:r>
            <a:endParaRPr dirty="0"/>
          </a:p>
          <a:p>
            <a:pPr marL="0" indent="0">
              <a:buClr>
                <a:schemeClr val="dk1"/>
              </a:buClr>
              <a:buSzPts val="1200"/>
            </a:pPr>
            <a:r>
              <a:rPr lang="ja-JP" dirty="0"/>
              <a:t>その他お問い合わせはこちらのメールアドレスへお願いいたします。このアドレスもIAESTEのホームページにて確認できます。</a:t>
            </a:r>
            <a:endParaRPr dirty="0"/>
          </a:p>
          <a:p>
            <a:pPr marL="0" indent="0">
              <a:buClr>
                <a:schemeClr val="dk1"/>
              </a:buClr>
              <a:buSzPts val="1200"/>
            </a:pPr>
            <a:r>
              <a:rPr lang="ja-JP" dirty="0"/>
              <a:t>フェイスブックやtwitter、InstagramなどのSNSにて広報活動も行っておりますので、是非、随時チェックしてみてください。</a:t>
            </a:r>
            <a:endParaRPr dirty="0"/>
          </a:p>
          <a:p>
            <a:pPr marL="0" indent="0"/>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4bee65766c_3_7: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24bee65766c_3_7: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r>
              <a:rPr lang="ja-JP"/>
              <a:t>Facebookに加え Instagram, X(旧Twitter)のアカウントも作成いたしました。今後インターンに役立つ情報を配信していくので、ぜひフォローをお願いいたします．</a:t>
            </a:r>
            <a:endParaRPr/>
          </a:p>
          <a:p>
            <a:pPr marL="0" indent="0"/>
            <a:endParaRPr/>
          </a:p>
          <a:p>
            <a:pPr marL="0" indent="0" algn="just">
              <a:buClr>
                <a:schemeClr val="dk1"/>
              </a:buClr>
              <a:buSzPts val="1100"/>
            </a:pPr>
            <a:r>
              <a:rPr lang="ja-JP" altLang="en-US" sz="1100"/>
              <a:t>以上で、第一部、</a:t>
            </a:r>
            <a:r>
              <a:rPr lang="en-US" altLang="ja-JP" sz="1100"/>
              <a:t>IAESTE</a:t>
            </a:r>
            <a:r>
              <a:rPr lang="ja-JP" altLang="en-US" sz="1100"/>
              <a:t>海外インターンシッププログラムの説明を終了します。    </a:t>
            </a:r>
            <a:endParaRPr sz="1100"/>
          </a:p>
          <a:p>
            <a:pPr marL="0" inden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dde2198658_4_11: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dde2198658_4_11: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dde2198658_4_17: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dde2198658_4_17: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2dde2198658_4_23:notes"/>
          <p:cNvSpPr>
            <a:spLocks noGrp="1" noRot="1" noChangeAspect="1"/>
          </p:cNvSpPr>
          <p:nvPr>
            <p:ph type="sldImg" idx="2"/>
          </p:nvPr>
        </p:nvSpPr>
        <p:spPr>
          <a:xfrm>
            <a:off x="1249363" y="1279525"/>
            <a:ext cx="460533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8" name="Google Shape;818;g2dde2198658_4_23:notes"/>
          <p:cNvSpPr txBox="1">
            <a:spLocks noGrp="1"/>
          </p:cNvSpPr>
          <p:nvPr>
            <p:ph type="body" idx="1"/>
          </p:nvPr>
        </p:nvSpPr>
        <p:spPr>
          <a:xfrm>
            <a:off x="710407" y="4925407"/>
            <a:ext cx="5683250" cy="4030047"/>
          </a:xfrm>
          <a:prstGeom prst="rect">
            <a:avLst/>
          </a:prstGeom>
          <a:noFill/>
          <a:ln>
            <a:noFill/>
          </a:ln>
        </p:spPr>
        <p:txBody>
          <a:bodyPr spcFirstLastPara="1" wrap="square" lIns="99059" tIns="49516" rIns="99059" bIns="49516" anchor="t" anchorCtr="0">
            <a:noAutofit/>
          </a:bodyPr>
          <a:lstStyle/>
          <a:p>
            <a:pPr marL="0" inden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4bee65766c_0_339:notes"/>
          <p:cNvSpPr txBox="1">
            <a:spLocks noGrp="1"/>
          </p:cNvSpPr>
          <p:nvPr>
            <p:ph type="body" idx="1"/>
          </p:nvPr>
        </p:nvSpPr>
        <p:spPr>
          <a:xfrm>
            <a:off x="710407" y="4861441"/>
            <a:ext cx="5683250" cy="4605576"/>
          </a:xfrm>
          <a:prstGeom prst="rect">
            <a:avLst/>
          </a:prstGeom>
          <a:noFill/>
          <a:ln>
            <a:noFill/>
          </a:ln>
        </p:spPr>
        <p:txBody>
          <a:bodyPr spcFirstLastPara="1" wrap="square" lIns="99059" tIns="99059" rIns="99059" bIns="99059" anchor="t" anchorCtr="0">
            <a:noAutofit/>
          </a:bodyPr>
          <a:lstStyle/>
          <a:p>
            <a:pPr marL="0" indent="0">
              <a:buSzPts val="1100"/>
            </a:pPr>
            <a:endParaRPr/>
          </a:p>
        </p:txBody>
      </p:sp>
      <p:sp>
        <p:nvSpPr>
          <p:cNvPr id="825" name="Google Shape;825;g24bee65766c_0_339:notes"/>
          <p:cNvSpPr>
            <a:spLocks noGrp="1" noRot="1" noChangeAspect="1"/>
          </p:cNvSpPr>
          <p:nvPr>
            <p:ph type="sldImg" idx="2"/>
          </p:nvPr>
        </p:nvSpPr>
        <p:spPr>
          <a:xfrm>
            <a:off x="995363" y="768350"/>
            <a:ext cx="5113337"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タイトルのみ">
  <p:cSld name="1_タイトルのみ">
    <p:bg>
      <p:bgPr>
        <a:gradFill>
          <a:gsLst>
            <a:gs pos="0">
              <a:srgbClr val="2F639A"/>
            </a:gs>
            <a:gs pos="52999">
              <a:srgbClr val="478EB4"/>
            </a:gs>
            <a:gs pos="100000">
              <a:srgbClr val="5C9E95"/>
            </a:gs>
          </a:gsLst>
          <a:lin ang="2700006" scaled="0"/>
        </a:gra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比較">
  <p:cSld name="1_比較">
    <p:bg>
      <p:bgPr>
        <a:solidFill>
          <a:schemeClr val="lt1"/>
        </a:solidFill>
        <a:effectLst/>
      </p:bgPr>
    </p:bg>
    <p:spTree>
      <p:nvGrpSpPr>
        <p:cNvPr id="1" name="Shape 16"/>
        <p:cNvGrpSpPr/>
        <p:nvPr/>
      </p:nvGrpSpPr>
      <p:grpSpPr>
        <a:xfrm>
          <a:off x="0" y="0"/>
          <a:ext cx="0" cy="0"/>
          <a:chOff x="0" y="0"/>
          <a:chExt cx="0" cy="0"/>
        </a:xfrm>
      </p:grpSpPr>
      <p:sp>
        <p:nvSpPr>
          <p:cNvPr id="17" name="Google Shape;17;g24bee65766c_0_190"/>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2F639A"/>
                </a:solidFill>
                <a:latin typeface="Helvetica Neue"/>
                <a:ea typeface="Helvetica Neue"/>
                <a:cs typeface="Helvetica Neue"/>
                <a:sym typeface="Helvetica Neue"/>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2F639A"/>
                </a:solidFill>
                <a:latin typeface="Helvetica Neue"/>
                <a:ea typeface="Helvetica Neue"/>
                <a:cs typeface="Helvetica Neue"/>
                <a:sym typeface="Helvetica Neue"/>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2F639A"/>
                </a:solidFill>
                <a:latin typeface="Helvetica Neue"/>
                <a:ea typeface="Helvetica Neue"/>
                <a:cs typeface="Helvetica Neue"/>
                <a:sym typeface="Helvetica Neue"/>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2F639A"/>
                </a:solidFill>
                <a:latin typeface="Helvetica Neue"/>
                <a:ea typeface="Helvetica Neue"/>
                <a:cs typeface="Helvetica Neue"/>
                <a:sym typeface="Helvetica Neue"/>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2F639A"/>
                </a:solidFill>
                <a:latin typeface="Helvetica Neue"/>
                <a:ea typeface="Helvetica Neue"/>
                <a:cs typeface="Helvetica Neue"/>
                <a:sym typeface="Helvetica Neue"/>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2F639A"/>
                </a:solidFill>
                <a:latin typeface="Helvetica Neue"/>
                <a:ea typeface="Helvetica Neue"/>
                <a:cs typeface="Helvetica Neue"/>
                <a:sym typeface="Helvetica Neue"/>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2F639A"/>
                </a:solidFill>
                <a:latin typeface="Helvetica Neue"/>
                <a:ea typeface="Helvetica Neue"/>
                <a:cs typeface="Helvetica Neue"/>
                <a:sym typeface="Helvetica Neue"/>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2F639A"/>
                </a:solidFill>
                <a:latin typeface="Helvetica Neue"/>
                <a:ea typeface="Helvetica Neue"/>
                <a:cs typeface="Helvetica Neue"/>
                <a:sym typeface="Helvetica Neue"/>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2F639A"/>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ja-JP"/>
              <a:t>‹#›</a:t>
            </a:fld>
            <a:endParaRPr/>
          </a:p>
        </p:txBody>
      </p:sp>
      <p:sp>
        <p:nvSpPr>
          <p:cNvPr id="18" name="Google Shape;18;g24bee65766c_0_190"/>
          <p:cNvSpPr/>
          <p:nvPr/>
        </p:nvSpPr>
        <p:spPr>
          <a:xfrm>
            <a:off x="0" y="0"/>
            <a:ext cx="9144000" cy="609000"/>
          </a:xfrm>
          <a:prstGeom prst="rect">
            <a:avLst/>
          </a:prstGeom>
          <a:gradFill>
            <a:gsLst>
              <a:gs pos="0">
                <a:srgbClr val="185FAE"/>
              </a:gs>
              <a:gs pos="51000">
                <a:srgbClr val="2498DA"/>
              </a:gs>
              <a:gs pos="100000">
                <a:srgbClr val="3EB4A8"/>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p:txBody>
      </p:sp>
      <p:sp>
        <p:nvSpPr>
          <p:cNvPr id="19" name="Google Shape;19;g24bee65766c_0_190"/>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lvl1pPr lvl="0" algn="l">
              <a:lnSpc>
                <a:spcPct val="90000"/>
              </a:lnSpc>
              <a:spcBef>
                <a:spcPts val="0"/>
              </a:spcBef>
              <a:spcAft>
                <a:spcPts val="0"/>
              </a:spcAft>
              <a:buClr>
                <a:schemeClr val="lt1"/>
              </a:buClr>
              <a:buSzPts val="2000"/>
              <a:buFont typeface="Calibri"/>
              <a:buNone/>
              <a:defRPr sz="2000" b="1">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0" name="Google Shape;20;g24bee65766c_0_190"/>
          <p:cNvPicPr preferRelativeResize="0"/>
          <p:nvPr/>
        </p:nvPicPr>
        <p:blipFill rotWithShape="1">
          <a:blip r:embed="rId2">
            <a:alphaModFix/>
          </a:blip>
          <a:srcRect/>
          <a:stretch/>
        </p:blipFill>
        <p:spPr>
          <a:xfrm>
            <a:off x="8120237" y="180870"/>
            <a:ext cx="840616" cy="25120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21"/>
        <p:cNvGrpSpPr/>
        <p:nvPr/>
      </p:nvGrpSpPr>
      <p:grpSpPr>
        <a:xfrm>
          <a:off x="0" y="0"/>
          <a:ext cx="0" cy="0"/>
          <a:chOff x="0" y="0"/>
          <a:chExt cx="0" cy="0"/>
        </a:xfrm>
      </p:grpSpPr>
      <p:sp>
        <p:nvSpPr>
          <p:cNvPr id="22" name="Google Shape;22;g24bee65766c_0_196"/>
          <p:cNvSpPr txBox="1">
            <a:spLocks noGrp="1"/>
          </p:cNvSpPr>
          <p:nvPr>
            <p:ph type="ctrTitle"/>
          </p:nvPr>
        </p:nvSpPr>
        <p:spPr>
          <a:xfrm>
            <a:off x="685800" y="1122363"/>
            <a:ext cx="77724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g24bee65766c_0_196"/>
          <p:cNvSpPr txBox="1">
            <a:spLocks noGrp="1"/>
          </p:cNvSpPr>
          <p:nvPr>
            <p:ph type="subTitle" idx="1"/>
          </p:nvPr>
        </p:nvSpPr>
        <p:spPr>
          <a:xfrm>
            <a:off x="1143000" y="3602038"/>
            <a:ext cx="6858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g24bee65766c_0_196"/>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g24bee65766c_0_196"/>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g24bee65766c_0_196"/>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27"/>
        <p:cNvGrpSpPr/>
        <p:nvPr/>
      </p:nvGrpSpPr>
      <p:grpSpPr>
        <a:xfrm>
          <a:off x="0" y="0"/>
          <a:ext cx="0" cy="0"/>
          <a:chOff x="0" y="0"/>
          <a:chExt cx="0" cy="0"/>
        </a:xfrm>
      </p:grpSpPr>
      <p:sp>
        <p:nvSpPr>
          <p:cNvPr id="28" name="Google Shape;28;g24bee65766c_0_202"/>
          <p:cNvSpPr txBox="1">
            <a:spLocks noGrp="1"/>
          </p:cNvSpPr>
          <p:nvPr>
            <p:ph type="title"/>
          </p:nvPr>
        </p:nvSpPr>
        <p:spPr>
          <a:xfrm>
            <a:off x="628650" y="365126"/>
            <a:ext cx="78867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g24bee65766c_0_202"/>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g24bee65766c_0_202"/>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g24bee65766c_0_202"/>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g24bee65766c_0_202"/>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33"/>
        <p:cNvGrpSpPr/>
        <p:nvPr/>
      </p:nvGrpSpPr>
      <p:grpSpPr>
        <a:xfrm>
          <a:off x="0" y="0"/>
          <a:ext cx="0" cy="0"/>
          <a:chOff x="0" y="0"/>
          <a:chExt cx="0" cy="0"/>
        </a:xfrm>
      </p:grpSpPr>
      <p:sp>
        <p:nvSpPr>
          <p:cNvPr id="34" name="Google Shape;34;g24bee65766c_0_208"/>
          <p:cNvSpPr txBox="1">
            <a:spLocks noGrp="1"/>
          </p:cNvSpPr>
          <p:nvPr>
            <p:ph type="title"/>
          </p:nvPr>
        </p:nvSpPr>
        <p:spPr>
          <a:xfrm>
            <a:off x="623888" y="1709739"/>
            <a:ext cx="78867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g24bee65766c_0_208"/>
          <p:cNvSpPr txBox="1">
            <a:spLocks noGrp="1"/>
          </p:cNvSpPr>
          <p:nvPr>
            <p:ph type="body" idx="1"/>
          </p:nvPr>
        </p:nvSpPr>
        <p:spPr>
          <a:xfrm>
            <a:off x="623888" y="4589464"/>
            <a:ext cx="78867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6" name="Google Shape;36;g24bee65766c_0_208"/>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g24bee65766c_0_208"/>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g24bee65766c_0_208"/>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39"/>
        <p:cNvGrpSpPr/>
        <p:nvPr/>
      </p:nvGrpSpPr>
      <p:grpSpPr>
        <a:xfrm>
          <a:off x="0" y="0"/>
          <a:ext cx="0" cy="0"/>
          <a:chOff x="0" y="0"/>
          <a:chExt cx="0" cy="0"/>
        </a:xfrm>
      </p:grpSpPr>
      <p:sp>
        <p:nvSpPr>
          <p:cNvPr id="40" name="Google Shape;40;g24bee65766c_0_214"/>
          <p:cNvSpPr txBox="1">
            <a:spLocks noGrp="1"/>
          </p:cNvSpPr>
          <p:nvPr>
            <p:ph type="title"/>
          </p:nvPr>
        </p:nvSpPr>
        <p:spPr>
          <a:xfrm>
            <a:off x="628650" y="365126"/>
            <a:ext cx="78867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g24bee65766c_0_214"/>
          <p:cNvSpPr txBox="1">
            <a:spLocks noGrp="1"/>
          </p:cNvSpPr>
          <p:nvPr>
            <p:ph type="body" idx="1"/>
          </p:nvPr>
        </p:nvSpPr>
        <p:spPr>
          <a:xfrm>
            <a:off x="628650" y="1825625"/>
            <a:ext cx="38862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g24bee65766c_0_214"/>
          <p:cNvSpPr txBox="1">
            <a:spLocks noGrp="1"/>
          </p:cNvSpPr>
          <p:nvPr>
            <p:ph type="body" idx="2"/>
          </p:nvPr>
        </p:nvSpPr>
        <p:spPr>
          <a:xfrm>
            <a:off x="4629150" y="1825625"/>
            <a:ext cx="38862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g24bee65766c_0_214"/>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g24bee65766c_0_214"/>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g24bee65766c_0_214"/>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6"/>
        <p:cNvGrpSpPr/>
        <p:nvPr/>
      </p:nvGrpSpPr>
      <p:grpSpPr>
        <a:xfrm>
          <a:off x="0" y="0"/>
          <a:ext cx="0" cy="0"/>
          <a:chOff x="0" y="0"/>
          <a:chExt cx="0" cy="0"/>
        </a:xfrm>
      </p:grpSpPr>
      <p:sp>
        <p:nvSpPr>
          <p:cNvPr id="47" name="Google Shape;47;g24bee65766c_0_221"/>
          <p:cNvSpPr txBox="1">
            <a:spLocks noGrp="1"/>
          </p:cNvSpPr>
          <p:nvPr>
            <p:ph type="title"/>
          </p:nvPr>
        </p:nvSpPr>
        <p:spPr>
          <a:xfrm>
            <a:off x="629841" y="365126"/>
            <a:ext cx="78867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g24bee65766c_0_221"/>
          <p:cNvSpPr txBox="1">
            <a:spLocks noGrp="1"/>
          </p:cNvSpPr>
          <p:nvPr>
            <p:ph type="body" idx="1"/>
          </p:nvPr>
        </p:nvSpPr>
        <p:spPr>
          <a:xfrm>
            <a:off x="629842" y="1681163"/>
            <a:ext cx="3868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g24bee65766c_0_221"/>
          <p:cNvSpPr txBox="1">
            <a:spLocks noGrp="1"/>
          </p:cNvSpPr>
          <p:nvPr>
            <p:ph type="body" idx="2"/>
          </p:nvPr>
        </p:nvSpPr>
        <p:spPr>
          <a:xfrm>
            <a:off x="629842" y="2505075"/>
            <a:ext cx="3868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g24bee65766c_0_221"/>
          <p:cNvSpPr txBox="1">
            <a:spLocks noGrp="1"/>
          </p:cNvSpPr>
          <p:nvPr>
            <p:ph type="body" idx="3"/>
          </p:nvPr>
        </p:nvSpPr>
        <p:spPr>
          <a:xfrm>
            <a:off x="4629150" y="1681163"/>
            <a:ext cx="38874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g24bee65766c_0_221"/>
          <p:cNvSpPr txBox="1">
            <a:spLocks noGrp="1"/>
          </p:cNvSpPr>
          <p:nvPr>
            <p:ph type="body" idx="4"/>
          </p:nvPr>
        </p:nvSpPr>
        <p:spPr>
          <a:xfrm>
            <a:off x="4629150" y="2505075"/>
            <a:ext cx="38874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g24bee65766c_0_221"/>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g24bee65766c_0_221"/>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g24bee65766c_0_221"/>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55"/>
        <p:cNvGrpSpPr/>
        <p:nvPr/>
      </p:nvGrpSpPr>
      <p:grpSpPr>
        <a:xfrm>
          <a:off x="0" y="0"/>
          <a:ext cx="0" cy="0"/>
          <a:chOff x="0" y="0"/>
          <a:chExt cx="0" cy="0"/>
        </a:xfrm>
      </p:grpSpPr>
      <p:sp>
        <p:nvSpPr>
          <p:cNvPr id="56" name="Google Shape;56;g24bee65766c_0_230"/>
          <p:cNvSpPr txBox="1">
            <a:spLocks noGrp="1"/>
          </p:cNvSpPr>
          <p:nvPr>
            <p:ph type="title"/>
          </p:nvPr>
        </p:nvSpPr>
        <p:spPr>
          <a:xfrm>
            <a:off x="628650" y="365126"/>
            <a:ext cx="78867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g24bee65766c_0_230"/>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4bee65766c_0_230"/>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g24bee65766c_0_230"/>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60"/>
        <p:cNvGrpSpPr/>
        <p:nvPr/>
      </p:nvGrpSpPr>
      <p:grpSpPr>
        <a:xfrm>
          <a:off x="0" y="0"/>
          <a:ext cx="0" cy="0"/>
          <a:chOff x="0" y="0"/>
          <a:chExt cx="0" cy="0"/>
        </a:xfrm>
      </p:grpSpPr>
      <p:sp>
        <p:nvSpPr>
          <p:cNvPr id="61" name="Google Shape;61;g24bee65766c_0_235"/>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g24bee65766c_0_235"/>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g24bee65766c_0_235"/>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64"/>
        <p:cNvGrpSpPr/>
        <p:nvPr/>
      </p:nvGrpSpPr>
      <p:grpSpPr>
        <a:xfrm>
          <a:off x="0" y="0"/>
          <a:ext cx="0" cy="0"/>
          <a:chOff x="0" y="0"/>
          <a:chExt cx="0" cy="0"/>
        </a:xfrm>
      </p:grpSpPr>
      <p:sp>
        <p:nvSpPr>
          <p:cNvPr id="65" name="Google Shape;65;g24bee65766c_0_239"/>
          <p:cNvSpPr txBox="1">
            <a:spLocks noGrp="1"/>
          </p:cNvSpPr>
          <p:nvPr>
            <p:ph type="title"/>
          </p:nvPr>
        </p:nvSpPr>
        <p:spPr>
          <a:xfrm>
            <a:off x="629841" y="457200"/>
            <a:ext cx="29493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g24bee65766c_0_239"/>
          <p:cNvSpPr txBox="1">
            <a:spLocks noGrp="1"/>
          </p:cNvSpPr>
          <p:nvPr>
            <p:ph type="body" idx="1"/>
          </p:nvPr>
        </p:nvSpPr>
        <p:spPr>
          <a:xfrm>
            <a:off x="3887391" y="987426"/>
            <a:ext cx="46293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g24bee65766c_0_239"/>
          <p:cNvSpPr txBox="1">
            <a:spLocks noGrp="1"/>
          </p:cNvSpPr>
          <p:nvPr>
            <p:ph type="body" idx="2"/>
          </p:nvPr>
        </p:nvSpPr>
        <p:spPr>
          <a:xfrm>
            <a:off x="629841" y="2057400"/>
            <a:ext cx="29493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g24bee65766c_0_239"/>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g24bee65766c_0_239"/>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g24bee65766c_0_239"/>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71"/>
        <p:cNvGrpSpPr/>
        <p:nvPr/>
      </p:nvGrpSpPr>
      <p:grpSpPr>
        <a:xfrm>
          <a:off x="0" y="0"/>
          <a:ext cx="0" cy="0"/>
          <a:chOff x="0" y="0"/>
          <a:chExt cx="0" cy="0"/>
        </a:xfrm>
      </p:grpSpPr>
      <p:sp>
        <p:nvSpPr>
          <p:cNvPr id="72" name="Google Shape;72;g24bee65766c_0_246"/>
          <p:cNvSpPr txBox="1">
            <a:spLocks noGrp="1"/>
          </p:cNvSpPr>
          <p:nvPr>
            <p:ph type="title"/>
          </p:nvPr>
        </p:nvSpPr>
        <p:spPr>
          <a:xfrm>
            <a:off x="629841" y="457200"/>
            <a:ext cx="29493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g24bee65766c_0_246"/>
          <p:cNvSpPr>
            <a:spLocks noGrp="1"/>
          </p:cNvSpPr>
          <p:nvPr>
            <p:ph type="pic" idx="2"/>
          </p:nvPr>
        </p:nvSpPr>
        <p:spPr>
          <a:xfrm>
            <a:off x="3887391" y="987426"/>
            <a:ext cx="4629300" cy="4873500"/>
          </a:xfrm>
          <a:prstGeom prst="rect">
            <a:avLst/>
          </a:prstGeom>
          <a:noFill/>
          <a:ln>
            <a:noFill/>
          </a:ln>
        </p:spPr>
      </p:sp>
      <p:sp>
        <p:nvSpPr>
          <p:cNvPr id="74" name="Google Shape;74;g24bee65766c_0_246"/>
          <p:cNvSpPr txBox="1">
            <a:spLocks noGrp="1"/>
          </p:cNvSpPr>
          <p:nvPr>
            <p:ph type="body" idx="1"/>
          </p:nvPr>
        </p:nvSpPr>
        <p:spPr>
          <a:xfrm>
            <a:off x="629841" y="2057400"/>
            <a:ext cx="29493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g24bee65766c_0_246"/>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g24bee65766c_0_246"/>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g24bee65766c_0_246"/>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78"/>
        <p:cNvGrpSpPr/>
        <p:nvPr/>
      </p:nvGrpSpPr>
      <p:grpSpPr>
        <a:xfrm>
          <a:off x="0" y="0"/>
          <a:ext cx="0" cy="0"/>
          <a:chOff x="0" y="0"/>
          <a:chExt cx="0" cy="0"/>
        </a:xfrm>
      </p:grpSpPr>
      <p:sp>
        <p:nvSpPr>
          <p:cNvPr id="79" name="Google Shape;79;g24bee65766c_0_253"/>
          <p:cNvSpPr txBox="1">
            <a:spLocks noGrp="1"/>
          </p:cNvSpPr>
          <p:nvPr>
            <p:ph type="title"/>
          </p:nvPr>
        </p:nvSpPr>
        <p:spPr>
          <a:xfrm>
            <a:off x="628650" y="365126"/>
            <a:ext cx="78867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g24bee65766c_0_253"/>
          <p:cNvSpPr txBox="1">
            <a:spLocks noGrp="1"/>
          </p:cNvSpPr>
          <p:nvPr>
            <p:ph type="body" idx="1"/>
          </p:nvPr>
        </p:nvSpPr>
        <p:spPr>
          <a:xfrm rot="5400000">
            <a:off x="2396400" y="57875"/>
            <a:ext cx="4351200"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g24bee65766c_0_253"/>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g24bee65766c_0_253"/>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g24bee65766c_0_253"/>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84"/>
        <p:cNvGrpSpPr/>
        <p:nvPr/>
      </p:nvGrpSpPr>
      <p:grpSpPr>
        <a:xfrm>
          <a:off x="0" y="0"/>
          <a:ext cx="0" cy="0"/>
          <a:chOff x="0" y="0"/>
          <a:chExt cx="0" cy="0"/>
        </a:xfrm>
      </p:grpSpPr>
      <p:sp>
        <p:nvSpPr>
          <p:cNvPr id="85" name="Google Shape;85;g24bee65766c_0_259"/>
          <p:cNvSpPr txBox="1">
            <a:spLocks noGrp="1"/>
          </p:cNvSpPr>
          <p:nvPr>
            <p:ph type="title"/>
          </p:nvPr>
        </p:nvSpPr>
        <p:spPr>
          <a:xfrm rot="5400000">
            <a:off x="4623601" y="2285276"/>
            <a:ext cx="5811900" cy="19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g24bee65766c_0_259"/>
          <p:cNvSpPr txBox="1">
            <a:spLocks noGrp="1"/>
          </p:cNvSpPr>
          <p:nvPr>
            <p:ph type="body" idx="1"/>
          </p:nvPr>
        </p:nvSpPr>
        <p:spPr>
          <a:xfrm rot="5400000">
            <a:off x="623025" y="370674"/>
            <a:ext cx="5811900" cy="5800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g24bee65766c_0_259"/>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g24bee65766c_0_259"/>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g24bee65766c_0_259"/>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24bee65766c_0_184"/>
          <p:cNvSpPr txBox="1">
            <a:spLocks noGrp="1"/>
          </p:cNvSpPr>
          <p:nvPr>
            <p:ph type="title"/>
          </p:nvPr>
        </p:nvSpPr>
        <p:spPr>
          <a:xfrm>
            <a:off x="628650" y="365126"/>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4bee65766c_0_184"/>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4bee65766c_0_184"/>
          <p:cNvSpPr txBox="1">
            <a:spLocks noGrp="1"/>
          </p:cNvSpPr>
          <p:nvPr>
            <p:ph type="dt" idx="10"/>
          </p:nvPr>
        </p:nvSpPr>
        <p:spPr>
          <a:xfrm>
            <a:off x="628650" y="6356351"/>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g24bee65766c_0_184"/>
          <p:cNvSpPr txBox="1">
            <a:spLocks noGrp="1"/>
          </p:cNvSpPr>
          <p:nvPr>
            <p:ph type="ftr" idx="11"/>
          </p:nvPr>
        </p:nvSpPr>
        <p:spPr>
          <a:xfrm>
            <a:off x="3028950" y="6356351"/>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g24bee65766c_0_184"/>
          <p:cNvSpPr txBox="1">
            <a:spLocks noGrp="1"/>
          </p:cNvSpPr>
          <p:nvPr>
            <p:ph type="sldNum" idx="12"/>
          </p:nvPr>
        </p:nvSpPr>
        <p:spPr>
          <a:xfrm>
            <a:off x="64579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0.jpg"/><Relationship Id="rId4" Type="http://schemas.openxmlformats.org/officeDocument/2006/relationships/image" Target="../media/image29.jp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jp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jp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9.jpg"/><Relationship Id="rId7" Type="http://schemas.openxmlformats.org/officeDocument/2006/relationships/image" Target="../media/image53.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52.jpg"/><Relationship Id="rId5" Type="http://schemas.openxmlformats.org/officeDocument/2006/relationships/image" Target="../media/image51.png"/><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56.jp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g2492a305654_0_182"/>
          <p:cNvPicPr preferRelativeResize="0"/>
          <p:nvPr/>
        </p:nvPicPr>
        <p:blipFill rotWithShape="1">
          <a:blip r:embed="rId3">
            <a:alphaModFix/>
          </a:blip>
          <a:srcRect/>
          <a:stretch/>
        </p:blipFill>
        <p:spPr>
          <a:xfrm>
            <a:off x="2470755" y="1762311"/>
            <a:ext cx="4202484" cy="1532375"/>
          </a:xfrm>
          <a:prstGeom prst="rect">
            <a:avLst/>
          </a:prstGeom>
          <a:noFill/>
          <a:ln>
            <a:noFill/>
          </a:ln>
        </p:spPr>
      </p:pic>
      <p:sp>
        <p:nvSpPr>
          <p:cNvPr id="95" name="Google Shape;95;g2492a305654_0_182"/>
          <p:cNvSpPr txBox="1"/>
          <p:nvPr/>
        </p:nvSpPr>
        <p:spPr>
          <a:xfrm>
            <a:off x="1461799" y="3294686"/>
            <a:ext cx="62205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ja-JP" sz="3600" b="1" i="0" u="none" strike="noStrike" cap="none">
                <a:solidFill>
                  <a:schemeClr val="lt1"/>
                </a:solidFill>
                <a:latin typeface="Calibri"/>
                <a:ea typeface="Calibri"/>
                <a:cs typeface="Calibri"/>
                <a:sym typeface="Calibri"/>
              </a:rPr>
              <a:t>海外インターンシップ</a:t>
            </a:r>
            <a:endParaRPr sz="1400" b="0" i="0" u="none" strike="noStrike" cap="none">
              <a:solidFill>
                <a:srgbClr val="000000"/>
              </a:solidFill>
              <a:latin typeface="Arial"/>
              <a:ea typeface="Arial"/>
              <a:cs typeface="Arial"/>
              <a:sym typeface="Arial"/>
            </a:endParaRPr>
          </a:p>
        </p:txBody>
      </p:sp>
      <p:pic>
        <p:nvPicPr>
          <p:cNvPr id="96" name="Google Shape;96;g2492a305654_0_182"/>
          <p:cNvPicPr preferRelativeResize="0"/>
          <p:nvPr/>
        </p:nvPicPr>
        <p:blipFill rotWithShape="1">
          <a:blip r:embed="rId4">
            <a:alphaModFix amt="10000"/>
          </a:blip>
          <a:srcRect r="66674"/>
          <a:stretch/>
        </p:blipFill>
        <p:spPr>
          <a:xfrm>
            <a:off x="-534617" y="-463399"/>
            <a:ext cx="6010745" cy="6576694"/>
          </a:xfrm>
          <a:prstGeom prst="rect">
            <a:avLst/>
          </a:prstGeom>
          <a:noFill/>
          <a:ln>
            <a:noFill/>
          </a:ln>
        </p:spPr>
      </p:pic>
      <p:pic>
        <p:nvPicPr>
          <p:cNvPr id="97" name="Google Shape;97;g2492a305654_0_182"/>
          <p:cNvPicPr preferRelativeResize="0"/>
          <p:nvPr/>
        </p:nvPicPr>
        <p:blipFill rotWithShape="1">
          <a:blip r:embed="rId5">
            <a:alphaModFix/>
          </a:blip>
          <a:srcRect/>
          <a:stretch/>
        </p:blipFill>
        <p:spPr>
          <a:xfrm>
            <a:off x="152400" y="0"/>
            <a:ext cx="9143999" cy="6857999"/>
          </a:xfrm>
          <a:prstGeom prst="rect">
            <a:avLst/>
          </a:prstGeom>
          <a:noFill/>
          <a:ln>
            <a:noFill/>
          </a:ln>
        </p:spPr>
      </p:pic>
      <p:sp>
        <p:nvSpPr>
          <p:cNvPr id="98" name="Google Shape;98;g2492a305654_0_182"/>
          <p:cNvSpPr txBox="1"/>
          <p:nvPr/>
        </p:nvSpPr>
        <p:spPr>
          <a:xfrm>
            <a:off x="1076750" y="3294663"/>
            <a:ext cx="77418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ja-JP" sz="3600" b="1" i="0" u="none" strike="noStrike" cap="none">
                <a:solidFill>
                  <a:srgbClr val="000000"/>
                </a:solidFill>
                <a:latin typeface="Calibri"/>
                <a:ea typeface="Calibri"/>
                <a:cs typeface="Calibri"/>
                <a:sym typeface="Calibri"/>
              </a:rPr>
              <a:t>第</a:t>
            </a:r>
            <a:r>
              <a:rPr lang="ja-JP" sz="3600" b="1">
                <a:latin typeface="Calibri"/>
                <a:ea typeface="Calibri"/>
                <a:cs typeface="Calibri"/>
                <a:sym typeface="Calibri"/>
              </a:rPr>
              <a:t>1</a:t>
            </a:r>
            <a:r>
              <a:rPr lang="ja-JP" sz="3600" b="1" i="0" u="none" strike="noStrike" cap="none">
                <a:solidFill>
                  <a:srgbClr val="000000"/>
                </a:solidFill>
                <a:latin typeface="Calibri"/>
                <a:ea typeface="Calibri"/>
                <a:cs typeface="Calibri"/>
                <a:sym typeface="Calibri"/>
              </a:rPr>
              <a:t>回IAESTE海外インターンシップ</a:t>
            </a:r>
            <a:endParaRPr sz="36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600"/>
              <a:buFont typeface="Arial"/>
              <a:buNone/>
            </a:pPr>
            <a:r>
              <a:rPr lang="ja-JP" sz="3600" b="1" i="0" u="none" strike="noStrike" cap="none">
                <a:solidFill>
                  <a:srgbClr val="000000"/>
                </a:solidFill>
                <a:latin typeface="Calibri"/>
                <a:ea typeface="Calibri"/>
                <a:cs typeface="Calibri"/>
                <a:sym typeface="Calibri"/>
              </a:rPr>
              <a:t>説明会</a:t>
            </a:r>
            <a:endParaRPr sz="3600" b="1" i="0" u="none" strike="noStrike" cap="none">
              <a:solidFill>
                <a:srgbClr val="000000"/>
              </a:solidFill>
              <a:latin typeface="Calibri"/>
              <a:ea typeface="Calibri"/>
              <a:cs typeface="Calibri"/>
              <a:sym typeface="Calibri"/>
            </a:endParaRPr>
          </a:p>
        </p:txBody>
      </p:sp>
      <p:sp>
        <p:nvSpPr>
          <p:cNvPr id="99" name="Google Shape;99;g2492a305654_0_182"/>
          <p:cNvSpPr txBox="1"/>
          <p:nvPr/>
        </p:nvSpPr>
        <p:spPr>
          <a:xfrm>
            <a:off x="1378375" y="5603000"/>
            <a:ext cx="69717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rgbClr val="000000"/>
                </a:solidFill>
                <a:latin typeface="Calibri"/>
                <a:ea typeface="Calibri"/>
                <a:cs typeface="Calibri"/>
                <a:sym typeface="Calibri"/>
              </a:rPr>
              <a:t>※OBの方は名前を「OB　〇〇」に変更お願いします</a:t>
            </a:r>
            <a:endParaRPr sz="18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rgbClr val="000000"/>
                </a:solidFill>
                <a:latin typeface="Calibri"/>
                <a:ea typeface="Calibri"/>
                <a:cs typeface="Calibri"/>
                <a:sym typeface="Calibri"/>
              </a:rPr>
              <a:t>※開始まで少々お待ちください</a:t>
            </a:r>
            <a:endParaRPr sz="1800" b="1" i="0" u="none" strike="noStrike" cap="none">
              <a:solidFill>
                <a:srgbClr val="000000"/>
              </a:solidFill>
              <a:latin typeface="Calibri"/>
              <a:ea typeface="Calibri"/>
              <a:cs typeface="Calibri"/>
              <a:sym typeface="Calibri"/>
            </a:endParaRPr>
          </a:p>
        </p:txBody>
      </p:sp>
      <p:sp>
        <p:nvSpPr>
          <p:cNvPr id="2" name="テキスト ボックス 1">
            <a:extLst>
              <a:ext uri="{FF2B5EF4-FFF2-40B4-BE49-F238E27FC236}">
                <a16:creationId xmlns:a16="http://schemas.microsoft.com/office/drawing/2014/main" id="{1A3EE5E0-8846-2BB6-A10E-E1955F61DB94}"/>
              </a:ext>
            </a:extLst>
          </p:cNvPr>
          <p:cNvSpPr txBox="1"/>
          <p:nvPr/>
        </p:nvSpPr>
        <p:spPr>
          <a:xfrm>
            <a:off x="2811624" y="6537649"/>
            <a:ext cx="6543869" cy="276999"/>
          </a:xfrm>
          <a:prstGeom prst="rect">
            <a:avLst/>
          </a:prstGeom>
          <a:noFill/>
        </p:spPr>
        <p:txBody>
          <a:bodyPr wrap="square" rtlCol="0">
            <a:spAutoFit/>
          </a:bodyPr>
          <a:lstStyle/>
          <a:p>
            <a:r>
              <a:rPr kumimoji="1" lang="en-US" altLang="ja-JP" sz="1200" dirty="0">
                <a:solidFill>
                  <a:srgbClr val="0070C0"/>
                </a:solidFill>
              </a:rPr>
              <a:t>2024</a:t>
            </a:r>
            <a:r>
              <a:rPr kumimoji="1" lang="ja-JP" altLang="en-US" sz="1200" dirty="0">
                <a:solidFill>
                  <a:srgbClr val="0070C0"/>
                </a:solidFill>
              </a:rPr>
              <a:t>年８月改定版：このファイルは</a:t>
            </a:r>
            <a:r>
              <a:rPr kumimoji="1" lang="en-US" altLang="ja-JP" sz="1200" dirty="0">
                <a:solidFill>
                  <a:srgbClr val="0070C0"/>
                </a:solidFill>
              </a:rPr>
              <a:t>2024</a:t>
            </a:r>
            <a:r>
              <a:rPr kumimoji="1" lang="ja-JP" altLang="en-US" sz="1200" dirty="0">
                <a:solidFill>
                  <a:srgbClr val="0070C0"/>
                </a:solidFill>
              </a:rPr>
              <a:t>年</a:t>
            </a:r>
            <a:r>
              <a:rPr kumimoji="1" lang="en-US" altLang="ja-JP" sz="1200" dirty="0">
                <a:solidFill>
                  <a:srgbClr val="0070C0"/>
                </a:solidFill>
              </a:rPr>
              <a:t>8</a:t>
            </a:r>
            <a:r>
              <a:rPr kumimoji="1" lang="ja-JP" altLang="en-US" sz="1200" dirty="0">
                <a:solidFill>
                  <a:srgbClr val="0070C0"/>
                </a:solidFill>
              </a:rPr>
              <a:t>月の用語変更などを反映したものです。</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g27a54df0703_0_3"/>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2</a:t>
            </a:fld>
            <a:endParaRPr/>
          </a:p>
        </p:txBody>
      </p:sp>
      <p:sp>
        <p:nvSpPr>
          <p:cNvPr id="105" name="Google Shape;105;g27a54df0703_0_3"/>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100000"/>
              </a:lnSpc>
              <a:spcBef>
                <a:spcPts val="0"/>
              </a:spcBef>
              <a:spcAft>
                <a:spcPts val="0"/>
              </a:spcAft>
              <a:buClr>
                <a:schemeClr val="dk1"/>
              </a:buClr>
              <a:buSzPts val="2550"/>
              <a:buFont typeface="Arial"/>
              <a:buNone/>
            </a:pPr>
            <a:r>
              <a:rPr lang="ja-JP" sz="2550">
                <a:latin typeface="Century"/>
                <a:ea typeface="Century"/>
                <a:cs typeface="Century"/>
                <a:sym typeface="Century"/>
              </a:rPr>
              <a:t>本日の流れ</a:t>
            </a:r>
            <a:endParaRPr/>
          </a:p>
        </p:txBody>
      </p:sp>
      <p:sp>
        <p:nvSpPr>
          <p:cNvPr id="106" name="Google Shape;106;g27a54df0703_0_3"/>
          <p:cNvSpPr txBox="1"/>
          <p:nvPr/>
        </p:nvSpPr>
        <p:spPr>
          <a:xfrm>
            <a:off x="386850" y="1823600"/>
            <a:ext cx="8370300" cy="416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:00~1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:05　開会</a:t>
            </a:r>
            <a:endParaRPr sz="2550" b="0" i="0" u="none" strike="noStrike" cap="none">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:05~1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:25   Ⅰ部　 IAESTEについて</a:t>
            </a:r>
            <a:endParaRPr sz="2550" b="0" i="0" u="none" strike="noStrike" cap="none">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30</a:t>
            </a: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55</a:t>
            </a:r>
            <a:r>
              <a:rPr lang="ja-JP" sz="2550" b="0" i="0" u="none" strike="noStrike" cap="none">
                <a:solidFill>
                  <a:schemeClr val="dk1"/>
                </a:solidFill>
                <a:latin typeface="Century"/>
                <a:ea typeface="Century"/>
                <a:cs typeface="Century"/>
                <a:sym typeface="Century"/>
              </a:rPr>
              <a:t>    </a:t>
            </a:r>
            <a:r>
              <a:rPr lang="ja-JP" sz="2550">
                <a:solidFill>
                  <a:schemeClr val="dk1"/>
                </a:solidFill>
                <a:latin typeface="Century"/>
                <a:ea typeface="Century"/>
                <a:cs typeface="Century"/>
                <a:sym typeface="Century"/>
              </a:rPr>
              <a:t>Ⅱ部　OB内田崇志様による発表</a:t>
            </a:r>
            <a:endParaRPr sz="2550">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a:solidFill>
                  <a:schemeClr val="dk1"/>
                </a:solidFill>
                <a:latin typeface="Century"/>
                <a:ea typeface="Century"/>
                <a:cs typeface="Century"/>
                <a:sym typeface="Century"/>
              </a:rPr>
              <a:t>　　　　　　　　　(プレゼン15分+質疑応答10分)</a:t>
            </a:r>
            <a:endParaRPr sz="2550">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1</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0~1</a:t>
            </a:r>
            <a:r>
              <a:rPr lang="ja-JP" sz="2550">
                <a:solidFill>
                  <a:schemeClr val="dk1"/>
                </a:solidFill>
                <a:latin typeface="Century"/>
                <a:ea typeface="Century"/>
                <a:cs typeface="Century"/>
                <a:sym typeface="Century"/>
              </a:rPr>
              <a:t>1</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30</a:t>
            </a:r>
            <a:r>
              <a:rPr lang="ja-JP" sz="2550" b="0" i="0" u="none" strike="noStrike" cap="none">
                <a:solidFill>
                  <a:schemeClr val="dk1"/>
                </a:solidFill>
                <a:latin typeface="Century"/>
                <a:ea typeface="Century"/>
                <a:cs typeface="Century"/>
                <a:sym typeface="Century"/>
              </a:rPr>
              <a:t>    </a:t>
            </a:r>
            <a:r>
              <a:rPr lang="ja-JP" sz="2550">
                <a:solidFill>
                  <a:schemeClr val="dk1"/>
                </a:solidFill>
                <a:latin typeface="Century"/>
                <a:ea typeface="Century"/>
                <a:cs typeface="Century"/>
                <a:sym typeface="Century"/>
              </a:rPr>
              <a:t>Ⅲ</a:t>
            </a:r>
            <a:r>
              <a:rPr lang="ja-JP" sz="2550" b="0" i="0" u="none" strike="noStrike" cap="none">
                <a:solidFill>
                  <a:schemeClr val="dk1"/>
                </a:solidFill>
                <a:latin typeface="Century"/>
                <a:ea typeface="Century"/>
                <a:cs typeface="Century"/>
                <a:sym typeface="Century"/>
              </a:rPr>
              <a:t>部　篠崎様</a:t>
            </a:r>
            <a:endParaRPr sz="2550" b="0" i="0" u="none" strike="noStrike" cap="none">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chemeClr val="dk1"/>
              </a:buClr>
              <a:buSzPts val="2550"/>
              <a:buFont typeface="Arial"/>
              <a:buNone/>
            </a:pPr>
            <a:r>
              <a:rPr lang="ja-JP" sz="2550" b="0" i="0" u="none" strike="noStrike" cap="none">
                <a:solidFill>
                  <a:schemeClr val="dk1"/>
                </a:solidFill>
                <a:latin typeface="Century"/>
                <a:ea typeface="Century"/>
                <a:cs typeface="Century"/>
                <a:sym typeface="Century"/>
              </a:rPr>
              <a:t>　　　　　　　　(</a:t>
            </a:r>
            <a:r>
              <a:rPr lang="ja-JP" sz="2550" b="0" i="0" u="none" strike="noStrike" cap="none">
                <a:solidFill>
                  <a:schemeClr val="dk1"/>
                </a:solidFill>
                <a:latin typeface="Meiryo"/>
                <a:ea typeface="Meiryo"/>
                <a:cs typeface="Meiryo"/>
                <a:sym typeface="Meiryo"/>
              </a:rPr>
              <a:t>IAESTEJAPAN理事局 National </a:t>
            </a:r>
            <a:endParaRPr sz="2550" b="0" i="0" u="none" strike="noStrike" cap="none">
              <a:solidFill>
                <a:schemeClr val="dk1"/>
              </a:solidFill>
              <a:latin typeface="Meiryo"/>
              <a:ea typeface="Meiryo"/>
              <a:cs typeface="Meiryo"/>
              <a:sym typeface="Meiryo"/>
            </a:endParaRPr>
          </a:p>
          <a:p>
            <a:pPr marL="1371600" marR="0" lvl="0" indent="457200" algn="l" rtl="0">
              <a:lnSpc>
                <a:spcPct val="100000"/>
              </a:lnSpc>
              <a:spcBef>
                <a:spcPts val="0"/>
              </a:spcBef>
              <a:spcAft>
                <a:spcPts val="0"/>
              </a:spcAft>
              <a:buClr>
                <a:schemeClr val="dk1"/>
              </a:buClr>
              <a:buSzPts val="2550"/>
              <a:buFont typeface="Arial"/>
              <a:buNone/>
            </a:pPr>
            <a:r>
              <a:rPr lang="ja-JP" sz="2550" b="0" i="0" u="none" strike="noStrike" cap="none">
                <a:solidFill>
                  <a:schemeClr val="dk1"/>
                </a:solidFill>
                <a:latin typeface="Meiryo"/>
                <a:ea typeface="Meiryo"/>
                <a:cs typeface="Meiryo"/>
                <a:sym typeface="Meiryo"/>
              </a:rPr>
              <a:t>  　　Exchange Coordinator)</a:t>
            </a:r>
            <a:r>
              <a:rPr lang="ja-JP" sz="2550" b="0" i="0" u="none" strike="noStrike" cap="none">
                <a:solidFill>
                  <a:schemeClr val="dk1"/>
                </a:solidFill>
                <a:latin typeface="Century"/>
                <a:ea typeface="Century"/>
                <a:cs typeface="Century"/>
                <a:sym typeface="Century"/>
              </a:rPr>
              <a:t>への質問会</a:t>
            </a:r>
            <a:endParaRPr sz="2550" b="0" i="0" u="none" strike="noStrike" cap="none">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1</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3</a:t>
            </a:r>
            <a:r>
              <a:rPr lang="ja-JP" sz="2550" b="0" i="0" u="none" strike="noStrike" cap="none">
                <a:solidFill>
                  <a:schemeClr val="dk1"/>
                </a:solidFill>
                <a:latin typeface="Century"/>
                <a:ea typeface="Century"/>
                <a:cs typeface="Century"/>
                <a:sym typeface="Century"/>
              </a:rPr>
              <a:t>0~1</a:t>
            </a:r>
            <a:r>
              <a:rPr lang="ja-JP" sz="2550">
                <a:solidFill>
                  <a:schemeClr val="dk1"/>
                </a:solidFill>
                <a:latin typeface="Century"/>
                <a:ea typeface="Century"/>
                <a:cs typeface="Century"/>
                <a:sym typeface="Century"/>
              </a:rPr>
              <a:t>1</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40</a:t>
            </a:r>
            <a:r>
              <a:rPr lang="ja-JP" sz="2550" b="0" i="0" u="none" strike="noStrike" cap="none">
                <a:solidFill>
                  <a:schemeClr val="dk1"/>
                </a:solidFill>
                <a:latin typeface="Century"/>
                <a:ea typeface="Century"/>
                <a:cs typeface="Century"/>
                <a:sym typeface="Century"/>
              </a:rPr>
              <a:t>　</a:t>
            </a:r>
            <a:r>
              <a:rPr lang="ja-JP" sz="2550">
                <a:solidFill>
                  <a:schemeClr val="dk1"/>
                </a:solidFill>
                <a:latin typeface="Century"/>
                <a:ea typeface="Century"/>
                <a:cs typeface="Century"/>
                <a:sym typeface="Century"/>
              </a:rPr>
              <a:t>閉会</a:t>
            </a: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82880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371600" marR="0" lvl="0" indent="457200" algn="l" rtl="0">
              <a:lnSpc>
                <a:spcPct val="100000"/>
              </a:lnSpc>
              <a:spcBef>
                <a:spcPts val="0"/>
              </a:spcBef>
              <a:spcAft>
                <a:spcPts val="0"/>
              </a:spcAft>
              <a:buClr>
                <a:srgbClr val="000000"/>
              </a:buClr>
              <a:buSzPts val="2550"/>
              <a:buFont typeface="Arial"/>
              <a:buNone/>
            </a:pPr>
            <a:endParaRPr sz="29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2dde2198658_4_1"/>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3</a:t>
            </a:fld>
            <a:endParaRPr/>
          </a:p>
        </p:txBody>
      </p:sp>
      <p:sp>
        <p:nvSpPr>
          <p:cNvPr id="112" name="Google Shape;112;g2dde2198658_4_1"/>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100000"/>
              </a:lnSpc>
              <a:spcBef>
                <a:spcPts val="0"/>
              </a:spcBef>
              <a:spcAft>
                <a:spcPts val="0"/>
              </a:spcAft>
              <a:buClr>
                <a:schemeClr val="dk1"/>
              </a:buClr>
              <a:buSzPts val="2550"/>
              <a:buFont typeface="Arial"/>
              <a:buNone/>
            </a:pPr>
            <a:r>
              <a:rPr lang="ja-JP" sz="2550" b="0">
                <a:latin typeface="Century"/>
                <a:ea typeface="Century"/>
                <a:cs typeface="Century"/>
                <a:sym typeface="Century"/>
              </a:rPr>
              <a:t>Ⅰ部　 IAESTEについて</a:t>
            </a:r>
            <a:endParaRPr>
              <a:latin typeface="Century"/>
              <a:ea typeface="Century"/>
              <a:cs typeface="Century"/>
              <a:sym typeface="Century"/>
            </a:endParaRPr>
          </a:p>
        </p:txBody>
      </p:sp>
      <p:sp>
        <p:nvSpPr>
          <p:cNvPr id="113" name="Google Shape;113;g2dde2198658_4_1"/>
          <p:cNvSpPr txBox="1"/>
          <p:nvPr/>
        </p:nvSpPr>
        <p:spPr>
          <a:xfrm>
            <a:off x="386850" y="1823600"/>
            <a:ext cx="8370300" cy="416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:00~1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:05　開会</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:05~1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:25   Ⅰ部　 IAESTEについて</a:t>
            </a:r>
            <a:endParaRPr sz="2550" b="0" i="0" u="none" strike="noStrike" cap="none">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30</a:t>
            </a: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55</a:t>
            </a:r>
            <a:r>
              <a:rPr lang="ja-JP" sz="2550" b="0" i="0" u="none" strike="noStrike" cap="none">
                <a:solidFill>
                  <a:srgbClr val="BFBFBF"/>
                </a:solidFill>
                <a:latin typeface="Century"/>
                <a:ea typeface="Century"/>
                <a:cs typeface="Century"/>
                <a:sym typeface="Century"/>
              </a:rPr>
              <a:t>    </a:t>
            </a:r>
            <a:r>
              <a:rPr lang="ja-JP" sz="2550">
                <a:solidFill>
                  <a:srgbClr val="BFBFBF"/>
                </a:solidFill>
                <a:latin typeface="Century"/>
                <a:ea typeface="Century"/>
                <a:cs typeface="Century"/>
                <a:sym typeface="Century"/>
              </a:rPr>
              <a:t>Ⅱ部　OB内田崇志様による発表</a:t>
            </a:r>
            <a:endParaRPr sz="2550">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a:solidFill>
                  <a:srgbClr val="BFBFBF"/>
                </a:solidFill>
                <a:latin typeface="Century"/>
                <a:ea typeface="Century"/>
                <a:cs typeface="Century"/>
                <a:sym typeface="Century"/>
              </a:rPr>
              <a:t>　　　　　　　　　(プレゼン15分+質疑応答10分)</a:t>
            </a:r>
            <a:endParaRPr sz="2550">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30</a:t>
            </a:r>
            <a:r>
              <a:rPr lang="ja-JP" sz="2550" b="0" i="0" u="none" strike="noStrike" cap="none">
                <a:solidFill>
                  <a:srgbClr val="BFBFBF"/>
                </a:solidFill>
                <a:latin typeface="Century"/>
                <a:ea typeface="Century"/>
                <a:cs typeface="Century"/>
                <a:sym typeface="Century"/>
              </a:rPr>
              <a:t>    </a:t>
            </a:r>
            <a:r>
              <a:rPr lang="ja-JP" sz="2550">
                <a:solidFill>
                  <a:srgbClr val="BFBFBF"/>
                </a:solidFill>
                <a:latin typeface="Century"/>
                <a:ea typeface="Century"/>
                <a:cs typeface="Century"/>
                <a:sym typeface="Century"/>
              </a:rPr>
              <a:t>Ⅲ</a:t>
            </a:r>
            <a:r>
              <a:rPr lang="ja-JP" sz="2550" b="0" i="0" u="none" strike="noStrike" cap="none">
                <a:solidFill>
                  <a:srgbClr val="BFBFBF"/>
                </a:solidFill>
                <a:latin typeface="Century"/>
                <a:ea typeface="Century"/>
                <a:cs typeface="Century"/>
                <a:sym typeface="Century"/>
              </a:rPr>
              <a:t>部　篠崎様</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chemeClr val="dk1"/>
              </a:buClr>
              <a:buSzPts val="2550"/>
              <a:buFont typeface="Arial"/>
              <a:buNone/>
            </a:pPr>
            <a:r>
              <a:rPr lang="ja-JP" sz="2550" b="0" i="0" u="none" strike="noStrike" cap="none">
                <a:solidFill>
                  <a:srgbClr val="BFBFBF"/>
                </a:solidFill>
                <a:latin typeface="Century"/>
                <a:ea typeface="Century"/>
                <a:cs typeface="Century"/>
                <a:sym typeface="Century"/>
              </a:rPr>
              <a:t>　　　　　　　　(</a:t>
            </a:r>
            <a:r>
              <a:rPr lang="ja-JP" sz="2550" b="0" i="0" u="none" strike="noStrike" cap="none">
                <a:solidFill>
                  <a:srgbClr val="BFBFBF"/>
                </a:solidFill>
                <a:latin typeface="Meiryo"/>
                <a:ea typeface="Meiryo"/>
                <a:cs typeface="Meiryo"/>
                <a:sym typeface="Meiryo"/>
              </a:rPr>
              <a:t>IAESTEJAPAN理事局 National </a:t>
            </a:r>
            <a:endParaRPr sz="2550" b="0" i="0" u="none" strike="noStrike" cap="none">
              <a:solidFill>
                <a:srgbClr val="BFBFBF"/>
              </a:solidFill>
              <a:latin typeface="Meiryo"/>
              <a:ea typeface="Meiryo"/>
              <a:cs typeface="Meiryo"/>
              <a:sym typeface="Meiryo"/>
            </a:endParaRPr>
          </a:p>
          <a:p>
            <a:pPr marL="1371600" marR="0" lvl="0" indent="457200" algn="l" rtl="0">
              <a:lnSpc>
                <a:spcPct val="100000"/>
              </a:lnSpc>
              <a:spcBef>
                <a:spcPts val="0"/>
              </a:spcBef>
              <a:spcAft>
                <a:spcPts val="0"/>
              </a:spcAft>
              <a:buClr>
                <a:schemeClr val="dk1"/>
              </a:buClr>
              <a:buSzPts val="2550"/>
              <a:buFont typeface="Arial"/>
              <a:buNone/>
            </a:pPr>
            <a:r>
              <a:rPr lang="ja-JP" sz="2550" b="0" i="0" u="none" strike="noStrike" cap="none">
                <a:solidFill>
                  <a:srgbClr val="BFBFBF"/>
                </a:solidFill>
                <a:latin typeface="Meiryo"/>
                <a:ea typeface="Meiryo"/>
                <a:cs typeface="Meiryo"/>
                <a:sym typeface="Meiryo"/>
              </a:rPr>
              <a:t>  　　Exchange Coordinator)</a:t>
            </a:r>
            <a:r>
              <a:rPr lang="ja-JP" sz="2550" b="0" i="0" u="none" strike="noStrike" cap="none">
                <a:solidFill>
                  <a:srgbClr val="BFBFBF"/>
                </a:solidFill>
                <a:latin typeface="Century"/>
                <a:ea typeface="Century"/>
                <a:cs typeface="Century"/>
                <a:sym typeface="Century"/>
              </a:rPr>
              <a:t>への質問会</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3</a:t>
            </a:r>
            <a:r>
              <a:rPr lang="ja-JP" sz="2550" b="0" i="0" u="none" strike="noStrike" cap="none">
                <a:solidFill>
                  <a:srgbClr val="BFBFBF"/>
                </a:solidFill>
                <a:latin typeface="Century"/>
                <a:ea typeface="Century"/>
                <a:cs typeface="Century"/>
                <a:sym typeface="Century"/>
              </a:rPr>
              <a:t>0~1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40</a:t>
            </a:r>
            <a:r>
              <a:rPr lang="ja-JP" sz="2550" b="0" i="0" u="none" strike="noStrike" cap="none">
                <a:solidFill>
                  <a:srgbClr val="BFBFBF"/>
                </a:solidFill>
                <a:latin typeface="Century"/>
                <a:ea typeface="Century"/>
                <a:cs typeface="Century"/>
                <a:sym typeface="Century"/>
              </a:rPr>
              <a:t>　</a:t>
            </a:r>
            <a:r>
              <a:rPr lang="ja-JP" sz="2550">
                <a:solidFill>
                  <a:srgbClr val="BFBFBF"/>
                </a:solidFill>
                <a:latin typeface="Century"/>
                <a:ea typeface="Century"/>
                <a:cs typeface="Century"/>
                <a:sym typeface="Century"/>
              </a:rPr>
              <a:t>閉会</a:t>
            </a:r>
            <a:r>
              <a:rPr lang="ja-JP" sz="2550" b="0" i="0" u="none" strike="noStrike" cap="none">
                <a:solidFill>
                  <a:srgbClr val="BFBFBF"/>
                </a:solidFill>
                <a:latin typeface="Century"/>
                <a:ea typeface="Century"/>
                <a:cs typeface="Century"/>
                <a:sym typeface="Century"/>
              </a:rPr>
              <a:t>     </a:t>
            </a: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82880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371600" marR="0" lvl="0" indent="457200" algn="l" rtl="0">
              <a:lnSpc>
                <a:spcPct val="100000"/>
              </a:lnSpc>
              <a:spcBef>
                <a:spcPts val="0"/>
              </a:spcBef>
              <a:spcAft>
                <a:spcPts val="0"/>
              </a:spcAft>
              <a:buClr>
                <a:srgbClr val="000000"/>
              </a:buClr>
              <a:buSzPts val="2550"/>
              <a:buFont typeface="Arial"/>
              <a:buNone/>
            </a:pPr>
            <a:endParaRPr sz="29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a:t>
            </a:fld>
            <a:endParaRPr/>
          </a:p>
        </p:txBody>
      </p:sp>
      <p:sp>
        <p:nvSpPr>
          <p:cNvPr id="119" name="Google Shape;119;p2"/>
          <p:cNvSpPr txBox="1">
            <a:spLocks noGrp="1"/>
          </p:cNvSpPr>
          <p:nvPr>
            <p:ph type="title"/>
          </p:nvPr>
        </p:nvSpPr>
        <p:spPr>
          <a:xfrm>
            <a:off x="229651" y="12526"/>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Poppins Medium"/>
              <a:buNone/>
            </a:pPr>
            <a:r>
              <a:rPr lang="ja-JP" sz="2000" b="0">
                <a:latin typeface="Poppins Medium"/>
                <a:ea typeface="Poppins Medium"/>
                <a:cs typeface="Poppins Medium"/>
                <a:sym typeface="Poppins Medium"/>
              </a:rPr>
              <a:t>Contents</a:t>
            </a:r>
            <a:endParaRPr sz="2000" b="0">
              <a:latin typeface="Poppins Medium"/>
              <a:ea typeface="Poppins Medium"/>
              <a:cs typeface="Poppins Medium"/>
              <a:sym typeface="Poppins Medium"/>
            </a:endParaRPr>
          </a:p>
        </p:txBody>
      </p:sp>
      <p:grpSp>
        <p:nvGrpSpPr>
          <p:cNvPr id="120" name="Google Shape;120;p2"/>
          <p:cNvGrpSpPr/>
          <p:nvPr/>
        </p:nvGrpSpPr>
        <p:grpSpPr>
          <a:xfrm>
            <a:off x="861916" y="3012805"/>
            <a:ext cx="7420169" cy="902208"/>
            <a:chOff x="751559" y="1502789"/>
            <a:chExt cx="7420169" cy="902208"/>
          </a:xfrm>
        </p:grpSpPr>
        <p:pic>
          <p:nvPicPr>
            <p:cNvPr id="121" name="Google Shape;121;p2"/>
            <p:cNvPicPr preferRelativeResize="0"/>
            <p:nvPr/>
          </p:nvPicPr>
          <p:blipFill rotWithShape="1">
            <a:blip r:embed="rId3">
              <a:alphaModFix/>
            </a:blip>
            <a:srcRect t="9460" r="14521" b="24530"/>
            <a:stretch/>
          </p:blipFill>
          <p:spPr>
            <a:xfrm>
              <a:off x="4991848" y="1503123"/>
              <a:ext cx="3179880" cy="901874"/>
            </a:xfrm>
            <a:prstGeom prst="rect">
              <a:avLst/>
            </a:prstGeom>
            <a:noFill/>
            <a:ln>
              <a:noFill/>
            </a:ln>
          </p:spPr>
        </p:pic>
        <p:pic>
          <p:nvPicPr>
            <p:cNvPr id="122" name="Google Shape;122;p2"/>
            <p:cNvPicPr preferRelativeResize="0"/>
            <p:nvPr/>
          </p:nvPicPr>
          <p:blipFill rotWithShape="1">
            <a:blip r:embed="rId4">
              <a:alphaModFix amt="67000"/>
            </a:blip>
            <a:srcRect/>
            <a:stretch/>
          </p:blipFill>
          <p:spPr>
            <a:xfrm>
              <a:off x="5343184" y="1502789"/>
              <a:ext cx="2828544" cy="902208"/>
            </a:xfrm>
            <a:prstGeom prst="rect">
              <a:avLst/>
            </a:prstGeom>
            <a:noFill/>
            <a:ln>
              <a:noFill/>
            </a:ln>
          </p:spPr>
        </p:pic>
        <p:sp>
          <p:nvSpPr>
            <p:cNvPr id="123" name="Google Shape;123;p2"/>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chemeClr val="lt1"/>
                  </a:solidFill>
                  <a:latin typeface="Calibri"/>
                  <a:ea typeface="Calibri"/>
                  <a:cs typeface="Calibri"/>
                  <a:sym typeface="Calibri"/>
                </a:rPr>
                <a:t>プログラムの特徴</a:t>
              </a:r>
              <a:endParaRPr sz="1400" b="0" i="0" u="none" strike="noStrike" cap="none">
                <a:solidFill>
                  <a:srgbClr val="000000"/>
                </a:solidFill>
                <a:latin typeface="Arial"/>
                <a:ea typeface="Arial"/>
                <a:cs typeface="Arial"/>
                <a:sym typeface="Arial"/>
              </a:endParaRPr>
            </a:p>
          </p:txBody>
        </p:sp>
        <p:sp>
          <p:nvSpPr>
            <p:cNvPr id="124" name="Google Shape;124;p2"/>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2</a:t>
              </a:r>
              <a:endParaRPr sz="1600" b="0" i="0" u="none" strike="noStrike" cap="none">
                <a:solidFill>
                  <a:schemeClr val="lt1"/>
                </a:solidFill>
                <a:latin typeface="Poppins Medium"/>
                <a:ea typeface="Poppins Medium"/>
                <a:cs typeface="Poppins Medium"/>
                <a:sym typeface="Poppins Medium"/>
              </a:endParaRPr>
            </a:p>
          </p:txBody>
        </p:sp>
      </p:grpSp>
      <p:grpSp>
        <p:nvGrpSpPr>
          <p:cNvPr id="125" name="Google Shape;125;p2"/>
          <p:cNvGrpSpPr/>
          <p:nvPr/>
        </p:nvGrpSpPr>
        <p:grpSpPr>
          <a:xfrm>
            <a:off x="861916" y="1623304"/>
            <a:ext cx="7404318" cy="902208"/>
            <a:chOff x="854306" y="1428201"/>
            <a:chExt cx="7404318" cy="902208"/>
          </a:xfrm>
        </p:grpSpPr>
        <p:grpSp>
          <p:nvGrpSpPr>
            <p:cNvPr id="126" name="Google Shape;126;p2"/>
            <p:cNvGrpSpPr/>
            <p:nvPr/>
          </p:nvGrpSpPr>
          <p:grpSpPr>
            <a:xfrm>
              <a:off x="854306" y="1428201"/>
              <a:ext cx="7404318" cy="902208"/>
              <a:chOff x="751559" y="1503123"/>
              <a:chExt cx="7404318" cy="902208"/>
            </a:xfrm>
          </p:grpSpPr>
          <p:pic>
            <p:nvPicPr>
              <p:cNvPr id="127" name="Google Shape;127;p2"/>
              <p:cNvPicPr preferRelativeResize="0"/>
              <p:nvPr/>
            </p:nvPicPr>
            <p:blipFill rotWithShape="1">
              <a:blip r:embed="rId4">
                <a:alphaModFix amt="81000"/>
              </a:blip>
              <a:srcRect/>
              <a:stretch/>
            </p:blipFill>
            <p:spPr>
              <a:xfrm>
                <a:off x="5327333" y="1503123"/>
                <a:ext cx="2828544" cy="902208"/>
              </a:xfrm>
              <a:prstGeom prst="rect">
                <a:avLst/>
              </a:prstGeom>
              <a:noFill/>
              <a:ln>
                <a:noFill/>
              </a:ln>
            </p:spPr>
          </p:pic>
          <p:sp>
            <p:nvSpPr>
              <p:cNvPr id="128" name="Google Shape;128;p2"/>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0" i="0" u="none" strike="noStrike" cap="none">
                    <a:solidFill>
                      <a:schemeClr val="lt1"/>
                    </a:solidFill>
                    <a:latin typeface="Poppins Medium"/>
                    <a:ea typeface="Poppins Medium"/>
                    <a:cs typeface="Poppins Medium"/>
                    <a:sym typeface="Poppins Medium"/>
                  </a:rPr>
                  <a:t>IAESTE</a:t>
                </a:r>
                <a:r>
                  <a:rPr lang="ja-JP" sz="2600" b="1" i="0" u="none" strike="noStrike" cap="none">
                    <a:solidFill>
                      <a:schemeClr val="lt1"/>
                    </a:solidFill>
                    <a:latin typeface="Calibri"/>
                    <a:ea typeface="Calibri"/>
                    <a:cs typeface="Calibri"/>
                    <a:sym typeface="Calibri"/>
                  </a:rPr>
                  <a:t>とは</a:t>
                </a:r>
                <a:endParaRPr sz="1400" b="0" i="0" u="none" strike="noStrike" cap="none">
                  <a:solidFill>
                    <a:srgbClr val="000000"/>
                  </a:solidFill>
                  <a:latin typeface="Arial"/>
                  <a:ea typeface="Arial"/>
                  <a:cs typeface="Arial"/>
                  <a:sym typeface="Arial"/>
                </a:endParaRPr>
              </a:p>
            </p:txBody>
          </p:sp>
          <p:sp>
            <p:nvSpPr>
              <p:cNvPr id="129" name="Google Shape;129;p2"/>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1</a:t>
                </a:r>
                <a:endParaRPr sz="1600" b="0" i="0" u="none" strike="noStrike" cap="none">
                  <a:solidFill>
                    <a:schemeClr val="lt1"/>
                  </a:solidFill>
                  <a:latin typeface="Poppins Medium"/>
                  <a:ea typeface="Poppins Medium"/>
                  <a:cs typeface="Poppins Medium"/>
                  <a:sym typeface="Poppins Medium"/>
                </a:endParaRPr>
              </a:p>
            </p:txBody>
          </p:sp>
        </p:grpSp>
        <p:pic>
          <p:nvPicPr>
            <p:cNvPr id="130" name="Google Shape;130;p2"/>
            <p:cNvPicPr preferRelativeResize="0"/>
            <p:nvPr/>
          </p:nvPicPr>
          <p:blipFill rotWithShape="1">
            <a:blip r:embed="rId5">
              <a:alphaModFix/>
            </a:blip>
            <a:srcRect/>
            <a:stretch/>
          </p:blipFill>
          <p:spPr>
            <a:xfrm>
              <a:off x="5994728" y="1526857"/>
              <a:ext cx="1932234" cy="704561"/>
            </a:xfrm>
            <a:prstGeom prst="rect">
              <a:avLst/>
            </a:prstGeom>
            <a:noFill/>
            <a:ln>
              <a:noFill/>
            </a:ln>
          </p:spPr>
        </p:pic>
      </p:grpSp>
      <p:grpSp>
        <p:nvGrpSpPr>
          <p:cNvPr id="131" name="Google Shape;131;p2"/>
          <p:cNvGrpSpPr/>
          <p:nvPr/>
        </p:nvGrpSpPr>
        <p:grpSpPr>
          <a:xfrm>
            <a:off x="861916" y="4402306"/>
            <a:ext cx="7427779" cy="901874"/>
            <a:chOff x="854306" y="4406864"/>
            <a:chExt cx="7427779" cy="901874"/>
          </a:xfrm>
        </p:grpSpPr>
        <p:pic>
          <p:nvPicPr>
            <p:cNvPr id="132" name="Google Shape;132;p2"/>
            <p:cNvPicPr preferRelativeResize="0"/>
            <p:nvPr/>
          </p:nvPicPr>
          <p:blipFill rotWithShape="1">
            <a:blip r:embed="rId6">
              <a:alphaModFix/>
            </a:blip>
            <a:srcRect t="22795" b="353"/>
            <a:stretch/>
          </p:blipFill>
          <p:spPr>
            <a:xfrm>
              <a:off x="5339519" y="4410656"/>
              <a:ext cx="2942566" cy="898082"/>
            </a:xfrm>
            <a:prstGeom prst="rect">
              <a:avLst/>
            </a:prstGeom>
            <a:noFill/>
            <a:ln>
              <a:noFill/>
            </a:ln>
          </p:spPr>
        </p:pic>
        <p:grpSp>
          <p:nvGrpSpPr>
            <p:cNvPr id="133" name="Google Shape;133;p2"/>
            <p:cNvGrpSpPr/>
            <p:nvPr/>
          </p:nvGrpSpPr>
          <p:grpSpPr>
            <a:xfrm>
              <a:off x="854306" y="4406864"/>
              <a:ext cx="7427779" cy="901874"/>
              <a:chOff x="751559" y="1503123"/>
              <a:chExt cx="7427779" cy="901874"/>
            </a:xfrm>
          </p:grpSpPr>
          <p:pic>
            <p:nvPicPr>
              <p:cNvPr id="134" name="Google Shape;134;p2"/>
              <p:cNvPicPr preferRelativeResize="0"/>
              <p:nvPr/>
            </p:nvPicPr>
            <p:blipFill rotWithShape="1">
              <a:blip r:embed="rId4">
                <a:alphaModFix amt="67000"/>
              </a:blip>
              <a:srcRect/>
              <a:stretch/>
            </p:blipFill>
            <p:spPr>
              <a:xfrm>
                <a:off x="5363730" y="1506915"/>
                <a:ext cx="2815608" cy="898082"/>
              </a:xfrm>
              <a:prstGeom prst="rect">
                <a:avLst/>
              </a:prstGeom>
              <a:noFill/>
              <a:ln>
                <a:noFill/>
              </a:ln>
            </p:spPr>
          </p:pic>
          <p:sp>
            <p:nvSpPr>
              <p:cNvPr id="135" name="Google Shape;135;p2"/>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chemeClr val="lt1"/>
                    </a:solidFill>
                    <a:latin typeface="Calibri"/>
                    <a:ea typeface="Calibri"/>
                    <a:cs typeface="Calibri"/>
                    <a:sym typeface="Calibri"/>
                  </a:rPr>
                  <a:t>応募から研修まで</a:t>
                </a:r>
                <a:endParaRPr sz="1400" b="0" i="0" u="none" strike="noStrike" cap="none">
                  <a:solidFill>
                    <a:srgbClr val="000000"/>
                  </a:solidFill>
                  <a:latin typeface="Arial"/>
                  <a:ea typeface="Arial"/>
                  <a:cs typeface="Arial"/>
                  <a:sym typeface="Arial"/>
                </a:endParaRPr>
              </a:p>
            </p:txBody>
          </p:sp>
          <p:sp>
            <p:nvSpPr>
              <p:cNvPr id="136" name="Google Shape;136;p2"/>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3</a:t>
                </a:r>
                <a:endParaRPr sz="1600" b="0" i="0" u="none" strike="noStrike" cap="none">
                  <a:solidFill>
                    <a:schemeClr val="lt1"/>
                  </a:solidFill>
                  <a:latin typeface="Poppins Medium"/>
                  <a:ea typeface="Poppins Medium"/>
                  <a:cs typeface="Poppins Medium"/>
                  <a:sym typeface="Poppins Medium"/>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5</a:t>
            </a:fld>
            <a:endParaRPr/>
          </a:p>
        </p:txBody>
      </p:sp>
      <p:sp>
        <p:nvSpPr>
          <p:cNvPr id="142" name="Google Shape;142;p3"/>
          <p:cNvSpPr txBox="1">
            <a:spLocks noGrp="1"/>
          </p:cNvSpPr>
          <p:nvPr>
            <p:ph type="title"/>
          </p:nvPr>
        </p:nvSpPr>
        <p:spPr>
          <a:xfrm>
            <a:off x="229651" y="12526"/>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Poppins Medium"/>
              <a:buNone/>
            </a:pPr>
            <a:r>
              <a:rPr lang="ja-JP" sz="2000" b="0">
                <a:latin typeface="Poppins Medium"/>
                <a:ea typeface="Poppins Medium"/>
                <a:cs typeface="Poppins Medium"/>
                <a:sym typeface="Poppins Medium"/>
              </a:rPr>
              <a:t>Contents</a:t>
            </a:r>
            <a:endParaRPr sz="2000" b="0">
              <a:latin typeface="Poppins Medium"/>
              <a:ea typeface="Poppins Medium"/>
              <a:cs typeface="Poppins Medium"/>
              <a:sym typeface="Poppins Medium"/>
            </a:endParaRPr>
          </a:p>
        </p:txBody>
      </p:sp>
      <p:grpSp>
        <p:nvGrpSpPr>
          <p:cNvPr id="143" name="Google Shape;143;p3"/>
          <p:cNvGrpSpPr/>
          <p:nvPr/>
        </p:nvGrpSpPr>
        <p:grpSpPr>
          <a:xfrm>
            <a:off x="861916" y="3012805"/>
            <a:ext cx="7420169" cy="902208"/>
            <a:chOff x="751559" y="1502789"/>
            <a:chExt cx="7420169" cy="902208"/>
          </a:xfrm>
        </p:grpSpPr>
        <p:pic>
          <p:nvPicPr>
            <p:cNvPr id="144" name="Google Shape;144;p3"/>
            <p:cNvPicPr preferRelativeResize="0"/>
            <p:nvPr/>
          </p:nvPicPr>
          <p:blipFill rotWithShape="1">
            <a:blip r:embed="rId3">
              <a:alphaModFix/>
            </a:blip>
            <a:srcRect t="9460" r="14521" b="24530"/>
            <a:stretch/>
          </p:blipFill>
          <p:spPr>
            <a:xfrm>
              <a:off x="4991848" y="1503123"/>
              <a:ext cx="3179880" cy="901874"/>
            </a:xfrm>
            <a:prstGeom prst="rect">
              <a:avLst/>
            </a:prstGeom>
            <a:noFill/>
            <a:ln>
              <a:noFill/>
            </a:ln>
          </p:spPr>
        </p:pic>
        <p:pic>
          <p:nvPicPr>
            <p:cNvPr id="145" name="Google Shape;145;p3"/>
            <p:cNvPicPr preferRelativeResize="0"/>
            <p:nvPr/>
          </p:nvPicPr>
          <p:blipFill rotWithShape="1">
            <a:blip r:embed="rId4">
              <a:alphaModFix amt="67000"/>
            </a:blip>
            <a:srcRect/>
            <a:stretch/>
          </p:blipFill>
          <p:spPr>
            <a:xfrm>
              <a:off x="5343184" y="1502789"/>
              <a:ext cx="2828544" cy="902208"/>
            </a:xfrm>
            <a:prstGeom prst="rect">
              <a:avLst/>
            </a:prstGeom>
            <a:noFill/>
            <a:ln>
              <a:noFill/>
            </a:ln>
          </p:spPr>
        </p:pic>
        <p:sp>
          <p:nvSpPr>
            <p:cNvPr id="146" name="Google Shape;146;p3"/>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chemeClr val="lt1"/>
                  </a:solidFill>
                  <a:latin typeface="Calibri"/>
                  <a:ea typeface="Calibri"/>
                  <a:cs typeface="Calibri"/>
                  <a:sym typeface="Calibri"/>
                </a:rPr>
                <a:t>プログラムの特徴</a:t>
              </a:r>
              <a:endParaRPr sz="1400" b="0" i="0" u="none" strike="noStrike" cap="none">
                <a:solidFill>
                  <a:srgbClr val="000000"/>
                </a:solidFill>
                <a:latin typeface="Arial"/>
                <a:ea typeface="Arial"/>
                <a:cs typeface="Arial"/>
                <a:sym typeface="Arial"/>
              </a:endParaRPr>
            </a:p>
          </p:txBody>
        </p:sp>
        <p:sp>
          <p:nvSpPr>
            <p:cNvPr id="147" name="Google Shape;147;p3"/>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2</a:t>
              </a:r>
              <a:endParaRPr sz="1600" b="0" i="0" u="none" strike="noStrike" cap="none">
                <a:solidFill>
                  <a:schemeClr val="lt1"/>
                </a:solidFill>
                <a:latin typeface="Poppins Medium"/>
                <a:ea typeface="Poppins Medium"/>
                <a:cs typeface="Poppins Medium"/>
                <a:sym typeface="Poppins Medium"/>
              </a:endParaRPr>
            </a:p>
          </p:txBody>
        </p:sp>
      </p:grpSp>
      <p:grpSp>
        <p:nvGrpSpPr>
          <p:cNvPr id="148" name="Google Shape;148;p3"/>
          <p:cNvGrpSpPr/>
          <p:nvPr/>
        </p:nvGrpSpPr>
        <p:grpSpPr>
          <a:xfrm>
            <a:off x="861916" y="1623304"/>
            <a:ext cx="7404318" cy="902208"/>
            <a:chOff x="854306" y="1428201"/>
            <a:chExt cx="7404318" cy="902208"/>
          </a:xfrm>
        </p:grpSpPr>
        <p:grpSp>
          <p:nvGrpSpPr>
            <p:cNvPr id="149" name="Google Shape;149;p3"/>
            <p:cNvGrpSpPr/>
            <p:nvPr/>
          </p:nvGrpSpPr>
          <p:grpSpPr>
            <a:xfrm>
              <a:off x="854306" y="1428201"/>
              <a:ext cx="7404318" cy="902208"/>
              <a:chOff x="751559" y="1503123"/>
              <a:chExt cx="7404318" cy="902208"/>
            </a:xfrm>
          </p:grpSpPr>
          <p:pic>
            <p:nvPicPr>
              <p:cNvPr id="150" name="Google Shape;150;p3"/>
              <p:cNvPicPr preferRelativeResize="0"/>
              <p:nvPr/>
            </p:nvPicPr>
            <p:blipFill rotWithShape="1">
              <a:blip r:embed="rId4">
                <a:alphaModFix amt="81000"/>
              </a:blip>
              <a:srcRect/>
              <a:stretch/>
            </p:blipFill>
            <p:spPr>
              <a:xfrm>
                <a:off x="5327333" y="1503123"/>
                <a:ext cx="2828544" cy="902208"/>
              </a:xfrm>
              <a:prstGeom prst="rect">
                <a:avLst/>
              </a:prstGeom>
              <a:noFill/>
              <a:ln>
                <a:noFill/>
              </a:ln>
            </p:spPr>
          </p:pic>
          <p:sp>
            <p:nvSpPr>
              <p:cNvPr id="151" name="Google Shape;151;p3"/>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0" i="0" u="none" strike="noStrike" cap="none">
                    <a:solidFill>
                      <a:schemeClr val="lt1"/>
                    </a:solidFill>
                    <a:latin typeface="Poppins Medium"/>
                    <a:ea typeface="Poppins Medium"/>
                    <a:cs typeface="Poppins Medium"/>
                    <a:sym typeface="Poppins Medium"/>
                  </a:rPr>
                  <a:t>IAESTE</a:t>
                </a:r>
                <a:r>
                  <a:rPr lang="ja-JP" sz="2600" b="1" i="0" u="none" strike="noStrike" cap="none">
                    <a:solidFill>
                      <a:schemeClr val="lt1"/>
                    </a:solidFill>
                    <a:latin typeface="Calibri"/>
                    <a:ea typeface="Calibri"/>
                    <a:cs typeface="Calibri"/>
                    <a:sym typeface="Calibri"/>
                  </a:rPr>
                  <a:t>とは</a:t>
                </a:r>
                <a:endParaRPr sz="1400" b="0" i="0" u="none" strike="noStrike" cap="none">
                  <a:solidFill>
                    <a:srgbClr val="000000"/>
                  </a:solidFill>
                  <a:latin typeface="Arial"/>
                  <a:ea typeface="Arial"/>
                  <a:cs typeface="Arial"/>
                  <a:sym typeface="Arial"/>
                </a:endParaRPr>
              </a:p>
            </p:txBody>
          </p:sp>
          <p:sp>
            <p:nvSpPr>
              <p:cNvPr id="152" name="Google Shape;152;p3"/>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1</a:t>
                </a:r>
                <a:endParaRPr sz="1600" b="0" i="0" u="none" strike="noStrike" cap="none">
                  <a:solidFill>
                    <a:schemeClr val="lt1"/>
                  </a:solidFill>
                  <a:latin typeface="Poppins Medium"/>
                  <a:ea typeface="Poppins Medium"/>
                  <a:cs typeface="Poppins Medium"/>
                  <a:sym typeface="Poppins Medium"/>
                </a:endParaRPr>
              </a:p>
            </p:txBody>
          </p:sp>
        </p:grpSp>
        <p:pic>
          <p:nvPicPr>
            <p:cNvPr id="153" name="Google Shape;153;p3"/>
            <p:cNvPicPr preferRelativeResize="0"/>
            <p:nvPr/>
          </p:nvPicPr>
          <p:blipFill rotWithShape="1">
            <a:blip r:embed="rId5">
              <a:alphaModFix/>
            </a:blip>
            <a:srcRect/>
            <a:stretch/>
          </p:blipFill>
          <p:spPr>
            <a:xfrm>
              <a:off x="5994728" y="1526857"/>
              <a:ext cx="1932234" cy="704561"/>
            </a:xfrm>
            <a:prstGeom prst="rect">
              <a:avLst/>
            </a:prstGeom>
            <a:noFill/>
            <a:ln>
              <a:noFill/>
            </a:ln>
          </p:spPr>
        </p:pic>
      </p:grpSp>
      <p:grpSp>
        <p:nvGrpSpPr>
          <p:cNvPr id="154" name="Google Shape;154;p3"/>
          <p:cNvGrpSpPr/>
          <p:nvPr/>
        </p:nvGrpSpPr>
        <p:grpSpPr>
          <a:xfrm>
            <a:off x="861916" y="4402306"/>
            <a:ext cx="7427779" cy="901874"/>
            <a:chOff x="854306" y="4406864"/>
            <a:chExt cx="7427779" cy="901874"/>
          </a:xfrm>
        </p:grpSpPr>
        <p:pic>
          <p:nvPicPr>
            <p:cNvPr id="155" name="Google Shape;155;p3"/>
            <p:cNvPicPr preferRelativeResize="0"/>
            <p:nvPr/>
          </p:nvPicPr>
          <p:blipFill rotWithShape="1">
            <a:blip r:embed="rId6">
              <a:alphaModFix/>
            </a:blip>
            <a:srcRect t="22795" b="353"/>
            <a:stretch/>
          </p:blipFill>
          <p:spPr>
            <a:xfrm>
              <a:off x="5339519" y="4410656"/>
              <a:ext cx="2942566" cy="898082"/>
            </a:xfrm>
            <a:prstGeom prst="rect">
              <a:avLst/>
            </a:prstGeom>
            <a:noFill/>
            <a:ln>
              <a:noFill/>
            </a:ln>
          </p:spPr>
        </p:pic>
        <p:grpSp>
          <p:nvGrpSpPr>
            <p:cNvPr id="156" name="Google Shape;156;p3"/>
            <p:cNvGrpSpPr/>
            <p:nvPr/>
          </p:nvGrpSpPr>
          <p:grpSpPr>
            <a:xfrm>
              <a:off x="854306" y="4406864"/>
              <a:ext cx="7427779" cy="901874"/>
              <a:chOff x="751559" y="1503123"/>
              <a:chExt cx="7427779" cy="901874"/>
            </a:xfrm>
          </p:grpSpPr>
          <p:pic>
            <p:nvPicPr>
              <p:cNvPr id="157" name="Google Shape;157;p3"/>
              <p:cNvPicPr preferRelativeResize="0"/>
              <p:nvPr/>
            </p:nvPicPr>
            <p:blipFill rotWithShape="1">
              <a:blip r:embed="rId4">
                <a:alphaModFix amt="67000"/>
              </a:blip>
              <a:srcRect/>
              <a:stretch/>
            </p:blipFill>
            <p:spPr>
              <a:xfrm>
                <a:off x="5363730" y="1506915"/>
                <a:ext cx="2815608" cy="898082"/>
              </a:xfrm>
              <a:prstGeom prst="rect">
                <a:avLst/>
              </a:prstGeom>
              <a:noFill/>
              <a:ln>
                <a:noFill/>
              </a:ln>
            </p:spPr>
          </p:pic>
          <p:sp>
            <p:nvSpPr>
              <p:cNvPr id="158" name="Google Shape;158;p3"/>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chemeClr val="lt1"/>
                    </a:solidFill>
                    <a:latin typeface="Calibri"/>
                    <a:ea typeface="Calibri"/>
                    <a:cs typeface="Calibri"/>
                    <a:sym typeface="Calibri"/>
                  </a:rPr>
                  <a:t>応募から研修まで</a:t>
                </a:r>
                <a:endParaRPr sz="1400" b="0" i="0" u="none" strike="noStrike" cap="none">
                  <a:solidFill>
                    <a:srgbClr val="000000"/>
                  </a:solidFill>
                  <a:latin typeface="Arial"/>
                  <a:ea typeface="Arial"/>
                  <a:cs typeface="Arial"/>
                  <a:sym typeface="Arial"/>
                </a:endParaRPr>
              </a:p>
            </p:txBody>
          </p:sp>
          <p:sp>
            <p:nvSpPr>
              <p:cNvPr id="159" name="Google Shape;159;p3"/>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3</a:t>
                </a:r>
                <a:endParaRPr sz="1600" b="0" i="0" u="none" strike="noStrike" cap="none">
                  <a:solidFill>
                    <a:schemeClr val="lt1"/>
                  </a:solidFill>
                  <a:latin typeface="Poppins Medium"/>
                  <a:ea typeface="Poppins Medium"/>
                  <a:cs typeface="Poppins Medium"/>
                  <a:sym typeface="Poppins Medium"/>
                </a:endParaRPr>
              </a:p>
            </p:txBody>
          </p:sp>
        </p:grpSp>
      </p:grpSp>
      <p:sp>
        <p:nvSpPr>
          <p:cNvPr id="160" name="Google Shape;160;p3"/>
          <p:cNvSpPr/>
          <p:nvPr/>
        </p:nvSpPr>
        <p:spPr>
          <a:xfrm>
            <a:off x="861916" y="3012805"/>
            <a:ext cx="7427779" cy="2291375"/>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229650" y="4166325"/>
            <a:ext cx="8868300" cy="2341500"/>
          </a:xfrm>
          <a:prstGeom prst="ellipse">
            <a:avLst/>
          </a:prstGeom>
          <a:solidFill>
            <a:srgbClr val="185FA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4"/>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6</a:t>
            </a:fld>
            <a:endParaRPr/>
          </a:p>
        </p:txBody>
      </p:sp>
      <p:sp>
        <p:nvSpPr>
          <p:cNvPr id="167" name="Google Shape;167;p4"/>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IAESTE とは</a:t>
            </a:r>
            <a:endParaRPr/>
          </a:p>
        </p:txBody>
      </p:sp>
      <p:sp>
        <p:nvSpPr>
          <p:cNvPr id="168" name="Google Shape;168;p4"/>
          <p:cNvSpPr txBox="1"/>
          <p:nvPr/>
        </p:nvSpPr>
        <p:spPr>
          <a:xfrm>
            <a:off x="4266575" y="1621763"/>
            <a:ext cx="4342500" cy="1722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400"/>
              <a:buFont typeface="Poppins Medium"/>
              <a:buNone/>
            </a:pPr>
            <a:r>
              <a:rPr lang="ja-JP" sz="2200" b="0" i="0" u="none" strike="noStrike" cap="none">
                <a:solidFill>
                  <a:srgbClr val="7F7F7F"/>
                </a:solidFill>
                <a:latin typeface="Poppins Medium"/>
                <a:ea typeface="Poppins Medium"/>
                <a:cs typeface="Poppins Medium"/>
                <a:sym typeface="Poppins Medium"/>
              </a:rPr>
              <a:t>The </a:t>
            </a:r>
            <a:r>
              <a:rPr lang="ja-JP" sz="3000" b="0" i="0" u="none" strike="noStrike" cap="none">
                <a:solidFill>
                  <a:srgbClr val="1B3D56"/>
                </a:solidFill>
                <a:latin typeface="Poppins Medium"/>
                <a:ea typeface="Poppins Medium"/>
                <a:cs typeface="Poppins Medium"/>
                <a:sym typeface="Poppins Medium"/>
              </a:rPr>
              <a:t>I</a:t>
            </a:r>
            <a:r>
              <a:rPr lang="ja-JP" sz="2200" b="0" i="0" u="none" strike="noStrike" cap="none">
                <a:solidFill>
                  <a:srgbClr val="7F7F7F"/>
                </a:solidFill>
                <a:latin typeface="Poppins Medium"/>
                <a:ea typeface="Poppins Medium"/>
                <a:cs typeface="Poppins Medium"/>
                <a:sym typeface="Poppins Medium"/>
              </a:rPr>
              <a:t>nternational </a:t>
            </a:r>
            <a:r>
              <a:rPr lang="ja-JP" sz="3000" b="0" i="0" u="none" strike="noStrike" cap="none">
                <a:solidFill>
                  <a:srgbClr val="1B3D56"/>
                </a:solidFill>
                <a:latin typeface="Poppins Medium"/>
                <a:ea typeface="Poppins Medium"/>
                <a:cs typeface="Poppins Medium"/>
                <a:sym typeface="Poppins Medium"/>
              </a:rPr>
              <a:t>A</a:t>
            </a:r>
            <a:r>
              <a:rPr lang="ja-JP" sz="2200" b="0" i="0" u="none" strike="noStrike" cap="none">
                <a:solidFill>
                  <a:srgbClr val="7F7F7F"/>
                </a:solidFill>
                <a:latin typeface="Poppins Medium"/>
                <a:ea typeface="Poppins Medium"/>
                <a:cs typeface="Poppins Medium"/>
                <a:sym typeface="Poppins Medium"/>
              </a:rPr>
              <a:t>ssociation </a:t>
            </a:r>
            <a:endParaRPr sz="2200" b="0" i="0" u="none" strike="noStrike" cap="none">
              <a:solidFill>
                <a:srgbClr val="7F7F7F"/>
              </a:solidFill>
              <a:latin typeface="Poppins Medium"/>
              <a:ea typeface="Poppins Medium"/>
              <a:cs typeface="Poppins Medium"/>
              <a:sym typeface="Poppins Medium"/>
            </a:endParaRPr>
          </a:p>
          <a:p>
            <a:pPr marL="0" marR="0" lvl="0" indent="0" algn="l" rtl="0">
              <a:lnSpc>
                <a:spcPct val="90000"/>
              </a:lnSpc>
              <a:spcBef>
                <a:spcPts val="0"/>
              </a:spcBef>
              <a:spcAft>
                <a:spcPts val="0"/>
              </a:spcAft>
              <a:buClr>
                <a:srgbClr val="7F7F7F"/>
              </a:buClr>
              <a:buSzPts val="2400"/>
              <a:buFont typeface="Poppins Medium"/>
              <a:buNone/>
            </a:pPr>
            <a:r>
              <a:rPr lang="ja-JP" sz="2200" b="0" i="0" u="none" strike="noStrike" cap="none">
                <a:solidFill>
                  <a:srgbClr val="7F7F7F"/>
                </a:solidFill>
                <a:latin typeface="Poppins Medium"/>
                <a:ea typeface="Poppins Medium"/>
                <a:cs typeface="Poppins Medium"/>
                <a:sym typeface="Poppins Medium"/>
              </a:rPr>
              <a:t>for the </a:t>
            </a:r>
            <a:r>
              <a:rPr lang="ja-JP" sz="3000" b="0" i="0" u="none" strike="noStrike" cap="none">
                <a:solidFill>
                  <a:srgbClr val="1B3D56"/>
                </a:solidFill>
                <a:latin typeface="Poppins Medium"/>
                <a:ea typeface="Poppins Medium"/>
                <a:cs typeface="Poppins Medium"/>
                <a:sym typeface="Poppins Medium"/>
              </a:rPr>
              <a:t>E</a:t>
            </a:r>
            <a:r>
              <a:rPr lang="ja-JP" sz="2200" b="0" i="0" u="none" strike="noStrike" cap="none">
                <a:solidFill>
                  <a:srgbClr val="7F7F7F"/>
                </a:solidFill>
                <a:latin typeface="Poppins Medium"/>
                <a:ea typeface="Poppins Medium"/>
                <a:cs typeface="Poppins Medium"/>
                <a:sym typeface="Poppins Medium"/>
              </a:rPr>
              <a:t>xchange of </a:t>
            </a:r>
            <a:r>
              <a:rPr lang="ja-JP" sz="3000" b="0" i="0" u="none" strike="noStrike" cap="none">
                <a:solidFill>
                  <a:srgbClr val="1B3D56"/>
                </a:solidFill>
                <a:latin typeface="Poppins Medium"/>
                <a:ea typeface="Poppins Medium"/>
                <a:cs typeface="Poppins Medium"/>
                <a:sym typeface="Poppins Medium"/>
              </a:rPr>
              <a:t>S</a:t>
            </a:r>
            <a:r>
              <a:rPr lang="ja-JP" sz="2200" b="0" i="0" u="none" strike="noStrike" cap="none">
                <a:solidFill>
                  <a:srgbClr val="7F7F7F"/>
                </a:solidFill>
                <a:latin typeface="Poppins Medium"/>
                <a:ea typeface="Poppins Medium"/>
                <a:cs typeface="Poppins Medium"/>
                <a:sym typeface="Poppins Medium"/>
              </a:rPr>
              <a:t>tudents </a:t>
            </a:r>
            <a:endParaRPr sz="12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rgbClr val="7F7F7F"/>
              </a:buClr>
              <a:buSzPts val="2400"/>
              <a:buFont typeface="Poppins Medium"/>
              <a:buNone/>
            </a:pPr>
            <a:r>
              <a:rPr lang="ja-JP" sz="2200" b="0" i="0" u="none" strike="noStrike" cap="none">
                <a:solidFill>
                  <a:srgbClr val="7F7F7F"/>
                </a:solidFill>
                <a:latin typeface="Poppins Medium"/>
                <a:ea typeface="Poppins Medium"/>
                <a:cs typeface="Poppins Medium"/>
                <a:sym typeface="Poppins Medium"/>
              </a:rPr>
              <a:t>for </a:t>
            </a:r>
            <a:r>
              <a:rPr lang="ja-JP" sz="3000" b="0" i="0" u="none" strike="noStrike" cap="none">
                <a:solidFill>
                  <a:srgbClr val="1B3D56"/>
                </a:solidFill>
                <a:latin typeface="Poppins Medium"/>
                <a:ea typeface="Poppins Medium"/>
                <a:cs typeface="Poppins Medium"/>
                <a:sym typeface="Poppins Medium"/>
              </a:rPr>
              <a:t>T</a:t>
            </a:r>
            <a:r>
              <a:rPr lang="ja-JP" sz="2200" b="0" i="0" u="none" strike="noStrike" cap="none">
                <a:solidFill>
                  <a:srgbClr val="7F7F7F"/>
                </a:solidFill>
                <a:latin typeface="Poppins Medium"/>
                <a:ea typeface="Poppins Medium"/>
                <a:cs typeface="Poppins Medium"/>
                <a:sym typeface="Poppins Medium"/>
              </a:rPr>
              <a:t>echnical </a:t>
            </a:r>
            <a:r>
              <a:rPr lang="ja-JP" sz="3000" b="0" i="0" u="none" strike="noStrike" cap="none">
                <a:solidFill>
                  <a:srgbClr val="1B3D56"/>
                </a:solidFill>
                <a:latin typeface="Poppins Medium"/>
                <a:ea typeface="Poppins Medium"/>
                <a:cs typeface="Poppins Medium"/>
                <a:sym typeface="Poppins Medium"/>
              </a:rPr>
              <a:t>E</a:t>
            </a:r>
            <a:r>
              <a:rPr lang="ja-JP" sz="2200" b="0" i="0" u="none" strike="noStrike" cap="none">
                <a:solidFill>
                  <a:srgbClr val="7F7F7F"/>
                </a:solidFill>
                <a:latin typeface="Poppins Medium"/>
                <a:ea typeface="Poppins Medium"/>
                <a:cs typeface="Poppins Medium"/>
                <a:sym typeface="Poppins Medium"/>
              </a:rPr>
              <a:t>xperience</a:t>
            </a:r>
            <a:endParaRPr sz="1600" b="0" i="0" u="none" strike="noStrike" cap="none">
              <a:solidFill>
                <a:srgbClr val="002060"/>
              </a:solidFill>
              <a:latin typeface="Poppins Medium"/>
              <a:ea typeface="Poppins Medium"/>
              <a:cs typeface="Poppins Medium"/>
              <a:sym typeface="Poppins Medium"/>
            </a:endParaRPr>
          </a:p>
        </p:txBody>
      </p:sp>
      <p:pic>
        <p:nvPicPr>
          <p:cNvPr id="169" name="Google Shape;169;p4"/>
          <p:cNvPicPr preferRelativeResize="0"/>
          <p:nvPr/>
        </p:nvPicPr>
        <p:blipFill rotWithShape="1">
          <a:blip r:embed="rId3">
            <a:alphaModFix/>
          </a:blip>
          <a:srcRect/>
          <a:stretch/>
        </p:blipFill>
        <p:spPr>
          <a:xfrm>
            <a:off x="924351" y="1153576"/>
            <a:ext cx="2837300" cy="2837325"/>
          </a:xfrm>
          <a:prstGeom prst="rect">
            <a:avLst/>
          </a:prstGeom>
          <a:noFill/>
          <a:ln>
            <a:noFill/>
          </a:ln>
        </p:spPr>
      </p:pic>
      <p:sp>
        <p:nvSpPr>
          <p:cNvPr id="170" name="Google Shape;170;p4"/>
          <p:cNvSpPr txBox="1"/>
          <p:nvPr/>
        </p:nvSpPr>
        <p:spPr>
          <a:xfrm>
            <a:off x="924350" y="4782975"/>
            <a:ext cx="77469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2400"/>
              <a:buFont typeface="Arial"/>
              <a:buNone/>
            </a:pPr>
            <a:r>
              <a:rPr lang="ja-JP" sz="2400" b="1" i="0" u="none" strike="noStrike" cap="none">
                <a:solidFill>
                  <a:schemeClr val="lt1"/>
                </a:solidFill>
                <a:latin typeface="Calibri"/>
                <a:ea typeface="Calibri"/>
                <a:cs typeface="Calibri"/>
                <a:sym typeface="Calibri"/>
              </a:rPr>
              <a:t>バラエティーに富んだ研究内容を提供しているため、多種多様な分野に挑戦できるインターンシップ！</a:t>
            </a:r>
            <a:endParaRPr sz="1400" b="1" i="0" u="none" strike="noStrike" cap="non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5"/>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7</a:t>
            </a:fld>
            <a:endParaRPr/>
          </a:p>
        </p:txBody>
      </p:sp>
      <p:sp>
        <p:nvSpPr>
          <p:cNvPr id="176" name="Google Shape;176;p5"/>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幅広いネットワーク</a:t>
            </a:r>
            <a:endParaRPr/>
          </a:p>
        </p:txBody>
      </p:sp>
      <p:pic>
        <p:nvPicPr>
          <p:cNvPr id="177" name="Google Shape;177;p5"/>
          <p:cNvPicPr preferRelativeResize="0"/>
          <p:nvPr/>
        </p:nvPicPr>
        <p:blipFill rotWithShape="1">
          <a:blip r:embed="rId3">
            <a:alphaModFix/>
          </a:blip>
          <a:srcRect/>
          <a:stretch/>
        </p:blipFill>
        <p:spPr>
          <a:xfrm>
            <a:off x="2232126" y="1712249"/>
            <a:ext cx="4826105" cy="2876081"/>
          </a:xfrm>
          <a:prstGeom prst="rect">
            <a:avLst/>
          </a:prstGeom>
          <a:noFill/>
          <a:ln>
            <a:noFill/>
          </a:ln>
        </p:spPr>
      </p:pic>
      <p:sp>
        <p:nvSpPr>
          <p:cNvPr id="178" name="Google Shape;178;p5"/>
          <p:cNvSpPr txBox="1"/>
          <p:nvPr/>
        </p:nvSpPr>
        <p:spPr>
          <a:xfrm>
            <a:off x="2174988" y="5097315"/>
            <a:ext cx="4544924"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dk1"/>
                </a:solidFill>
                <a:latin typeface="Calibri"/>
                <a:ea typeface="Calibri"/>
                <a:cs typeface="Calibri"/>
                <a:sym typeface="Calibri"/>
              </a:rPr>
              <a:t>加盟国は世界約</a:t>
            </a:r>
            <a:r>
              <a:rPr lang="ja-JP" sz="3200" b="1" i="0" u="none" strike="noStrike" cap="none">
                <a:solidFill>
                  <a:schemeClr val="dk1"/>
                </a:solidFill>
                <a:latin typeface="Calibri"/>
                <a:ea typeface="Calibri"/>
                <a:cs typeface="Calibri"/>
                <a:sym typeface="Calibri"/>
              </a:rPr>
              <a:t> </a:t>
            </a:r>
            <a:r>
              <a:rPr lang="ja-JP" sz="4400" b="0" i="0" u="none" strike="noStrike" cap="none">
                <a:solidFill>
                  <a:srgbClr val="FFC400"/>
                </a:solidFill>
                <a:latin typeface="Poppins Medium"/>
                <a:ea typeface="Poppins Medium"/>
                <a:cs typeface="Poppins Medium"/>
                <a:sym typeface="Poppins Medium"/>
              </a:rPr>
              <a:t>81</a:t>
            </a:r>
            <a:r>
              <a:rPr lang="ja-JP" sz="2400" b="1" i="0" u="none" strike="noStrike" cap="none">
                <a:solidFill>
                  <a:schemeClr val="dk1"/>
                </a:solidFill>
                <a:latin typeface="Calibri"/>
                <a:ea typeface="Calibri"/>
                <a:cs typeface="Calibri"/>
                <a:sym typeface="Calibri"/>
              </a:rPr>
              <a:t>ヶ国</a:t>
            </a:r>
            <a:endParaRPr sz="1400" b="0" i="0" u="none" strike="noStrike" cap="none">
              <a:solidFill>
                <a:srgbClr val="000000"/>
              </a:solidFill>
              <a:latin typeface="Arial"/>
              <a:ea typeface="Arial"/>
              <a:cs typeface="Arial"/>
              <a:sym typeface="Arial"/>
            </a:endParaRPr>
          </a:p>
        </p:txBody>
      </p:sp>
      <p:sp>
        <p:nvSpPr>
          <p:cNvPr id="179" name="Google Shape;179;p5"/>
          <p:cNvSpPr/>
          <p:nvPr/>
        </p:nvSpPr>
        <p:spPr>
          <a:xfrm>
            <a:off x="583421" y="1499317"/>
            <a:ext cx="1591567" cy="1247060"/>
          </a:xfrm>
          <a:prstGeom prst="rect">
            <a:avLst/>
          </a:prstGeom>
          <a:blipFill rotWithShape="1">
            <a:blip r:embed="rId4">
              <a:alphaModFix amt="86000"/>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pic>
        <p:nvPicPr>
          <p:cNvPr id="180" name="Google Shape;180;p5" descr="logo-ecosoc "/>
          <p:cNvPicPr preferRelativeResize="0"/>
          <p:nvPr/>
        </p:nvPicPr>
        <p:blipFill rotWithShape="1">
          <a:blip r:embed="rId5">
            <a:alphaModFix/>
          </a:blip>
          <a:srcRect l="17139" r="15513"/>
          <a:stretch/>
        </p:blipFill>
        <p:spPr>
          <a:xfrm>
            <a:off x="601481" y="3002067"/>
            <a:ext cx="1630645" cy="1815946"/>
          </a:xfrm>
          <a:prstGeom prst="rect">
            <a:avLst/>
          </a:prstGeom>
          <a:noFill/>
          <a:ln>
            <a:noFill/>
          </a:ln>
        </p:spPr>
      </p:pic>
      <p:pic>
        <p:nvPicPr>
          <p:cNvPr id="181" name="Google Shape;181;p5" descr="「ilo logo」の画像検索結果"/>
          <p:cNvPicPr preferRelativeResize="0"/>
          <p:nvPr/>
        </p:nvPicPr>
        <p:blipFill rotWithShape="1">
          <a:blip r:embed="rId6">
            <a:alphaModFix/>
          </a:blip>
          <a:srcRect/>
          <a:stretch/>
        </p:blipFill>
        <p:spPr>
          <a:xfrm>
            <a:off x="6897513" y="1222862"/>
            <a:ext cx="1799970" cy="1799970"/>
          </a:xfrm>
          <a:prstGeom prst="rect">
            <a:avLst/>
          </a:prstGeom>
          <a:noFill/>
          <a:ln>
            <a:noFill/>
          </a:ln>
        </p:spPr>
      </p:pic>
      <p:pic>
        <p:nvPicPr>
          <p:cNvPr id="182" name="Google Shape;182;p5" descr="http://www.logoeps.net/wp-content/uploads/2012/05/unido-logo.jpg"/>
          <p:cNvPicPr preferRelativeResize="0"/>
          <p:nvPr/>
        </p:nvPicPr>
        <p:blipFill rotWithShape="1">
          <a:blip r:embed="rId7">
            <a:alphaModFix/>
          </a:blip>
          <a:srcRect/>
          <a:stretch/>
        </p:blipFill>
        <p:spPr>
          <a:xfrm>
            <a:off x="6865184" y="3150290"/>
            <a:ext cx="1864629" cy="15835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6"/>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8</a:t>
            </a:fld>
            <a:endParaRPr/>
          </a:p>
        </p:txBody>
      </p:sp>
      <p:sp>
        <p:nvSpPr>
          <p:cNvPr id="188" name="Google Shape;188;p6"/>
          <p:cNvSpPr txBox="1">
            <a:spLocks noGrp="1"/>
          </p:cNvSpPr>
          <p:nvPr>
            <p:ph type="title"/>
          </p:nvPr>
        </p:nvSpPr>
        <p:spPr>
          <a:xfrm>
            <a:off x="229651" y="12526"/>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Poppins Medium"/>
              <a:buNone/>
            </a:pPr>
            <a:r>
              <a:rPr lang="ja-JP" sz="2000" b="0">
                <a:latin typeface="Poppins Medium"/>
                <a:ea typeface="Poppins Medium"/>
                <a:cs typeface="Poppins Medium"/>
                <a:sym typeface="Poppins Medium"/>
              </a:rPr>
              <a:t>Contents</a:t>
            </a:r>
            <a:endParaRPr sz="2000" b="0">
              <a:latin typeface="Poppins Medium"/>
              <a:ea typeface="Poppins Medium"/>
              <a:cs typeface="Poppins Medium"/>
              <a:sym typeface="Poppins Medium"/>
            </a:endParaRPr>
          </a:p>
        </p:txBody>
      </p:sp>
      <p:grpSp>
        <p:nvGrpSpPr>
          <p:cNvPr id="189" name="Google Shape;189;p6"/>
          <p:cNvGrpSpPr/>
          <p:nvPr/>
        </p:nvGrpSpPr>
        <p:grpSpPr>
          <a:xfrm>
            <a:off x="861916" y="3012805"/>
            <a:ext cx="7420169" cy="902208"/>
            <a:chOff x="751559" y="1502789"/>
            <a:chExt cx="7420169" cy="902208"/>
          </a:xfrm>
        </p:grpSpPr>
        <p:pic>
          <p:nvPicPr>
            <p:cNvPr id="190" name="Google Shape;190;p6"/>
            <p:cNvPicPr preferRelativeResize="0"/>
            <p:nvPr/>
          </p:nvPicPr>
          <p:blipFill rotWithShape="1">
            <a:blip r:embed="rId3">
              <a:alphaModFix/>
            </a:blip>
            <a:srcRect t="9460" r="14521" b="24530"/>
            <a:stretch/>
          </p:blipFill>
          <p:spPr>
            <a:xfrm>
              <a:off x="4991848" y="1503123"/>
              <a:ext cx="3179880" cy="901874"/>
            </a:xfrm>
            <a:prstGeom prst="rect">
              <a:avLst/>
            </a:prstGeom>
            <a:noFill/>
            <a:ln>
              <a:noFill/>
            </a:ln>
          </p:spPr>
        </p:pic>
        <p:pic>
          <p:nvPicPr>
            <p:cNvPr id="191" name="Google Shape;191;p6"/>
            <p:cNvPicPr preferRelativeResize="0"/>
            <p:nvPr/>
          </p:nvPicPr>
          <p:blipFill rotWithShape="1">
            <a:blip r:embed="rId4">
              <a:alphaModFix amt="67000"/>
            </a:blip>
            <a:srcRect/>
            <a:stretch/>
          </p:blipFill>
          <p:spPr>
            <a:xfrm>
              <a:off x="5343184" y="1502789"/>
              <a:ext cx="2828544" cy="902208"/>
            </a:xfrm>
            <a:prstGeom prst="rect">
              <a:avLst/>
            </a:prstGeom>
            <a:noFill/>
            <a:ln>
              <a:noFill/>
            </a:ln>
          </p:spPr>
        </p:pic>
        <p:sp>
          <p:nvSpPr>
            <p:cNvPr id="192" name="Google Shape;192;p6"/>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chemeClr val="lt1"/>
                  </a:solidFill>
                  <a:latin typeface="Calibri"/>
                  <a:ea typeface="Calibri"/>
                  <a:cs typeface="Calibri"/>
                  <a:sym typeface="Calibri"/>
                </a:rPr>
                <a:t>プログラムの特徴</a:t>
              </a:r>
              <a:endParaRPr sz="1400" b="0" i="0" u="none" strike="noStrike" cap="none">
                <a:solidFill>
                  <a:srgbClr val="000000"/>
                </a:solidFill>
                <a:latin typeface="Arial"/>
                <a:ea typeface="Arial"/>
                <a:cs typeface="Arial"/>
                <a:sym typeface="Arial"/>
              </a:endParaRPr>
            </a:p>
          </p:txBody>
        </p:sp>
        <p:sp>
          <p:nvSpPr>
            <p:cNvPr id="193" name="Google Shape;193;p6"/>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2</a:t>
              </a:r>
              <a:endParaRPr sz="1600" b="0" i="0" u="none" strike="noStrike" cap="none">
                <a:solidFill>
                  <a:schemeClr val="lt1"/>
                </a:solidFill>
                <a:latin typeface="Poppins Medium"/>
                <a:ea typeface="Poppins Medium"/>
                <a:cs typeface="Poppins Medium"/>
                <a:sym typeface="Poppins Medium"/>
              </a:endParaRPr>
            </a:p>
          </p:txBody>
        </p:sp>
      </p:grpSp>
      <p:grpSp>
        <p:nvGrpSpPr>
          <p:cNvPr id="194" name="Google Shape;194;p6"/>
          <p:cNvGrpSpPr/>
          <p:nvPr/>
        </p:nvGrpSpPr>
        <p:grpSpPr>
          <a:xfrm>
            <a:off x="861916" y="1623304"/>
            <a:ext cx="7404318" cy="902208"/>
            <a:chOff x="854306" y="1428201"/>
            <a:chExt cx="7404318" cy="902208"/>
          </a:xfrm>
        </p:grpSpPr>
        <p:grpSp>
          <p:nvGrpSpPr>
            <p:cNvPr id="195" name="Google Shape;195;p6"/>
            <p:cNvGrpSpPr/>
            <p:nvPr/>
          </p:nvGrpSpPr>
          <p:grpSpPr>
            <a:xfrm>
              <a:off x="854306" y="1428201"/>
              <a:ext cx="7404318" cy="902208"/>
              <a:chOff x="751559" y="1503123"/>
              <a:chExt cx="7404318" cy="902208"/>
            </a:xfrm>
          </p:grpSpPr>
          <p:pic>
            <p:nvPicPr>
              <p:cNvPr id="196" name="Google Shape;196;p6"/>
              <p:cNvPicPr preferRelativeResize="0"/>
              <p:nvPr/>
            </p:nvPicPr>
            <p:blipFill rotWithShape="1">
              <a:blip r:embed="rId4">
                <a:alphaModFix amt="81000"/>
              </a:blip>
              <a:srcRect/>
              <a:stretch/>
            </p:blipFill>
            <p:spPr>
              <a:xfrm>
                <a:off x="5327333" y="1503123"/>
                <a:ext cx="2828544" cy="902208"/>
              </a:xfrm>
              <a:prstGeom prst="rect">
                <a:avLst/>
              </a:prstGeom>
              <a:noFill/>
              <a:ln>
                <a:noFill/>
              </a:ln>
            </p:spPr>
          </p:pic>
          <p:sp>
            <p:nvSpPr>
              <p:cNvPr id="197" name="Google Shape;197;p6"/>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0" i="0" u="none" strike="noStrike" cap="none">
                    <a:solidFill>
                      <a:schemeClr val="lt1"/>
                    </a:solidFill>
                    <a:latin typeface="Poppins Medium"/>
                    <a:ea typeface="Poppins Medium"/>
                    <a:cs typeface="Poppins Medium"/>
                    <a:sym typeface="Poppins Medium"/>
                  </a:rPr>
                  <a:t>IAESTE</a:t>
                </a:r>
                <a:r>
                  <a:rPr lang="ja-JP" sz="2600" b="1" i="0" u="none" strike="noStrike" cap="none">
                    <a:solidFill>
                      <a:schemeClr val="lt1"/>
                    </a:solidFill>
                    <a:latin typeface="Calibri"/>
                    <a:ea typeface="Calibri"/>
                    <a:cs typeface="Calibri"/>
                    <a:sym typeface="Calibri"/>
                  </a:rPr>
                  <a:t>とは</a:t>
                </a:r>
                <a:endParaRPr sz="1400" b="0" i="0" u="none" strike="noStrike" cap="none">
                  <a:solidFill>
                    <a:srgbClr val="000000"/>
                  </a:solidFill>
                  <a:latin typeface="Arial"/>
                  <a:ea typeface="Arial"/>
                  <a:cs typeface="Arial"/>
                  <a:sym typeface="Arial"/>
                </a:endParaRPr>
              </a:p>
            </p:txBody>
          </p:sp>
          <p:sp>
            <p:nvSpPr>
              <p:cNvPr id="198" name="Google Shape;198;p6"/>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1</a:t>
                </a:r>
                <a:endParaRPr sz="1600" b="0" i="0" u="none" strike="noStrike" cap="none">
                  <a:solidFill>
                    <a:schemeClr val="lt1"/>
                  </a:solidFill>
                  <a:latin typeface="Poppins Medium"/>
                  <a:ea typeface="Poppins Medium"/>
                  <a:cs typeface="Poppins Medium"/>
                  <a:sym typeface="Poppins Medium"/>
                </a:endParaRPr>
              </a:p>
            </p:txBody>
          </p:sp>
        </p:grpSp>
        <p:pic>
          <p:nvPicPr>
            <p:cNvPr id="199" name="Google Shape;199;p6"/>
            <p:cNvPicPr preferRelativeResize="0"/>
            <p:nvPr/>
          </p:nvPicPr>
          <p:blipFill rotWithShape="1">
            <a:blip r:embed="rId5">
              <a:alphaModFix/>
            </a:blip>
            <a:srcRect/>
            <a:stretch/>
          </p:blipFill>
          <p:spPr>
            <a:xfrm>
              <a:off x="5994728" y="1526857"/>
              <a:ext cx="1932234" cy="704561"/>
            </a:xfrm>
            <a:prstGeom prst="rect">
              <a:avLst/>
            </a:prstGeom>
            <a:noFill/>
            <a:ln>
              <a:noFill/>
            </a:ln>
          </p:spPr>
        </p:pic>
      </p:grpSp>
      <p:grpSp>
        <p:nvGrpSpPr>
          <p:cNvPr id="200" name="Google Shape;200;p6"/>
          <p:cNvGrpSpPr/>
          <p:nvPr/>
        </p:nvGrpSpPr>
        <p:grpSpPr>
          <a:xfrm>
            <a:off x="861916" y="4402306"/>
            <a:ext cx="7427779" cy="901874"/>
            <a:chOff x="854306" y="4406864"/>
            <a:chExt cx="7427779" cy="901874"/>
          </a:xfrm>
        </p:grpSpPr>
        <p:pic>
          <p:nvPicPr>
            <p:cNvPr id="201" name="Google Shape;201;p6"/>
            <p:cNvPicPr preferRelativeResize="0"/>
            <p:nvPr/>
          </p:nvPicPr>
          <p:blipFill rotWithShape="1">
            <a:blip r:embed="rId6">
              <a:alphaModFix/>
            </a:blip>
            <a:srcRect t="22795" b="353"/>
            <a:stretch/>
          </p:blipFill>
          <p:spPr>
            <a:xfrm>
              <a:off x="5339519" y="4410656"/>
              <a:ext cx="2942566" cy="898082"/>
            </a:xfrm>
            <a:prstGeom prst="rect">
              <a:avLst/>
            </a:prstGeom>
            <a:noFill/>
            <a:ln>
              <a:noFill/>
            </a:ln>
          </p:spPr>
        </p:pic>
        <p:grpSp>
          <p:nvGrpSpPr>
            <p:cNvPr id="202" name="Google Shape;202;p6"/>
            <p:cNvGrpSpPr/>
            <p:nvPr/>
          </p:nvGrpSpPr>
          <p:grpSpPr>
            <a:xfrm>
              <a:off x="854306" y="4406864"/>
              <a:ext cx="7427779" cy="901874"/>
              <a:chOff x="751559" y="1503123"/>
              <a:chExt cx="7427779" cy="901874"/>
            </a:xfrm>
          </p:grpSpPr>
          <p:pic>
            <p:nvPicPr>
              <p:cNvPr id="203" name="Google Shape;203;p6"/>
              <p:cNvPicPr preferRelativeResize="0"/>
              <p:nvPr/>
            </p:nvPicPr>
            <p:blipFill rotWithShape="1">
              <a:blip r:embed="rId4">
                <a:alphaModFix amt="67000"/>
              </a:blip>
              <a:srcRect/>
              <a:stretch/>
            </p:blipFill>
            <p:spPr>
              <a:xfrm>
                <a:off x="5363730" y="1506915"/>
                <a:ext cx="2815608" cy="898082"/>
              </a:xfrm>
              <a:prstGeom prst="rect">
                <a:avLst/>
              </a:prstGeom>
              <a:noFill/>
              <a:ln>
                <a:noFill/>
              </a:ln>
            </p:spPr>
          </p:pic>
          <p:sp>
            <p:nvSpPr>
              <p:cNvPr id="204" name="Google Shape;204;p6"/>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chemeClr val="lt1"/>
                    </a:solidFill>
                    <a:latin typeface="Calibri"/>
                    <a:ea typeface="Calibri"/>
                    <a:cs typeface="Calibri"/>
                    <a:sym typeface="Calibri"/>
                  </a:rPr>
                  <a:t>応募から研修まで</a:t>
                </a:r>
                <a:endParaRPr sz="1400" b="0" i="0" u="none" strike="noStrike" cap="none">
                  <a:solidFill>
                    <a:srgbClr val="000000"/>
                  </a:solidFill>
                  <a:latin typeface="Arial"/>
                  <a:ea typeface="Arial"/>
                  <a:cs typeface="Arial"/>
                  <a:sym typeface="Arial"/>
                </a:endParaRPr>
              </a:p>
            </p:txBody>
          </p:sp>
          <p:sp>
            <p:nvSpPr>
              <p:cNvPr id="205" name="Google Shape;205;p6"/>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3</a:t>
                </a:r>
                <a:endParaRPr sz="1600" b="0" i="0" u="none" strike="noStrike" cap="none">
                  <a:solidFill>
                    <a:schemeClr val="lt1"/>
                  </a:solidFill>
                  <a:latin typeface="Poppins Medium"/>
                  <a:ea typeface="Poppins Medium"/>
                  <a:cs typeface="Poppins Medium"/>
                  <a:sym typeface="Poppins Medium"/>
                </a:endParaRPr>
              </a:p>
            </p:txBody>
          </p:sp>
        </p:grpSp>
      </p:grpSp>
      <p:sp>
        <p:nvSpPr>
          <p:cNvPr id="206" name="Google Shape;206;p6"/>
          <p:cNvSpPr/>
          <p:nvPr/>
        </p:nvSpPr>
        <p:spPr>
          <a:xfrm>
            <a:off x="861916" y="4406098"/>
            <a:ext cx="7427779" cy="898082"/>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7" name="Google Shape;207;p6"/>
          <p:cNvSpPr/>
          <p:nvPr/>
        </p:nvSpPr>
        <p:spPr>
          <a:xfrm>
            <a:off x="838455" y="1518682"/>
            <a:ext cx="7427779" cy="1004599"/>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7"/>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9</a:t>
            </a:fld>
            <a:endParaRPr/>
          </a:p>
        </p:txBody>
      </p:sp>
      <p:sp>
        <p:nvSpPr>
          <p:cNvPr id="213" name="Google Shape;213;p7"/>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プログラムの特徴</a:t>
            </a:r>
            <a:endParaRPr/>
          </a:p>
        </p:txBody>
      </p:sp>
      <p:sp>
        <p:nvSpPr>
          <p:cNvPr id="214" name="Google Shape;214;p7"/>
          <p:cNvSpPr txBox="1"/>
          <p:nvPr/>
        </p:nvSpPr>
        <p:spPr>
          <a:xfrm>
            <a:off x="853032" y="3935146"/>
            <a:ext cx="2246062"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a:solidFill>
                  <a:srgbClr val="478EB4"/>
                </a:solidFill>
                <a:latin typeface="Calibri"/>
                <a:ea typeface="Calibri"/>
                <a:cs typeface="Calibri"/>
                <a:sym typeface="Calibri"/>
              </a:rPr>
              <a:t>専門性の高い分野</a:t>
            </a:r>
            <a:endParaRPr sz="1600" b="1" i="0" u="none" strike="noStrike" cap="none">
              <a:solidFill>
                <a:srgbClr val="478EB4"/>
              </a:solidFill>
              <a:latin typeface="Calibri"/>
              <a:ea typeface="Calibri"/>
              <a:cs typeface="Calibri"/>
              <a:sym typeface="Calibri"/>
            </a:endParaRPr>
          </a:p>
        </p:txBody>
      </p:sp>
      <p:grpSp>
        <p:nvGrpSpPr>
          <p:cNvPr id="215" name="Google Shape;215;p7"/>
          <p:cNvGrpSpPr/>
          <p:nvPr/>
        </p:nvGrpSpPr>
        <p:grpSpPr>
          <a:xfrm>
            <a:off x="1323364" y="2407116"/>
            <a:ext cx="1305399" cy="1305399"/>
            <a:chOff x="1484217" y="2638926"/>
            <a:chExt cx="1188000" cy="1188000"/>
          </a:xfrm>
        </p:grpSpPr>
        <p:sp>
          <p:nvSpPr>
            <p:cNvPr id="216" name="Google Shape;216;p7"/>
            <p:cNvSpPr/>
            <p:nvPr/>
          </p:nvSpPr>
          <p:spPr>
            <a:xfrm>
              <a:off x="1484217" y="2638926"/>
              <a:ext cx="1188000" cy="1188000"/>
            </a:xfrm>
            <a:prstGeom prst="ellipse">
              <a:avLst/>
            </a:prstGeom>
            <a:gradFill>
              <a:gsLst>
                <a:gs pos="0">
                  <a:srgbClr val="185FAE"/>
                </a:gs>
                <a:gs pos="49000">
                  <a:srgbClr val="2498DA"/>
                </a:gs>
                <a:gs pos="100000">
                  <a:srgbClr val="3EB4A8"/>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7" name="Google Shape;217;p7"/>
            <p:cNvSpPr/>
            <p:nvPr/>
          </p:nvSpPr>
          <p:spPr>
            <a:xfrm>
              <a:off x="1682218" y="2820135"/>
              <a:ext cx="792000" cy="792000"/>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218" name="Google Shape;218;p7"/>
          <p:cNvSpPr txBox="1"/>
          <p:nvPr/>
        </p:nvSpPr>
        <p:spPr>
          <a:xfrm>
            <a:off x="3456149" y="3935146"/>
            <a:ext cx="2246062"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ja-JP" sz="1600" b="0" i="0" u="none" strike="noStrike" cap="none">
                <a:solidFill>
                  <a:srgbClr val="478EB4"/>
                </a:solidFill>
                <a:latin typeface="Poppins Medium"/>
                <a:ea typeface="Poppins Medium"/>
                <a:cs typeface="Poppins Medium"/>
                <a:sym typeface="Poppins Medium"/>
              </a:rPr>
              <a:t>8 – 52</a:t>
            </a:r>
            <a:r>
              <a:rPr lang="ja-JP" sz="1600" b="1" i="0" u="none" strike="noStrike" cap="none">
                <a:solidFill>
                  <a:srgbClr val="478EB4"/>
                </a:solidFill>
                <a:latin typeface="Calibri"/>
                <a:ea typeface="Calibri"/>
                <a:cs typeface="Calibri"/>
                <a:sym typeface="Calibri"/>
              </a:rPr>
              <a:t> 週間の</a:t>
            </a:r>
            <a:endParaRPr sz="1600" b="1" i="0" u="none" strike="noStrike" cap="none">
              <a:solidFill>
                <a:srgbClr val="478EB4"/>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a:solidFill>
                  <a:srgbClr val="478EB4"/>
                </a:solidFill>
                <a:latin typeface="Calibri"/>
                <a:ea typeface="Calibri"/>
                <a:cs typeface="Calibri"/>
                <a:sym typeface="Calibri"/>
              </a:rPr>
              <a:t>選べる研修期間</a:t>
            </a:r>
            <a:endParaRPr sz="1600" b="1" i="0" u="none" strike="noStrike" cap="none">
              <a:solidFill>
                <a:srgbClr val="478EB4"/>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478EB4"/>
              </a:solidFill>
              <a:latin typeface="Calibri"/>
              <a:ea typeface="Calibri"/>
              <a:cs typeface="Calibri"/>
              <a:sym typeface="Calibri"/>
            </a:endParaRPr>
          </a:p>
        </p:txBody>
      </p:sp>
      <p:grpSp>
        <p:nvGrpSpPr>
          <p:cNvPr id="219" name="Google Shape;219;p7"/>
          <p:cNvGrpSpPr/>
          <p:nvPr/>
        </p:nvGrpSpPr>
        <p:grpSpPr>
          <a:xfrm>
            <a:off x="3882672" y="2384050"/>
            <a:ext cx="1305399" cy="1305399"/>
            <a:chOff x="4043525" y="2615860"/>
            <a:chExt cx="1188000" cy="1188000"/>
          </a:xfrm>
        </p:grpSpPr>
        <p:sp>
          <p:nvSpPr>
            <p:cNvPr id="220" name="Google Shape;220;p7"/>
            <p:cNvSpPr/>
            <p:nvPr/>
          </p:nvSpPr>
          <p:spPr>
            <a:xfrm>
              <a:off x="4043525" y="2615860"/>
              <a:ext cx="1188000" cy="1188000"/>
            </a:xfrm>
            <a:prstGeom prst="ellipse">
              <a:avLst/>
            </a:prstGeom>
            <a:gradFill>
              <a:gsLst>
                <a:gs pos="0">
                  <a:srgbClr val="185FAE"/>
                </a:gs>
                <a:gs pos="50000">
                  <a:srgbClr val="2498DA"/>
                </a:gs>
                <a:gs pos="100000">
                  <a:srgbClr val="3EB4A8"/>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21" name="Google Shape;221;p7"/>
            <p:cNvGrpSpPr/>
            <p:nvPr/>
          </p:nvGrpSpPr>
          <p:grpSpPr>
            <a:xfrm>
              <a:off x="4241525" y="2813860"/>
              <a:ext cx="792000" cy="792000"/>
              <a:chOff x="4004063" y="8068249"/>
              <a:chExt cx="1088871" cy="1088871"/>
            </a:xfrm>
          </p:grpSpPr>
          <p:sp>
            <p:nvSpPr>
              <p:cNvPr id="222" name="Google Shape;222;p7"/>
              <p:cNvSpPr/>
              <p:nvPr/>
            </p:nvSpPr>
            <p:spPr>
              <a:xfrm>
                <a:off x="4004063" y="8068249"/>
                <a:ext cx="1088871" cy="1088871"/>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23" name="Google Shape;223;p7"/>
              <p:cNvPicPr preferRelativeResize="0"/>
              <p:nvPr/>
            </p:nvPicPr>
            <p:blipFill rotWithShape="1">
              <a:blip r:embed="rId3">
                <a:alphaModFix/>
              </a:blip>
              <a:srcRect/>
              <a:stretch/>
            </p:blipFill>
            <p:spPr>
              <a:xfrm>
                <a:off x="4276253" y="8315530"/>
                <a:ext cx="550947" cy="550947"/>
              </a:xfrm>
              <a:prstGeom prst="rect">
                <a:avLst/>
              </a:prstGeom>
              <a:noFill/>
              <a:ln>
                <a:noFill/>
              </a:ln>
            </p:spPr>
          </p:pic>
        </p:grpSp>
      </p:grpSp>
      <p:sp>
        <p:nvSpPr>
          <p:cNvPr id="224" name="Google Shape;224;p7"/>
          <p:cNvSpPr txBox="1"/>
          <p:nvPr/>
        </p:nvSpPr>
        <p:spPr>
          <a:xfrm>
            <a:off x="5966889" y="3935146"/>
            <a:ext cx="2433682"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a:solidFill>
                  <a:srgbClr val="478EB4"/>
                </a:solidFill>
                <a:latin typeface="Calibri"/>
                <a:ea typeface="Calibri"/>
                <a:cs typeface="Calibri"/>
                <a:sym typeface="Calibri"/>
              </a:rPr>
              <a:t>現地 IAESTEスタッフ</a:t>
            </a:r>
            <a:endParaRPr sz="1600" b="1" i="0" u="none" strike="noStrike" cap="none">
              <a:solidFill>
                <a:srgbClr val="478EB4"/>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a:solidFill>
                  <a:srgbClr val="478EB4"/>
                </a:solidFill>
                <a:latin typeface="Calibri"/>
                <a:ea typeface="Calibri"/>
                <a:cs typeface="Calibri"/>
                <a:sym typeface="Calibri"/>
              </a:rPr>
              <a:t>によるサポート</a:t>
            </a:r>
            <a:endParaRPr sz="1600" b="1" i="0" u="none" strike="noStrike" cap="none">
              <a:solidFill>
                <a:srgbClr val="478EB4"/>
              </a:solidFill>
              <a:latin typeface="Calibri"/>
              <a:ea typeface="Calibri"/>
              <a:cs typeface="Calibri"/>
              <a:sym typeface="Calibri"/>
            </a:endParaRPr>
          </a:p>
        </p:txBody>
      </p:sp>
      <p:grpSp>
        <p:nvGrpSpPr>
          <p:cNvPr id="225" name="Google Shape;225;p7"/>
          <p:cNvGrpSpPr/>
          <p:nvPr/>
        </p:nvGrpSpPr>
        <p:grpSpPr>
          <a:xfrm>
            <a:off x="6420037" y="2368280"/>
            <a:ext cx="1305399" cy="1305399"/>
            <a:chOff x="6580890" y="2600090"/>
            <a:chExt cx="1188000" cy="1188000"/>
          </a:xfrm>
        </p:grpSpPr>
        <p:sp>
          <p:nvSpPr>
            <p:cNvPr id="226" name="Google Shape;226;p7"/>
            <p:cNvSpPr/>
            <p:nvPr/>
          </p:nvSpPr>
          <p:spPr>
            <a:xfrm>
              <a:off x="6580890" y="2600090"/>
              <a:ext cx="1188000" cy="1188000"/>
            </a:xfrm>
            <a:prstGeom prst="ellipse">
              <a:avLst/>
            </a:prstGeom>
            <a:gradFill>
              <a:gsLst>
                <a:gs pos="0">
                  <a:srgbClr val="185FAE"/>
                </a:gs>
                <a:gs pos="50000">
                  <a:srgbClr val="2498DA"/>
                </a:gs>
                <a:gs pos="100000">
                  <a:srgbClr val="3EB4A8"/>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27" name="Google Shape;227;p7"/>
            <p:cNvGrpSpPr/>
            <p:nvPr/>
          </p:nvGrpSpPr>
          <p:grpSpPr>
            <a:xfrm>
              <a:off x="6782321" y="2800005"/>
              <a:ext cx="792000" cy="792000"/>
              <a:chOff x="5955766" y="8068249"/>
              <a:chExt cx="1088871" cy="1088871"/>
            </a:xfrm>
          </p:grpSpPr>
          <p:sp>
            <p:nvSpPr>
              <p:cNvPr id="228" name="Google Shape;228;p7"/>
              <p:cNvSpPr/>
              <p:nvPr/>
            </p:nvSpPr>
            <p:spPr>
              <a:xfrm>
                <a:off x="5955766" y="8068249"/>
                <a:ext cx="1088871" cy="1088871"/>
              </a:xfrm>
              <a:prstGeom prst="ellipse">
                <a:avLst/>
              </a:prstGeom>
              <a:no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29" name="Google Shape;229;p7"/>
              <p:cNvPicPr preferRelativeResize="0"/>
              <p:nvPr/>
            </p:nvPicPr>
            <p:blipFill rotWithShape="1">
              <a:blip r:embed="rId4">
                <a:alphaModFix/>
              </a:blip>
              <a:srcRect/>
              <a:stretch/>
            </p:blipFill>
            <p:spPr>
              <a:xfrm>
                <a:off x="6083412" y="8337209"/>
                <a:ext cx="550947" cy="550947"/>
              </a:xfrm>
              <a:prstGeom prst="rect">
                <a:avLst/>
              </a:prstGeom>
              <a:noFill/>
              <a:ln>
                <a:noFill/>
              </a:ln>
            </p:spPr>
          </p:pic>
          <p:pic>
            <p:nvPicPr>
              <p:cNvPr id="230" name="Google Shape;230;p7"/>
              <p:cNvPicPr preferRelativeResize="0"/>
              <p:nvPr/>
            </p:nvPicPr>
            <p:blipFill rotWithShape="1">
              <a:blip r:embed="rId5">
                <a:alphaModFix/>
              </a:blip>
              <a:srcRect/>
              <a:stretch/>
            </p:blipFill>
            <p:spPr>
              <a:xfrm>
                <a:off x="6421133" y="8346803"/>
                <a:ext cx="531761" cy="531761"/>
              </a:xfrm>
              <a:prstGeom prst="rect">
                <a:avLst/>
              </a:prstGeom>
              <a:noFill/>
              <a:ln>
                <a:noFill/>
              </a:ln>
            </p:spPr>
          </p:pic>
        </p:grpSp>
      </p:grpSp>
      <p:pic>
        <p:nvPicPr>
          <p:cNvPr id="231" name="Google Shape;231;p7"/>
          <p:cNvPicPr preferRelativeResize="0"/>
          <p:nvPr/>
        </p:nvPicPr>
        <p:blipFill rotWithShape="1">
          <a:blip r:embed="rId6">
            <a:alphaModFix/>
          </a:blip>
          <a:srcRect/>
          <a:stretch/>
        </p:blipFill>
        <p:spPr>
          <a:xfrm>
            <a:off x="1701597" y="2772649"/>
            <a:ext cx="548933" cy="548933"/>
          </a:xfrm>
          <a:prstGeom prst="rect">
            <a:avLst/>
          </a:prstGeom>
          <a:noFill/>
          <a:ln>
            <a:noFill/>
          </a:ln>
        </p:spPr>
      </p:pic>
      <p:sp>
        <p:nvSpPr>
          <p:cNvPr id="232" name="Google Shape;232;p7"/>
          <p:cNvSpPr txBox="1"/>
          <p:nvPr/>
        </p:nvSpPr>
        <p:spPr>
          <a:xfrm>
            <a:off x="4975847" y="5538479"/>
            <a:ext cx="3331053"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78EB4"/>
              </a:buClr>
              <a:buSzPts val="1600"/>
              <a:buFont typeface="Arial"/>
              <a:buNone/>
            </a:pPr>
            <a:r>
              <a:rPr lang="ja-JP" sz="1600" b="1" i="0" u="none" strike="noStrike" cap="none">
                <a:solidFill>
                  <a:srgbClr val="478EB4"/>
                </a:solidFill>
                <a:latin typeface="Arial"/>
                <a:ea typeface="Arial"/>
                <a:cs typeface="Arial"/>
                <a:sym typeface="Arial"/>
              </a:rPr>
              <a:t>※日本にいながら行える</a:t>
            </a:r>
            <a:endParaRPr sz="1600" b="1" i="0" u="none" strike="noStrike" cap="none">
              <a:solidFill>
                <a:srgbClr val="478EB4"/>
              </a:solidFill>
              <a:latin typeface="Arial"/>
              <a:ea typeface="Arial"/>
              <a:cs typeface="Arial"/>
              <a:sym typeface="Arial"/>
            </a:endParaRPr>
          </a:p>
          <a:p>
            <a:pPr marL="0" marR="0" lvl="0" indent="0" algn="ctr" rtl="0">
              <a:lnSpc>
                <a:spcPct val="100000"/>
              </a:lnSpc>
              <a:spcBef>
                <a:spcPts val="0"/>
              </a:spcBef>
              <a:spcAft>
                <a:spcPts val="0"/>
              </a:spcAft>
              <a:buClr>
                <a:srgbClr val="478EB4"/>
              </a:buClr>
              <a:buSzPts val="1600"/>
              <a:buFont typeface="Arial"/>
              <a:buNone/>
            </a:pPr>
            <a:r>
              <a:rPr lang="ja-JP" sz="1600" b="1" i="0" u="none" strike="noStrike" cap="none">
                <a:solidFill>
                  <a:srgbClr val="478EB4"/>
                </a:solidFill>
                <a:latin typeface="Arial"/>
                <a:ea typeface="Arial"/>
                <a:cs typeface="Arial"/>
                <a:sym typeface="Arial"/>
              </a:rPr>
              <a:t>リモートインターンシップも</a:t>
            </a:r>
            <a:endParaRPr sz="1600" b="1" i="0" u="none" strike="noStrike" cap="none">
              <a:solidFill>
                <a:srgbClr val="478EB4"/>
              </a:solidFill>
              <a:latin typeface="Arial"/>
              <a:ea typeface="Arial"/>
              <a:cs typeface="Arial"/>
              <a:sym typeface="Arial"/>
            </a:endParaRPr>
          </a:p>
          <a:p>
            <a:pPr marL="0" marR="0" lvl="0" indent="0" algn="ctr" rtl="0">
              <a:lnSpc>
                <a:spcPct val="100000"/>
              </a:lnSpc>
              <a:spcBef>
                <a:spcPts val="0"/>
              </a:spcBef>
              <a:spcAft>
                <a:spcPts val="0"/>
              </a:spcAft>
              <a:buClr>
                <a:srgbClr val="478EB4"/>
              </a:buClr>
              <a:buSzPts val="1600"/>
              <a:buFont typeface="Arial"/>
              <a:buNone/>
            </a:pPr>
            <a:r>
              <a:rPr lang="ja-JP" sz="1600" b="1" i="0" u="none" strike="noStrike" cap="none">
                <a:solidFill>
                  <a:srgbClr val="478EB4"/>
                </a:solidFill>
                <a:latin typeface="Arial"/>
                <a:ea typeface="Arial"/>
                <a:cs typeface="Arial"/>
                <a:sym typeface="Arial"/>
              </a:rPr>
              <a:t>あります。</a:t>
            </a:r>
            <a:endParaRPr sz="1600" b="1" i="0" u="none" strike="noStrike" cap="none">
              <a:solidFill>
                <a:srgbClr val="478EB4"/>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8"/>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10</a:t>
            </a:fld>
            <a:endParaRPr/>
          </a:p>
        </p:txBody>
      </p:sp>
      <p:sp>
        <p:nvSpPr>
          <p:cNvPr id="238" name="Google Shape;238;p8"/>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プログラムの特徴</a:t>
            </a:r>
            <a:endParaRPr/>
          </a:p>
        </p:txBody>
      </p:sp>
      <p:pic>
        <p:nvPicPr>
          <p:cNvPr id="239" name="Google Shape;239;p8"/>
          <p:cNvPicPr preferRelativeResize="0"/>
          <p:nvPr/>
        </p:nvPicPr>
        <p:blipFill rotWithShape="1">
          <a:blip r:embed="rId3">
            <a:alphaModFix/>
          </a:blip>
          <a:srcRect l="5263" r="5263"/>
          <a:stretch/>
        </p:blipFill>
        <p:spPr>
          <a:xfrm>
            <a:off x="1315792" y="2669801"/>
            <a:ext cx="1013494" cy="1313721"/>
          </a:xfrm>
          <a:prstGeom prst="rect">
            <a:avLst/>
          </a:prstGeom>
          <a:noFill/>
          <a:ln>
            <a:noFill/>
          </a:ln>
        </p:spPr>
      </p:pic>
      <p:pic>
        <p:nvPicPr>
          <p:cNvPr id="240" name="Google Shape;240;p8"/>
          <p:cNvPicPr preferRelativeResize="0"/>
          <p:nvPr/>
        </p:nvPicPr>
        <p:blipFill rotWithShape="1">
          <a:blip r:embed="rId4">
            <a:alphaModFix/>
          </a:blip>
          <a:srcRect l="4694" t="-240" r="10803" b="9129"/>
          <a:stretch/>
        </p:blipFill>
        <p:spPr>
          <a:xfrm>
            <a:off x="3052809" y="2720642"/>
            <a:ext cx="1073111" cy="1222154"/>
          </a:xfrm>
          <a:prstGeom prst="rect">
            <a:avLst/>
          </a:prstGeom>
          <a:noFill/>
          <a:ln>
            <a:noFill/>
          </a:ln>
        </p:spPr>
      </p:pic>
      <p:pic>
        <p:nvPicPr>
          <p:cNvPr id="241" name="Google Shape;241;p8"/>
          <p:cNvPicPr preferRelativeResize="0"/>
          <p:nvPr/>
        </p:nvPicPr>
        <p:blipFill rotWithShape="1">
          <a:blip r:embed="rId5">
            <a:alphaModFix/>
          </a:blip>
          <a:srcRect l="3521" r="5734" b="7801"/>
          <a:stretch/>
        </p:blipFill>
        <p:spPr>
          <a:xfrm>
            <a:off x="3047577" y="4538318"/>
            <a:ext cx="1078344" cy="1157248"/>
          </a:xfrm>
          <a:prstGeom prst="rect">
            <a:avLst/>
          </a:prstGeom>
          <a:noFill/>
          <a:ln>
            <a:noFill/>
          </a:ln>
        </p:spPr>
      </p:pic>
      <p:pic>
        <p:nvPicPr>
          <p:cNvPr id="242" name="Google Shape;242;p8"/>
          <p:cNvPicPr preferRelativeResize="0"/>
          <p:nvPr/>
        </p:nvPicPr>
        <p:blipFill rotWithShape="1">
          <a:blip r:embed="rId6">
            <a:alphaModFix/>
          </a:blip>
          <a:srcRect l="10716" r="12506" b="14375"/>
          <a:stretch/>
        </p:blipFill>
        <p:spPr>
          <a:xfrm>
            <a:off x="6535692" y="2660224"/>
            <a:ext cx="1048446" cy="1408534"/>
          </a:xfrm>
          <a:prstGeom prst="rect">
            <a:avLst/>
          </a:prstGeom>
          <a:noFill/>
          <a:ln>
            <a:noFill/>
          </a:ln>
        </p:spPr>
      </p:pic>
      <p:pic>
        <p:nvPicPr>
          <p:cNvPr id="243" name="Google Shape;243;p8"/>
          <p:cNvPicPr preferRelativeResize="0"/>
          <p:nvPr/>
        </p:nvPicPr>
        <p:blipFill rotWithShape="1">
          <a:blip r:embed="rId7">
            <a:alphaModFix/>
          </a:blip>
          <a:srcRect l="12869" t="8748" r="16377" b="12521"/>
          <a:stretch/>
        </p:blipFill>
        <p:spPr>
          <a:xfrm>
            <a:off x="4849443" y="2706850"/>
            <a:ext cx="962726" cy="1290463"/>
          </a:xfrm>
          <a:prstGeom prst="rect">
            <a:avLst/>
          </a:prstGeom>
          <a:noFill/>
          <a:ln>
            <a:noFill/>
          </a:ln>
        </p:spPr>
      </p:pic>
      <p:pic>
        <p:nvPicPr>
          <p:cNvPr id="244" name="Google Shape;244;p8"/>
          <p:cNvPicPr preferRelativeResize="0"/>
          <p:nvPr/>
        </p:nvPicPr>
        <p:blipFill rotWithShape="1">
          <a:blip r:embed="rId8">
            <a:alphaModFix/>
          </a:blip>
          <a:srcRect t="3761" r="6343" b="15008"/>
          <a:stretch/>
        </p:blipFill>
        <p:spPr>
          <a:xfrm>
            <a:off x="1204325" y="4587414"/>
            <a:ext cx="1030999" cy="1077169"/>
          </a:xfrm>
          <a:prstGeom prst="rect">
            <a:avLst/>
          </a:prstGeom>
          <a:noFill/>
          <a:ln>
            <a:noFill/>
          </a:ln>
        </p:spPr>
      </p:pic>
      <p:sp>
        <p:nvSpPr>
          <p:cNvPr id="245" name="Google Shape;245;p8"/>
          <p:cNvSpPr txBox="1"/>
          <p:nvPr/>
        </p:nvSpPr>
        <p:spPr>
          <a:xfrm>
            <a:off x="4760207" y="4589920"/>
            <a:ext cx="3735318" cy="8540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rgbClr val="3F3F3F"/>
                </a:solidFill>
                <a:latin typeface="Calibri"/>
                <a:ea typeface="Calibri"/>
                <a:cs typeface="Calibri"/>
                <a:sym typeface="Calibri"/>
              </a:rPr>
              <a:t>およそ</a:t>
            </a:r>
            <a:r>
              <a:rPr lang="ja-JP" sz="4950" b="0" i="0" u="none" strike="noStrike" cap="none">
                <a:solidFill>
                  <a:srgbClr val="FFC400"/>
                </a:solidFill>
                <a:latin typeface="Poppins Medium"/>
                <a:ea typeface="Poppins Medium"/>
                <a:cs typeface="Poppins Medium"/>
                <a:sym typeface="Poppins Medium"/>
              </a:rPr>
              <a:t>250</a:t>
            </a:r>
            <a:r>
              <a:rPr lang="ja-JP" sz="2000" b="1" i="0" u="none" strike="noStrike" cap="none">
                <a:solidFill>
                  <a:srgbClr val="3F3F3F"/>
                </a:solidFill>
                <a:latin typeface="Calibri"/>
                <a:ea typeface="Calibri"/>
                <a:cs typeface="Calibri"/>
                <a:sym typeface="Calibri"/>
              </a:rPr>
              <a:t>の</a:t>
            </a:r>
            <a:r>
              <a:rPr lang="ja-JP" sz="2400" b="1" i="0" u="none" strike="noStrike" cap="none">
                <a:solidFill>
                  <a:srgbClr val="3F3F3F"/>
                </a:solidFill>
                <a:latin typeface="Calibri"/>
                <a:ea typeface="Calibri"/>
                <a:cs typeface="Calibri"/>
                <a:sym typeface="Calibri"/>
              </a:rPr>
              <a:t>専門分野</a:t>
            </a:r>
            <a:endParaRPr sz="1400" b="0" i="0" u="none" strike="noStrike" cap="none">
              <a:solidFill>
                <a:srgbClr val="000000"/>
              </a:solidFill>
              <a:latin typeface="Arial"/>
              <a:ea typeface="Arial"/>
              <a:cs typeface="Arial"/>
              <a:sym typeface="Arial"/>
            </a:endParaRPr>
          </a:p>
        </p:txBody>
      </p:sp>
      <p:sp>
        <p:nvSpPr>
          <p:cNvPr id="246" name="Google Shape;246;p8"/>
          <p:cNvSpPr txBox="1"/>
          <p:nvPr/>
        </p:nvSpPr>
        <p:spPr>
          <a:xfrm>
            <a:off x="472965" y="914400"/>
            <a:ext cx="525517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2498DA"/>
                </a:solidFill>
                <a:latin typeface="Calibri"/>
                <a:ea typeface="Calibri"/>
                <a:cs typeface="Calibri"/>
                <a:sym typeface="Calibri"/>
              </a:rPr>
              <a:t>幅広い専門分野</a:t>
            </a:r>
            <a:endParaRPr sz="1400" b="0" i="0" u="none" strike="noStrike" cap="none">
              <a:solidFill>
                <a:srgbClr val="000000"/>
              </a:solidFill>
              <a:latin typeface="Arial"/>
              <a:ea typeface="Arial"/>
              <a:cs typeface="Arial"/>
              <a:sym typeface="Arial"/>
            </a:endParaRPr>
          </a:p>
        </p:txBody>
      </p:sp>
      <p:sp>
        <p:nvSpPr>
          <p:cNvPr id="247" name="Google Shape;247;p8"/>
          <p:cNvSpPr txBox="1"/>
          <p:nvPr/>
        </p:nvSpPr>
        <p:spPr>
          <a:xfrm>
            <a:off x="1082963" y="1856791"/>
            <a:ext cx="73544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dk1"/>
                </a:solidFill>
                <a:latin typeface="Calibri"/>
                <a:ea typeface="Calibri"/>
                <a:cs typeface="Calibri"/>
                <a:sym typeface="Calibri"/>
              </a:rPr>
              <a:t>大学や研究機関など専門性の高いインターン先で技術研修ができる。</a:t>
            </a:r>
            <a:endParaRPr sz="1800" b="1" i="0" u="none" strike="noStrike" cap="none">
              <a:solidFill>
                <a:schemeClr val="dk1"/>
              </a:solidFill>
              <a:latin typeface="Calibri"/>
              <a:ea typeface="Calibri"/>
              <a:cs typeface="Calibri"/>
              <a:sym typeface="Calibri"/>
            </a:endParaRPr>
          </a:p>
        </p:txBody>
      </p:sp>
      <p:sp>
        <p:nvSpPr>
          <p:cNvPr id="248" name="Google Shape;248;p8"/>
          <p:cNvSpPr txBox="1"/>
          <p:nvPr/>
        </p:nvSpPr>
        <p:spPr>
          <a:xfrm>
            <a:off x="4754168" y="5394572"/>
            <a:ext cx="377539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rgbClr val="7F7F7F"/>
                </a:solidFill>
                <a:latin typeface="Calibri"/>
                <a:ea typeface="Calibri"/>
                <a:cs typeface="Calibri"/>
                <a:sym typeface="Calibri"/>
              </a:rPr>
              <a:t>自分の専攻分野に近い分野を選ぶことが可能</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プログラムの特徴</a:t>
            </a:r>
            <a:endParaRPr/>
          </a:p>
        </p:txBody>
      </p:sp>
      <p:graphicFrame>
        <p:nvGraphicFramePr>
          <p:cNvPr id="255" name="Google Shape;255;p1"/>
          <p:cNvGraphicFramePr/>
          <p:nvPr/>
        </p:nvGraphicFramePr>
        <p:xfrm>
          <a:off x="229651" y="2546190"/>
          <a:ext cx="8751800" cy="3692125"/>
        </p:xfrm>
        <a:graphic>
          <a:graphicData uri="http://schemas.openxmlformats.org/drawingml/2006/table">
            <a:tbl>
              <a:tblPr>
                <a:noFill/>
                <a:tableStyleId>{02FEB39E-33E0-4033-A97A-97D64E5FD191}</a:tableStyleId>
              </a:tblPr>
              <a:tblGrid>
                <a:gridCol w="437600">
                  <a:extLst>
                    <a:ext uri="{9D8B030D-6E8A-4147-A177-3AD203B41FA5}">
                      <a16:colId xmlns:a16="http://schemas.microsoft.com/office/drawing/2014/main" val="20000"/>
                    </a:ext>
                  </a:extLst>
                </a:gridCol>
                <a:gridCol w="3938300">
                  <a:extLst>
                    <a:ext uri="{9D8B030D-6E8A-4147-A177-3AD203B41FA5}">
                      <a16:colId xmlns:a16="http://schemas.microsoft.com/office/drawing/2014/main" val="20001"/>
                    </a:ext>
                  </a:extLst>
                </a:gridCol>
                <a:gridCol w="437600">
                  <a:extLst>
                    <a:ext uri="{9D8B030D-6E8A-4147-A177-3AD203B41FA5}">
                      <a16:colId xmlns:a16="http://schemas.microsoft.com/office/drawing/2014/main" val="20002"/>
                    </a:ext>
                  </a:extLst>
                </a:gridCol>
                <a:gridCol w="3938300">
                  <a:extLst>
                    <a:ext uri="{9D8B030D-6E8A-4147-A177-3AD203B41FA5}">
                      <a16:colId xmlns:a16="http://schemas.microsoft.com/office/drawing/2014/main" val="20003"/>
                    </a:ext>
                  </a:extLst>
                </a:gridCol>
              </a:tblGrid>
              <a:tr h="573950">
                <a:tc>
                  <a:txBody>
                    <a:bodyPr/>
                    <a:lstStyle/>
                    <a:p>
                      <a:pPr marL="0" marR="0" lvl="0" indent="0" algn="ctr" rtl="0">
                        <a:lnSpc>
                          <a:spcPct val="100000"/>
                        </a:lnSpc>
                        <a:spcBef>
                          <a:spcPts val="0"/>
                        </a:spcBef>
                        <a:spcAft>
                          <a:spcPts val="0"/>
                        </a:spcAft>
                        <a:buNone/>
                      </a:pPr>
                      <a:r>
                        <a:rPr lang="ja-JP" sz="1100" u="none" strike="noStrike" cap="none"/>
                        <a:t>01</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200" u="none" strike="noStrike" cap="none"/>
                        <a:t>AGRICULTURE, AGRICULTURE OPERATIONS AND RELATED SCIENCES AND FOOD SCIENCE</a:t>
                      </a:r>
                      <a:endParaRPr sz="12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40A</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200" u="none" strike="noStrike" cap="none"/>
                        <a:t>PHYSICAL SCIENCES, Other</a:t>
                      </a:r>
                      <a:endParaRPr sz="1200" b="1" i="0" u="none" strike="noStrike" cap="none">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0"/>
                  </a:ext>
                </a:extLst>
              </a:tr>
              <a:tr h="339850">
                <a:tc>
                  <a:txBody>
                    <a:bodyPr/>
                    <a:lstStyle/>
                    <a:p>
                      <a:pPr marL="0" marR="0" lvl="0" indent="0" algn="ctr" rtl="0">
                        <a:lnSpc>
                          <a:spcPct val="100000"/>
                        </a:lnSpc>
                        <a:spcBef>
                          <a:spcPts val="0"/>
                        </a:spcBef>
                        <a:spcAft>
                          <a:spcPts val="0"/>
                        </a:spcAft>
                        <a:buNone/>
                      </a:pPr>
                      <a:r>
                        <a:rPr lang="ja-JP" sz="1100" u="none" strike="noStrike" cap="none"/>
                        <a:t>03</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NATURAL RESOURCES AND CONSERVATION</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40B</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PHYSICS</a:t>
                      </a:r>
                      <a:endParaRPr sz="1100" b="1" i="0" u="none" strike="noStrike" cap="none">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1"/>
                  </a:ext>
                </a:extLst>
              </a:tr>
              <a:tr h="339850">
                <a:tc>
                  <a:txBody>
                    <a:bodyPr/>
                    <a:lstStyle/>
                    <a:p>
                      <a:pPr marL="0" marR="0" lvl="0" indent="0" algn="ctr" rtl="0">
                        <a:lnSpc>
                          <a:spcPct val="100000"/>
                        </a:lnSpc>
                        <a:spcBef>
                          <a:spcPts val="0"/>
                        </a:spcBef>
                        <a:spcAft>
                          <a:spcPts val="0"/>
                        </a:spcAft>
                        <a:buNone/>
                      </a:pPr>
                      <a:r>
                        <a:rPr lang="ja-JP" sz="1100" u="none" strike="noStrike" cap="none"/>
                        <a:t>04</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ARCHITECTURE AND RELATED SERVICES.</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40C</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CHEMISTRY, MATERIAL SCIENCE, AND CHEMICAL ENGINEERING</a:t>
                      </a:r>
                      <a:endParaRPr sz="1100" b="1" i="0" u="none" strike="noStrike" cap="none">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2"/>
                  </a:ext>
                </a:extLst>
              </a:tr>
              <a:tr h="333250">
                <a:tc>
                  <a:txBody>
                    <a:bodyPr/>
                    <a:lstStyle/>
                    <a:p>
                      <a:pPr marL="0" marR="0" lvl="0" indent="0" algn="ctr" rtl="0">
                        <a:lnSpc>
                          <a:spcPct val="100000"/>
                        </a:lnSpc>
                        <a:spcBef>
                          <a:spcPts val="0"/>
                        </a:spcBef>
                        <a:spcAft>
                          <a:spcPts val="0"/>
                        </a:spcAft>
                        <a:buNone/>
                      </a:pPr>
                      <a:r>
                        <a:rPr lang="ja-JP" sz="1100" u="none" strike="noStrike" cap="none"/>
                        <a:t>11</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COMPUTER AND INFORMATION SCIENCES AND SUPPORT SERVICES.</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40D</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MATERIALS SCIENCES AND ENGINEERING</a:t>
                      </a:r>
                      <a:endParaRPr sz="1100" b="1" i="0" u="none" strike="noStrike" cap="none">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3"/>
                  </a:ext>
                </a:extLst>
              </a:tr>
              <a:tr h="333250">
                <a:tc>
                  <a:txBody>
                    <a:bodyPr/>
                    <a:lstStyle/>
                    <a:p>
                      <a:pPr marL="0" marR="0" lvl="0" indent="0" algn="ctr" rtl="0">
                        <a:lnSpc>
                          <a:spcPct val="100000"/>
                        </a:lnSpc>
                        <a:spcBef>
                          <a:spcPts val="0"/>
                        </a:spcBef>
                        <a:spcAft>
                          <a:spcPts val="0"/>
                        </a:spcAft>
                        <a:buNone/>
                      </a:pPr>
                      <a:r>
                        <a:rPr lang="ja-JP" sz="1100" u="none" strike="noStrike" cap="none"/>
                        <a:t>14A</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ENGINEERING, Other</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42</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PSYCHOLOGY.</a:t>
                      </a:r>
                      <a:endParaRPr sz="1100" b="1" i="0" u="none" strike="noStrike" cap="none">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4"/>
                  </a:ext>
                </a:extLst>
              </a:tr>
              <a:tr h="333250">
                <a:tc>
                  <a:txBody>
                    <a:bodyPr/>
                    <a:lstStyle/>
                    <a:p>
                      <a:pPr marL="0" marR="0" lvl="0" indent="0" algn="ctr" rtl="0">
                        <a:lnSpc>
                          <a:spcPct val="100000"/>
                        </a:lnSpc>
                        <a:spcBef>
                          <a:spcPts val="0"/>
                        </a:spcBef>
                        <a:spcAft>
                          <a:spcPts val="0"/>
                        </a:spcAft>
                        <a:buNone/>
                      </a:pPr>
                      <a:r>
                        <a:rPr lang="ja-JP" sz="1100" u="none" strike="noStrike" cap="none"/>
                        <a:t>14B</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CIVIL ENGINEERING, GEOLOGY AND MINING</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45</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SOCIAL SCIENCES.</a:t>
                      </a:r>
                      <a:endParaRPr sz="1100" b="1" i="0" u="none" strike="noStrike" cap="none">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5"/>
                  </a:ext>
                </a:extLst>
              </a:tr>
              <a:tr h="438975">
                <a:tc>
                  <a:txBody>
                    <a:bodyPr/>
                    <a:lstStyle/>
                    <a:p>
                      <a:pPr marL="0" marR="0" lvl="0" indent="0" algn="ctr" rtl="0">
                        <a:lnSpc>
                          <a:spcPct val="100000"/>
                        </a:lnSpc>
                        <a:spcBef>
                          <a:spcPts val="0"/>
                        </a:spcBef>
                        <a:spcAft>
                          <a:spcPts val="0"/>
                        </a:spcAft>
                        <a:buNone/>
                      </a:pPr>
                      <a:r>
                        <a:rPr lang="ja-JP" sz="1100" u="none" strike="noStrike" cap="none"/>
                        <a:t>14C</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200" u="none" strike="noStrike" cap="none"/>
                        <a:t>ELECTRICAL AND ELECTRONICS ENGINEERING</a:t>
                      </a:r>
                      <a:endParaRPr sz="12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52</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BUSINESS, MANAGEMENT, MARKETING, </a:t>
                      </a:r>
                      <a:br>
                        <a:rPr lang="ja-JP" sz="1100" u="none" strike="noStrike" cap="none"/>
                      </a:br>
                      <a:r>
                        <a:rPr lang="ja-JP" sz="1100" u="none" strike="noStrike" cap="none"/>
                        <a:t>AND RELATED SUPPORT SERVICES.</a:t>
                      </a:r>
                      <a:endParaRPr sz="1100" b="1" i="0" u="none" strike="noStrike" cap="none">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6"/>
                  </a:ext>
                </a:extLst>
              </a:tr>
              <a:tr h="333250">
                <a:tc>
                  <a:txBody>
                    <a:bodyPr/>
                    <a:lstStyle/>
                    <a:p>
                      <a:pPr marL="0" marR="0" lvl="0" indent="0" algn="ctr" rtl="0">
                        <a:lnSpc>
                          <a:spcPct val="100000"/>
                        </a:lnSpc>
                        <a:spcBef>
                          <a:spcPts val="0"/>
                        </a:spcBef>
                        <a:spcAft>
                          <a:spcPts val="0"/>
                        </a:spcAft>
                        <a:buNone/>
                      </a:pPr>
                      <a:r>
                        <a:rPr lang="ja-JP" sz="1100" u="none" strike="noStrike" cap="none"/>
                        <a:t>14D</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MECHANICAL ENGINEERING</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09</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COMMUNICATION, JOURNALISM, AND RELATED PROGRAMS.</a:t>
                      </a:r>
                      <a:endParaRPr sz="1100" b="1" i="0" u="none" strike="noStrike" cap="none">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7"/>
                  </a:ext>
                </a:extLst>
              </a:tr>
              <a:tr h="333250">
                <a:tc>
                  <a:txBody>
                    <a:bodyPr/>
                    <a:lstStyle/>
                    <a:p>
                      <a:pPr marL="0" marR="0" lvl="0" indent="0" algn="ctr" rtl="0">
                        <a:lnSpc>
                          <a:spcPct val="100000"/>
                        </a:lnSpc>
                        <a:spcBef>
                          <a:spcPts val="0"/>
                        </a:spcBef>
                        <a:spcAft>
                          <a:spcPts val="0"/>
                        </a:spcAft>
                        <a:buNone/>
                      </a:pPr>
                      <a:r>
                        <a:rPr lang="ja-JP" sz="1100" u="none" strike="noStrike" cap="none"/>
                        <a:t>26</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BIOLOGICAL AND BIOMEDICAL SCIENCES.</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13</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EDUCATION.</a:t>
                      </a:r>
                      <a:endParaRPr sz="1100" b="1" i="0" u="none" strike="noStrike" cap="none">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8"/>
                  </a:ext>
                </a:extLst>
              </a:tr>
              <a:tr h="333250">
                <a:tc>
                  <a:txBody>
                    <a:bodyPr/>
                    <a:lstStyle/>
                    <a:p>
                      <a:pPr marL="0" marR="0" lvl="0" indent="0" algn="ctr" rtl="0">
                        <a:lnSpc>
                          <a:spcPct val="100000"/>
                        </a:lnSpc>
                        <a:spcBef>
                          <a:spcPts val="0"/>
                        </a:spcBef>
                        <a:spcAft>
                          <a:spcPts val="0"/>
                        </a:spcAft>
                        <a:buNone/>
                      </a:pPr>
                      <a:r>
                        <a:rPr lang="ja-JP" sz="1100" u="none" strike="noStrike" cap="none"/>
                        <a:t>27</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1100" u="none" strike="noStrike" cap="none"/>
                        <a:t>MATHEMATICS AND STATISTICS.</a:t>
                      </a:r>
                      <a:endParaRPr sz="1100" b="1"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ctr" rtl="0">
                        <a:lnSpc>
                          <a:spcPct val="100000"/>
                        </a:lnSpc>
                        <a:spcBef>
                          <a:spcPts val="0"/>
                        </a:spcBef>
                        <a:spcAft>
                          <a:spcPts val="0"/>
                        </a:spcAft>
                        <a:buNone/>
                      </a:pPr>
                      <a:r>
                        <a:rPr lang="ja-JP" sz="1100" u="none" strike="noStrike" cap="none"/>
                        <a:t>　</a:t>
                      </a:r>
                      <a:endParaRPr sz="1100" b="0" i="0" u="none" strike="noStrike" cap="none">
                        <a:solidFill>
                          <a:srgbClr val="000000"/>
                        </a:solidFill>
                        <a:latin typeface="Arial"/>
                        <a:ea typeface="Arial"/>
                        <a:cs typeface="Arial"/>
                        <a:sym typeface="Arial"/>
                      </a:endParaRPr>
                    </a:p>
                  </a:txBody>
                  <a:tcPr marL="4775" marR="4775" marT="4775" marB="0" anchor="ctr"/>
                </a:tc>
                <a:tc>
                  <a:txBody>
                    <a:bodyPr/>
                    <a:lstStyle/>
                    <a:p>
                      <a:pPr marL="0" marR="0" lvl="0" indent="0" algn="l" rtl="0">
                        <a:lnSpc>
                          <a:spcPct val="100000"/>
                        </a:lnSpc>
                        <a:spcBef>
                          <a:spcPts val="0"/>
                        </a:spcBef>
                        <a:spcAft>
                          <a:spcPts val="0"/>
                        </a:spcAft>
                        <a:buNone/>
                      </a:pPr>
                      <a:r>
                        <a:rPr lang="ja-JP" sz="2000" u="none" strike="noStrike" cap="none" dirty="0"/>
                        <a:t>　</a:t>
                      </a:r>
                      <a:endParaRPr sz="2000" b="0" i="0" u="none" strike="noStrike" cap="none" dirty="0">
                        <a:solidFill>
                          <a:srgbClr val="000000"/>
                        </a:solidFill>
                        <a:latin typeface="Arial"/>
                        <a:ea typeface="Arial"/>
                        <a:cs typeface="Arial"/>
                        <a:sym typeface="Arial"/>
                      </a:endParaRPr>
                    </a:p>
                  </a:txBody>
                  <a:tcPr marL="4775" marR="4775" marT="4775" marB="0" anchor="ctr"/>
                </a:tc>
                <a:extLst>
                  <a:ext uri="{0D108BD9-81ED-4DB2-BD59-A6C34878D82A}">
                    <a16:rowId xmlns:a16="http://schemas.microsoft.com/office/drawing/2014/main" val="10009"/>
                  </a:ext>
                </a:extLst>
              </a:tr>
            </a:tbl>
          </a:graphicData>
        </a:graphic>
      </p:graphicFrame>
      <p:sp>
        <p:nvSpPr>
          <p:cNvPr id="256" name="Google Shape;256;p1"/>
          <p:cNvSpPr txBox="1"/>
          <p:nvPr/>
        </p:nvSpPr>
        <p:spPr>
          <a:xfrm>
            <a:off x="386605" y="977491"/>
            <a:ext cx="3621515"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2000" b="1" i="0" u="none" strike="noStrike" cap="none">
                <a:solidFill>
                  <a:schemeClr val="accent5"/>
                </a:solidFill>
                <a:latin typeface="Calibri"/>
                <a:ea typeface="Calibri"/>
                <a:cs typeface="Calibri"/>
                <a:sym typeface="Calibri"/>
              </a:rPr>
              <a:t>研修分野番号について</a:t>
            </a:r>
            <a:endParaRPr sz="1400" b="1" i="0" u="none" strike="noStrike" cap="none">
              <a:solidFill>
                <a:schemeClr val="accent5"/>
              </a:solidFill>
              <a:latin typeface="Calibri"/>
              <a:ea typeface="Calibri"/>
              <a:cs typeface="Calibri"/>
              <a:sym typeface="Calibri"/>
            </a:endParaRPr>
          </a:p>
        </p:txBody>
      </p:sp>
      <p:sp>
        <p:nvSpPr>
          <p:cNvPr id="257" name="Google Shape;257;p1"/>
          <p:cNvSpPr txBox="1"/>
          <p:nvPr/>
        </p:nvSpPr>
        <p:spPr>
          <a:xfrm>
            <a:off x="386605" y="1535744"/>
            <a:ext cx="483108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1800" b="0" i="0" u="none" strike="noStrike" cap="none">
                <a:solidFill>
                  <a:srgbClr val="000000"/>
                </a:solidFill>
                <a:latin typeface="Arial"/>
                <a:ea typeface="Arial"/>
                <a:cs typeface="Arial"/>
                <a:sym typeface="Arial"/>
              </a:rPr>
              <a:t>Ex) “01○○○○”という番号</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ja-JP" sz="1800" b="0" i="0" u="none" strike="noStrike" cap="none">
                <a:solidFill>
                  <a:srgbClr val="000000"/>
                </a:solidFill>
                <a:latin typeface="Arial"/>
                <a:ea typeface="Arial"/>
                <a:cs typeface="Arial"/>
                <a:sym typeface="Arial"/>
              </a:rPr>
              <a:t>⇒農業、食品化学などの分野</a:t>
            </a:r>
            <a:endParaRPr/>
          </a:p>
        </p:txBody>
      </p:sp>
      <p:sp>
        <p:nvSpPr>
          <p:cNvPr id="2" name="正方形/長方形 1">
            <a:extLst>
              <a:ext uri="{FF2B5EF4-FFF2-40B4-BE49-F238E27FC236}">
                <a16:creationId xmlns:a16="http://schemas.microsoft.com/office/drawing/2014/main" id="{220D4299-B345-C547-0ABA-2A19325C8F0D}"/>
              </a:ext>
            </a:extLst>
          </p:cNvPr>
          <p:cNvSpPr/>
          <p:nvPr/>
        </p:nvSpPr>
        <p:spPr>
          <a:xfrm>
            <a:off x="6791325" y="2280340"/>
            <a:ext cx="1800225" cy="2658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t>応募要項より抜粋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9"/>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12</a:t>
            </a:fld>
            <a:endParaRPr/>
          </a:p>
        </p:txBody>
      </p:sp>
      <p:sp>
        <p:nvSpPr>
          <p:cNvPr id="263" name="Google Shape;263;p9"/>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プログラムの特徴</a:t>
            </a:r>
            <a:endParaRPr/>
          </a:p>
        </p:txBody>
      </p:sp>
      <p:sp>
        <p:nvSpPr>
          <p:cNvPr id="264" name="Google Shape;264;p9"/>
          <p:cNvSpPr txBox="1"/>
          <p:nvPr/>
        </p:nvSpPr>
        <p:spPr>
          <a:xfrm>
            <a:off x="482334" y="1711998"/>
            <a:ext cx="5705495" cy="132343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altLang="en-US" sz="2400" b="0" i="0" u="none" strike="noStrike" cap="none" dirty="0">
                <a:solidFill>
                  <a:schemeClr val="dk1"/>
                </a:solidFill>
                <a:latin typeface="Calibri"/>
                <a:ea typeface="Calibri"/>
                <a:cs typeface="Calibri"/>
                <a:sym typeface="Calibri"/>
              </a:rPr>
              <a:t>研修</a:t>
            </a:r>
            <a:r>
              <a:rPr lang="ja-JP" sz="2400" b="0" i="0" u="none" strike="noStrike" cap="none" dirty="0">
                <a:solidFill>
                  <a:schemeClr val="dk1"/>
                </a:solidFill>
                <a:latin typeface="Calibri"/>
                <a:ea typeface="Calibri"/>
                <a:cs typeface="Calibri"/>
                <a:sym typeface="Calibri"/>
              </a:rPr>
              <a:t>生OB</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ja-JP" sz="2400" b="0" i="0" u="none" strike="noStrike" cap="none" dirty="0">
                <a:solidFill>
                  <a:schemeClr val="dk1"/>
                </a:solidFill>
                <a:latin typeface="Calibri"/>
                <a:ea typeface="Calibri"/>
                <a:cs typeface="Calibri"/>
                <a:sym typeface="Calibri"/>
              </a:rPr>
              <a:t>宇宙飛行士の</a:t>
            </a:r>
            <a:r>
              <a:rPr lang="ja-JP" sz="2800" b="1" i="0" u="none" strike="noStrike" cap="none" dirty="0">
                <a:solidFill>
                  <a:schemeClr val="dk1"/>
                </a:solidFill>
                <a:latin typeface="Calibri"/>
                <a:ea typeface="Calibri"/>
                <a:cs typeface="Calibri"/>
                <a:sym typeface="Calibri"/>
              </a:rPr>
              <a:t>野口聡一さん</a:t>
            </a:r>
            <a:r>
              <a:rPr lang="ja-JP" sz="2800" b="0" i="0" u="none" strike="noStrike" cap="none" dirty="0">
                <a:solidFill>
                  <a:schemeClr val="dk1"/>
                </a:solidFill>
                <a:latin typeface="Calibri"/>
                <a:ea typeface="Calibri"/>
                <a:cs typeface="Calibri"/>
                <a:sym typeface="Calibri"/>
              </a:rPr>
              <a:t>、</a:t>
            </a:r>
            <a:endParaRPr sz="28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dirty="0">
                <a:solidFill>
                  <a:schemeClr val="dk1"/>
                </a:solidFill>
                <a:latin typeface="Calibri"/>
                <a:ea typeface="Calibri"/>
                <a:cs typeface="Calibri"/>
                <a:sym typeface="Calibri"/>
              </a:rPr>
              <a:t>　　　　星出彰彦さん</a:t>
            </a:r>
            <a:endParaRPr sz="2800" b="1" i="0" u="none" strike="noStrike" cap="none" dirty="0">
              <a:solidFill>
                <a:schemeClr val="dk1"/>
              </a:solidFill>
              <a:latin typeface="Calibri"/>
              <a:ea typeface="Calibri"/>
              <a:cs typeface="Calibri"/>
              <a:sym typeface="Calibri"/>
            </a:endParaRPr>
          </a:p>
        </p:txBody>
      </p:sp>
      <p:sp>
        <p:nvSpPr>
          <p:cNvPr id="265" name="Google Shape;265;p9"/>
          <p:cNvSpPr/>
          <p:nvPr/>
        </p:nvSpPr>
        <p:spPr>
          <a:xfrm>
            <a:off x="2804794" y="3416413"/>
            <a:ext cx="1150735" cy="898498"/>
          </a:xfrm>
          <a:prstGeom prst="downArrow">
            <a:avLst>
              <a:gd name="adj1" fmla="val 50000"/>
              <a:gd name="adj2"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p9"/>
          <p:cNvSpPr txBox="1"/>
          <p:nvPr/>
        </p:nvSpPr>
        <p:spPr>
          <a:xfrm>
            <a:off x="780705" y="4730129"/>
            <a:ext cx="570549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ja-JP" altLang="en-US" sz="2800" b="0" i="0" u="none" strike="noStrike" cap="none" dirty="0">
                <a:solidFill>
                  <a:schemeClr val="dk1"/>
                </a:solidFill>
                <a:latin typeface="Calibri"/>
                <a:ea typeface="Calibri"/>
                <a:cs typeface="Calibri"/>
                <a:sym typeface="Calibri"/>
              </a:rPr>
              <a:t>研修</a:t>
            </a:r>
            <a:r>
              <a:rPr lang="ja-JP" sz="2800" b="0" i="0" u="none" strike="noStrike" cap="none" dirty="0">
                <a:solidFill>
                  <a:schemeClr val="dk1"/>
                </a:solidFill>
                <a:latin typeface="Calibri"/>
                <a:ea typeface="Calibri"/>
                <a:cs typeface="Calibri"/>
                <a:sym typeface="Calibri"/>
              </a:rPr>
              <a:t>生の将来的な活躍が期待！</a:t>
            </a:r>
            <a:endParaRPr sz="2800" b="0" i="0" u="none" strike="noStrike" cap="none" dirty="0">
              <a:solidFill>
                <a:schemeClr val="dk1"/>
              </a:solidFill>
              <a:latin typeface="Calibri"/>
              <a:ea typeface="Calibri"/>
              <a:cs typeface="Calibri"/>
              <a:sym typeface="Calibri"/>
            </a:endParaRPr>
          </a:p>
        </p:txBody>
      </p:sp>
      <p:pic>
        <p:nvPicPr>
          <p:cNvPr id="267" name="Google Shape;267;p9" descr="与圧服を着た宇宙飛行士のイラスト（男性）"/>
          <p:cNvPicPr preferRelativeResize="0"/>
          <p:nvPr/>
        </p:nvPicPr>
        <p:blipFill rotWithShape="1">
          <a:blip r:embed="rId3">
            <a:alphaModFix/>
          </a:blip>
          <a:srcRect/>
          <a:stretch/>
        </p:blipFill>
        <p:spPr>
          <a:xfrm>
            <a:off x="6187829" y="1345874"/>
            <a:ext cx="2543175" cy="4286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0"/>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13</a:t>
            </a:fld>
            <a:endParaRPr/>
          </a:p>
        </p:txBody>
      </p:sp>
      <p:sp>
        <p:nvSpPr>
          <p:cNvPr id="273" name="Google Shape;273;p10"/>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プログラムの特徴</a:t>
            </a:r>
            <a:endParaRPr/>
          </a:p>
        </p:txBody>
      </p:sp>
      <p:sp>
        <p:nvSpPr>
          <p:cNvPr id="274" name="Google Shape;274;p10"/>
          <p:cNvSpPr txBox="1"/>
          <p:nvPr/>
        </p:nvSpPr>
        <p:spPr>
          <a:xfrm>
            <a:off x="472965" y="914400"/>
            <a:ext cx="525517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2498DA"/>
                </a:solidFill>
                <a:latin typeface="Calibri"/>
                <a:ea typeface="Calibri"/>
                <a:cs typeface="Calibri"/>
                <a:sym typeface="Calibri"/>
              </a:rPr>
              <a:t>自由に選べる研修期間</a:t>
            </a:r>
            <a:endParaRPr sz="1400" b="0" i="0" u="none" strike="noStrike" cap="none">
              <a:solidFill>
                <a:srgbClr val="000000"/>
              </a:solidFill>
              <a:latin typeface="Arial"/>
              <a:ea typeface="Arial"/>
              <a:cs typeface="Arial"/>
              <a:sym typeface="Arial"/>
            </a:endParaRPr>
          </a:p>
        </p:txBody>
      </p:sp>
      <p:pic>
        <p:nvPicPr>
          <p:cNvPr id="275" name="Google Shape;275;p10" descr="男性 ピクトグラム シルエット イラスト"/>
          <p:cNvPicPr preferRelativeResize="0"/>
          <p:nvPr/>
        </p:nvPicPr>
        <p:blipFill rotWithShape="1">
          <a:blip r:embed="rId3">
            <a:alphaModFix/>
          </a:blip>
          <a:srcRect/>
          <a:stretch/>
        </p:blipFill>
        <p:spPr>
          <a:xfrm>
            <a:off x="4963636" y="3511070"/>
            <a:ext cx="1725931" cy="1725931"/>
          </a:xfrm>
          <a:prstGeom prst="rect">
            <a:avLst/>
          </a:prstGeom>
          <a:noFill/>
          <a:ln>
            <a:noFill/>
          </a:ln>
        </p:spPr>
      </p:pic>
      <p:pic>
        <p:nvPicPr>
          <p:cNvPr id="276" name="Google Shape;276;p10" descr="頑張る ピクトグラム シルエット イラスト"/>
          <p:cNvPicPr preferRelativeResize="0"/>
          <p:nvPr/>
        </p:nvPicPr>
        <p:blipFill rotWithShape="1">
          <a:blip r:embed="rId4">
            <a:alphaModFix/>
          </a:blip>
          <a:srcRect/>
          <a:stretch/>
        </p:blipFill>
        <p:spPr>
          <a:xfrm>
            <a:off x="2489957" y="3495260"/>
            <a:ext cx="1741741" cy="1741741"/>
          </a:xfrm>
          <a:prstGeom prst="rect">
            <a:avLst/>
          </a:prstGeom>
          <a:noFill/>
          <a:ln>
            <a:noFill/>
          </a:ln>
        </p:spPr>
      </p:pic>
      <p:sp>
        <p:nvSpPr>
          <p:cNvPr id="277" name="Google Shape;277;p10"/>
          <p:cNvSpPr txBox="1"/>
          <p:nvPr/>
        </p:nvSpPr>
        <p:spPr>
          <a:xfrm>
            <a:off x="2265030" y="1704287"/>
            <a:ext cx="4450978"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dk1"/>
                </a:solidFill>
                <a:latin typeface="Calibri"/>
                <a:ea typeface="Calibri"/>
                <a:cs typeface="Calibri"/>
                <a:sym typeface="Calibri"/>
              </a:rPr>
              <a:t>一般的な海外インターンシップ</a:t>
            </a:r>
            <a:endParaRPr sz="1400" b="0" i="0" u="none" strike="noStrike" cap="none">
              <a:solidFill>
                <a:srgbClr val="000000"/>
              </a:solidFill>
              <a:latin typeface="Arial"/>
              <a:ea typeface="Arial"/>
              <a:cs typeface="Arial"/>
              <a:sym typeface="Arial"/>
            </a:endParaRPr>
          </a:p>
        </p:txBody>
      </p:sp>
      <p:sp>
        <p:nvSpPr>
          <p:cNvPr id="278" name="Google Shape;278;p10"/>
          <p:cNvSpPr/>
          <p:nvPr/>
        </p:nvSpPr>
        <p:spPr>
          <a:xfrm>
            <a:off x="2489955" y="3614139"/>
            <a:ext cx="1652682" cy="1563441"/>
          </a:xfrm>
          <a:prstGeom prst="donut">
            <a:avLst>
              <a:gd name="adj" fmla="val 25000"/>
            </a:avLst>
          </a:prstGeom>
          <a:solidFill>
            <a:srgbClr val="FF0000">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279" name="Google Shape;279;p10"/>
          <p:cNvSpPr/>
          <p:nvPr/>
        </p:nvSpPr>
        <p:spPr>
          <a:xfrm>
            <a:off x="4786452" y="3431923"/>
            <a:ext cx="2003752" cy="2023589"/>
          </a:xfrm>
          <a:prstGeom prst="mathMultiply">
            <a:avLst>
              <a:gd name="adj1" fmla="val 23520"/>
            </a:avLst>
          </a:prstGeom>
          <a:solidFill>
            <a:schemeClr val="accent1">
              <a:alpha val="68627"/>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280" name="Google Shape;280;p10"/>
          <p:cNvSpPr txBox="1"/>
          <p:nvPr/>
        </p:nvSpPr>
        <p:spPr>
          <a:xfrm flipH="1">
            <a:off x="3119006" y="5455512"/>
            <a:ext cx="2946784"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休学が必要な場合あり</a:t>
            </a:r>
            <a:endParaRPr sz="1400" b="0" i="0" u="none" strike="noStrike" cap="none">
              <a:solidFill>
                <a:srgbClr val="000000"/>
              </a:solidFill>
              <a:latin typeface="Arial"/>
              <a:ea typeface="Arial"/>
              <a:cs typeface="Arial"/>
              <a:sym typeface="Arial"/>
            </a:endParaRPr>
          </a:p>
        </p:txBody>
      </p:sp>
      <p:sp>
        <p:nvSpPr>
          <p:cNvPr id="281" name="Google Shape;281;p10"/>
          <p:cNvSpPr/>
          <p:nvPr/>
        </p:nvSpPr>
        <p:spPr>
          <a:xfrm>
            <a:off x="1808782" y="2592000"/>
            <a:ext cx="2333855" cy="1065225"/>
          </a:xfrm>
          <a:custGeom>
            <a:avLst/>
            <a:gdLst/>
            <a:ahLst/>
            <a:cxnLst/>
            <a:rect l="l" t="t" r="r" b="b"/>
            <a:pathLst>
              <a:path w="2333855" h="1065225" extrusionOk="0">
                <a:moveTo>
                  <a:pt x="0" y="0"/>
                </a:moveTo>
                <a:lnTo>
                  <a:pt x="388976" y="0"/>
                </a:lnTo>
                <a:lnTo>
                  <a:pt x="388976" y="0"/>
                </a:lnTo>
                <a:lnTo>
                  <a:pt x="972440" y="0"/>
                </a:lnTo>
                <a:lnTo>
                  <a:pt x="2333855" y="0"/>
                </a:lnTo>
                <a:lnTo>
                  <a:pt x="2333855" y="510115"/>
                </a:lnTo>
                <a:lnTo>
                  <a:pt x="2333855" y="510115"/>
                </a:lnTo>
                <a:lnTo>
                  <a:pt x="2333855" y="728736"/>
                </a:lnTo>
                <a:lnTo>
                  <a:pt x="2333855" y="874483"/>
                </a:lnTo>
                <a:lnTo>
                  <a:pt x="806788" y="881109"/>
                </a:lnTo>
                <a:lnTo>
                  <a:pt x="1040503" y="1065225"/>
                </a:lnTo>
                <a:lnTo>
                  <a:pt x="388976" y="874483"/>
                </a:lnTo>
                <a:lnTo>
                  <a:pt x="0" y="874483"/>
                </a:lnTo>
                <a:lnTo>
                  <a:pt x="0" y="728736"/>
                </a:lnTo>
                <a:lnTo>
                  <a:pt x="0" y="510115"/>
                </a:lnTo>
                <a:lnTo>
                  <a:pt x="0" y="510115"/>
                </a:lnTo>
                <a:lnTo>
                  <a:pt x="0" y="0"/>
                </a:lnTo>
                <a:close/>
              </a:path>
            </a:pathLst>
          </a:custGeom>
          <a:noFill/>
          <a:ln w="25400" cap="flat" cmpd="sng">
            <a:solidFill>
              <a:srgbClr val="BFBFBF"/>
            </a:solidFill>
            <a:prstDash val="solid"/>
            <a:miter lim="800000"/>
            <a:headEnd type="none" w="sm" len="sm"/>
            <a:tailEnd type="none" w="sm" len="sm"/>
          </a:ln>
        </p:spPr>
        <p:txBody>
          <a:bodyPr spcFirstLastPara="1" wrap="square" lIns="91425" tIns="45700" rIns="91425" bIns="288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１年間の</a:t>
            </a: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長期研修がしたい</a:t>
            </a:r>
            <a:endParaRPr sz="1400" b="0" i="0" u="none" strike="noStrike" cap="none">
              <a:solidFill>
                <a:srgbClr val="000000"/>
              </a:solidFill>
              <a:latin typeface="Arial"/>
              <a:ea typeface="Arial"/>
              <a:cs typeface="Arial"/>
              <a:sym typeface="Arial"/>
            </a:endParaRPr>
          </a:p>
        </p:txBody>
      </p:sp>
      <p:sp>
        <p:nvSpPr>
          <p:cNvPr id="282" name="Google Shape;282;p10"/>
          <p:cNvSpPr/>
          <p:nvPr/>
        </p:nvSpPr>
        <p:spPr>
          <a:xfrm>
            <a:off x="4929047" y="2592000"/>
            <a:ext cx="2616378" cy="1087847"/>
          </a:xfrm>
          <a:custGeom>
            <a:avLst/>
            <a:gdLst/>
            <a:ahLst/>
            <a:cxnLst/>
            <a:rect l="l" t="t" r="r" b="b"/>
            <a:pathLst>
              <a:path w="2616378" h="1087847" extrusionOk="0">
                <a:moveTo>
                  <a:pt x="0" y="0"/>
                </a:moveTo>
                <a:lnTo>
                  <a:pt x="1526221" y="0"/>
                </a:lnTo>
                <a:lnTo>
                  <a:pt x="1526221" y="0"/>
                </a:lnTo>
                <a:lnTo>
                  <a:pt x="2180315" y="0"/>
                </a:lnTo>
                <a:lnTo>
                  <a:pt x="2616378" y="0"/>
                </a:lnTo>
                <a:lnTo>
                  <a:pt x="2616378" y="524956"/>
                </a:lnTo>
                <a:lnTo>
                  <a:pt x="2616378" y="524956"/>
                </a:lnTo>
                <a:lnTo>
                  <a:pt x="2616378" y="749938"/>
                </a:lnTo>
                <a:lnTo>
                  <a:pt x="2616378" y="899925"/>
                </a:lnTo>
                <a:lnTo>
                  <a:pt x="2180315" y="899925"/>
                </a:lnTo>
                <a:lnTo>
                  <a:pt x="1453032" y="1087847"/>
                </a:lnTo>
                <a:lnTo>
                  <a:pt x="1758134" y="899925"/>
                </a:lnTo>
                <a:lnTo>
                  <a:pt x="0" y="899925"/>
                </a:lnTo>
                <a:lnTo>
                  <a:pt x="0" y="749938"/>
                </a:lnTo>
                <a:lnTo>
                  <a:pt x="0" y="524956"/>
                </a:lnTo>
                <a:lnTo>
                  <a:pt x="0" y="524956"/>
                </a:lnTo>
                <a:lnTo>
                  <a:pt x="0" y="0"/>
                </a:lnTo>
                <a:close/>
              </a:path>
            </a:pathLst>
          </a:custGeom>
          <a:noFill/>
          <a:ln w="25400" cap="flat" cmpd="sng">
            <a:solidFill>
              <a:srgbClr val="BFBFBF"/>
            </a:solidFill>
            <a:prstDash val="solid"/>
            <a:miter lim="800000"/>
            <a:headEnd type="none" w="sm" len="sm"/>
            <a:tailEnd type="none" w="sm" len="sm"/>
          </a:ln>
        </p:spPr>
        <p:txBody>
          <a:bodyPr spcFirstLastPara="1" wrap="square" lIns="91425" tIns="45700" rIns="91425" bIns="25197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夏休みを利用して</a:t>
            </a: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２か月で参加したい</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11"/>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14</a:t>
            </a:fld>
            <a:endParaRPr/>
          </a:p>
        </p:txBody>
      </p:sp>
      <p:sp>
        <p:nvSpPr>
          <p:cNvPr id="288" name="Google Shape;288;p11"/>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プログラムの特徴</a:t>
            </a:r>
            <a:endParaRPr/>
          </a:p>
        </p:txBody>
      </p:sp>
      <p:sp>
        <p:nvSpPr>
          <p:cNvPr id="289" name="Google Shape;289;p11"/>
          <p:cNvSpPr txBox="1"/>
          <p:nvPr/>
        </p:nvSpPr>
        <p:spPr>
          <a:xfrm>
            <a:off x="472965" y="914400"/>
            <a:ext cx="525517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2498DA"/>
                </a:solidFill>
                <a:latin typeface="Calibri"/>
                <a:ea typeface="Calibri"/>
                <a:cs typeface="Calibri"/>
                <a:sym typeface="Calibri"/>
              </a:rPr>
              <a:t>選べる研修期間</a:t>
            </a:r>
            <a:endParaRPr sz="1400" b="0" i="0" u="none" strike="noStrike" cap="none">
              <a:solidFill>
                <a:srgbClr val="000000"/>
              </a:solidFill>
              <a:latin typeface="Arial"/>
              <a:ea typeface="Arial"/>
              <a:cs typeface="Arial"/>
              <a:sym typeface="Arial"/>
            </a:endParaRPr>
          </a:p>
        </p:txBody>
      </p:sp>
      <p:pic>
        <p:nvPicPr>
          <p:cNvPr id="290" name="Google Shape;290;p11" descr="男性 ピクトグラム シルエット イラスト"/>
          <p:cNvPicPr preferRelativeResize="0"/>
          <p:nvPr/>
        </p:nvPicPr>
        <p:blipFill rotWithShape="1">
          <a:blip r:embed="rId3">
            <a:alphaModFix/>
          </a:blip>
          <a:srcRect/>
          <a:stretch/>
        </p:blipFill>
        <p:spPr>
          <a:xfrm>
            <a:off x="4843373" y="3491925"/>
            <a:ext cx="1725931" cy="1725931"/>
          </a:xfrm>
          <a:prstGeom prst="rect">
            <a:avLst/>
          </a:prstGeom>
          <a:noFill/>
          <a:ln>
            <a:noFill/>
          </a:ln>
        </p:spPr>
      </p:pic>
      <p:pic>
        <p:nvPicPr>
          <p:cNvPr id="291" name="Google Shape;291;p11" descr="頑張る ピクトグラム シルエット イラスト"/>
          <p:cNvPicPr preferRelativeResize="0"/>
          <p:nvPr/>
        </p:nvPicPr>
        <p:blipFill rotWithShape="1">
          <a:blip r:embed="rId4">
            <a:alphaModFix/>
          </a:blip>
          <a:srcRect/>
          <a:stretch/>
        </p:blipFill>
        <p:spPr>
          <a:xfrm>
            <a:off x="2489957" y="3495260"/>
            <a:ext cx="1741741" cy="1741741"/>
          </a:xfrm>
          <a:prstGeom prst="rect">
            <a:avLst/>
          </a:prstGeom>
          <a:noFill/>
          <a:ln>
            <a:noFill/>
          </a:ln>
        </p:spPr>
      </p:pic>
      <p:sp>
        <p:nvSpPr>
          <p:cNvPr id="292" name="Google Shape;292;p11"/>
          <p:cNvSpPr txBox="1"/>
          <p:nvPr/>
        </p:nvSpPr>
        <p:spPr>
          <a:xfrm>
            <a:off x="2163837" y="1725007"/>
            <a:ext cx="485712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0" i="0" u="none" strike="noStrike" cap="none">
                <a:solidFill>
                  <a:schemeClr val="dk1"/>
                </a:solidFill>
                <a:latin typeface="Poppins Medium"/>
                <a:ea typeface="Poppins Medium"/>
                <a:cs typeface="Poppins Medium"/>
                <a:sym typeface="Poppins Medium"/>
              </a:rPr>
              <a:t>IAESTE</a:t>
            </a:r>
            <a:r>
              <a:rPr lang="ja-JP" sz="2400" b="1" i="0" u="none" strike="noStrike" cap="none">
                <a:solidFill>
                  <a:schemeClr val="dk1"/>
                </a:solidFill>
                <a:latin typeface="Calibri"/>
                <a:ea typeface="Calibri"/>
                <a:cs typeface="Calibri"/>
                <a:sym typeface="Calibri"/>
              </a:rPr>
              <a:t>の海外インターンシップ</a:t>
            </a:r>
            <a:endParaRPr sz="1400" b="0" i="0" u="none" strike="noStrike" cap="none">
              <a:solidFill>
                <a:srgbClr val="000000"/>
              </a:solidFill>
              <a:latin typeface="Arial"/>
              <a:ea typeface="Arial"/>
              <a:cs typeface="Arial"/>
              <a:sym typeface="Arial"/>
            </a:endParaRPr>
          </a:p>
        </p:txBody>
      </p:sp>
      <p:sp>
        <p:nvSpPr>
          <p:cNvPr id="293" name="Google Shape;293;p11"/>
          <p:cNvSpPr/>
          <p:nvPr/>
        </p:nvSpPr>
        <p:spPr>
          <a:xfrm>
            <a:off x="2489955" y="3614139"/>
            <a:ext cx="1652682" cy="1563441"/>
          </a:xfrm>
          <a:prstGeom prst="donut">
            <a:avLst>
              <a:gd name="adj" fmla="val 25000"/>
            </a:avLst>
          </a:prstGeom>
          <a:solidFill>
            <a:srgbClr val="FF0000">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294" name="Google Shape;294;p11"/>
          <p:cNvSpPr txBox="1"/>
          <p:nvPr/>
        </p:nvSpPr>
        <p:spPr>
          <a:xfrm flipH="1">
            <a:off x="2497134" y="5478134"/>
            <a:ext cx="4190527"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Light"/>
                <a:ea typeface="Poppins Light"/>
                <a:cs typeface="Poppins Light"/>
                <a:sym typeface="Poppins Light"/>
              </a:rPr>
              <a:t>8-52 </a:t>
            </a:r>
            <a:r>
              <a:rPr lang="ja-JP" sz="1800" b="0" i="0" u="none" strike="noStrike" cap="none">
                <a:solidFill>
                  <a:schemeClr val="dk1"/>
                </a:solidFill>
                <a:latin typeface="Calibri"/>
                <a:ea typeface="Calibri"/>
                <a:cs typeface="Calibri"/>
                <a:sym typeface="Calibri"/>
              </a:rPr>
              <a:t>週間の柔軟な研修期間に対応</a:t>
            </a:r>
            <a:endParaRPr sz="1400" b="0" i="0" u="none" strike="noStrike" cap="none">
              <a:solidFill>
                <a:srgbClr val="000000"/>
              </a:solidFill>
              <a:latin typeface="Arial"/>
              <a:ea typeface="Arial"/>
              <a:cs typeface="Arial"/>
              <a:sym typeface="Arial"/>
            </a:endParaRPr>
          </a:p>
        </p:txBody>
      </p:sp>
      <p:sp>
        <p:nvSpPr>
          <p:cNvPr id="295" name="Google Shape;295;p11"/>
          <p:cNvSpPr/>
          <p:nvPr/>
        </p:nvSpPr>
        <p:spPr>
          <a:xfrm>
            <a:off x="1808782" y="2592000"/>
            <a:ext cx="2333855" cy="1065225"/>
          </a:xfrm>
          <a:custGeom>
            <a:avLst/>
            <a:gdLst/>
            <a:ahLst/>
            <a:cxnLst/>
            <a:rect l="l" t="t" r="r" b="b"/>
            <a:pathLst>
              <a:path w="2333855" h="1065225" extrusionOk="0">
                <a:moveTo>
                  <a:pt x="0" y="0"/>
                </a:moveTo>
                <a:lnTo>
                  <a:pt x="388976" y="0"/>
                </a:lnTo>
                <a:lnTo>
                  <a:pt x="388976" y="0"/>
                </a:lnTo>
                <a:lnTo>
                  <a:pt x="972440" y="0"/>
                </a:lnTo>
                <a:lnTo>
                  <a:pt x="2333855" y="0"/>
                </a:lnTo>
                <a:lnTo>
                  <a:pt x="2333855" y="510115"/>
                </a:lnTo>
                <a:lnTo>
                  <a:pt x="2333855" y="510115"/>
                </a:lnTo>
                <a:lnTo>
                  <a:pt x="2333855" y="728736"/>
                </a:lnTo>
                <a:lnTo>
                  <a:pt x="2333855" y="874483"/>
                </a:lnTo>
                <a:lnTo>
                  <a:pt x="806788" y="881109"/>
                </a:lnTo>
                <a:lnTo>
                  <a:pt x="1040503" y="1065225"/>
                </a:lnTo>
                <a:lnTo>
                  <a:pt x="388976" y="874483"/>
                </a:lnTo>
                <a:lnTo>
                  <a:pt x="0" y="874483"/>
                </a:lnTo>
                <a:lnTo>
                  <a:pt x="0" y="728736"/>
                </a:lnTo>
                <a:lnTo>
                  <a:pt x="0" y="510115"/>
                </a:lnTo>
                <a:lnTo>
                  <a:pt x="0" y="510115"/>
                </a:lnTo>
                <a:lnTo>
                  <a:pt x="0" y="0"/>
                </a:lnTo>
                <a:close/>
              </a:path>
            </a:pathLst>
          </a:custGeom>
          <a:noFill/>
          <a:ln w="25400" cap="flat" cmpd="sng">
            <a:solidFill>
              <a:srgbClr val="BFBFBF"/>
            </a:solidFill>
            <a:prstDash val="solid"/>
            <a:miter lim="800000"/>
            <a:headEnd type="none" w="sm" len="sm"/>
            <a:tailEnd type="none" w="sm" len="sm"/>
          </a:ln>
        </p:spPr>
        <p:txBody>
          <a:bodyPr spcFirstLastPara="1" wrap="square" lIns="91425" tIns="45700" rIns="91425" bIns="288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１年間の</a:t>
            </a: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長期研修がしたい</a:t>
            </a:r>
            <a:endParaRPr sz="1400" b="0" i="0" u="none" strike="noStrike" cap="none">
              <a:solidFill>
                <a:srgbClr val="000000"/>
              </a:solidFill>
              <a:latin typeface="Arial"/>
              <a:ea typeface="Arial"/>
              <a:cs typeface="Arial"/>
              <a:sym typeface="Arial"/>
            </a:endParaRPr>
          </a:p>
        </p:txBody>
      </p:sp>
      <p:sp>
        <p:nvSpPr>
          <p:cNvPr id="296" name="Google Shape;296;p11"/>
          <p:cNvSpPr/>
          <p:nvPr/>
        </p:nvSpPr>
        <p:spPr>
          <a:xfrm>
            <a:off x="4929047" y="2592000"/>
            <a:ext cx="2616378" cy="1087847"/>
          </a:xfrm>
          <a:custGeom>
            <a:avLst/>
            <a:gdLst/>
            <a:ahLst/>
            <a:cxnLst/>
            <a:rect l="l" t="t" r="r" b="b"/>
            <a:pathLst>
              <a:path w="2616378" h="1087847" extrusionOk="0">
                <a:moveTo>
                  <a:pt x="0" y="0"/>
                </a:moveTo>
                <a:lnTo>
                  <a:pt x="1526221" y="0"/>
                </a:lnTo>
                <a:lnTo>
                  <a:pt x="1526221" y="0"/>
                </a:lnTo>
                <a:lnTo>
                  <a:pt x="2180315" y="0"/>
                </a:lnTo>
                <a:lnTo>
                  <a:pt x="2616378" y="0"/>
                </a:lnTo>
                <a:lnTo>
                  <a:pt x="2616378" y="524956"/>
                </a:lnTo>
                <a:lnTo>
                  <a:pt x="2616378" y="524956"/>
                </a:lnTo>
                <a:lnTo>
                  <a:pt x="2616378" y="749938"/>
                </a:lnTo>
                <a:lnTo>
                  <a:pt x="2616378" y="899925"/>
                </a:lnTo>
                <a:lnTo>
                  <a:pt x="2180315" y="899925"/>
                </a:lnTo>
                <a:lnTo>
                  <a:pt x="1453032" y="1087847"/>
                </a:lnTo>
                <a:lnTo>
                  <a:pt x="1758134" y="899925"/>
                </a:lnTo>
                <a:lnTo>
                  <a:pt x="0" y="899925"/>
                </a:lnTo>
                <a:lnTo>
                  <a:pt x="0" y="749938"/>
                </a:lnTo>
                <a:lnTo>
                  <a:pt x="0" y="524956"/>
                </a:lnTo>
                <a:lnTo>
                  <a:pt x="0" y="524956"/>
                </a:lnTo>
                <a:lnTo>
                  <a:pt x="0" y="0"/>
                </a:lnTo>
                <a:close/>
              </a:path>
            </a:pathLst>
          </a:custGeom>
          <a:noFill/>
          <a:ln w="25400" cap="flat" cmpd="sng">
            <a:solidFill>
              <a:srgbClr val="BFBFBF"/>
            </a:solidFill>
            <a:prstDash val="solid"/>
            <a:miter lim="800000"/>
            <a:headEnd type="none" w="sm" len="sm"/>
            <a:tailEnd type="none" w="sm" len="sm"/>
          </a:ln>
        </p:spPr>
        <p:txBody>
          <a:bodyPr spcFirstLastPara="1" wrap="square" lIns="91425" tIns="45700" rIns="91425" bIns="25197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夏休みを利用して</a:t>
            </a: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２か月で参加したい</a:t>
            </a:r>
            <a:endParaRPr sz="1400" b="0" i="0" u="none" strike="noStrike" cap="none">
              <a:solidFill>
                <a:srgbClr val="000000"/>
              </a:solidFill>
              <a:latin typeface="Arial"/>
              <a:ea typeface="Arial"/>
              <a:cs typeface="Arial"/>
              <a:sym typeface="Arial"/>
            </a:endParaRPr>
          </a:p>
        </p:txBody>
      </p:sp>
      <p:sp>
        <p:nvSpPr>
          <p:cNvPr id="297" name="Google Shape;297;p11"/>
          <p:cNvSpPr/>
          <p:nvPr/>
        </p:nvSpPr>
        <p:spPr>
          <a:xfrm>
            <a:off x="4855752" y="3584409"/>
            <a:ext cx="1652682" cy="1563441"/>
          </a:xfrm>
          <a:prstGeom prst="donut">
            <a:avLst>
              <a:gd name="adj" fmla="val 25000"/>
            </a:avLst>
          </a:prstGeom>
          <a:solidFill>
            <a:srgbClr val="FF0000">
              <a:alpha val="6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298" name="Google Shape;298;p11"/>
          <p:cNvSpPr txBox="1"/>
          <p:nvPr/>
        </p:nvSpPr>
        <p:spPr>
          <a:xfrm>
            <a:off x="2694569" y="5968867"/>
            <a:ext cx="3813865"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7F7F7F"/>
                </a:solidFill>
                <a:latin typeface="Calibri"/>
                <a:ea typeface="Calibri"/>
                <a:cs typeface="Calibri"/>
                <a:sym typeface="Calibri"/>
              </a:rPr>
              <a:t>国によっては，研修期間を自由に選べない場合もあります</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2"/>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15</a:t>
            </a:fld>
            <a:endParaRPr/>
          </a:p>
        </p:txBody>
      </p:sp>
      <p:sp>
        <p:nvSpPr>
          <p:cNvPr id="304" name="Google Shape;304;p12"/>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プログラムの特徴</a:t>
            </a:r>
            <a:endParaRPr/>
          </a:p>
        </p:txBody>
      </p:sp>
      <p:sp>
        <p:nvSpPr>
          <p:cNvPr id="305" name="Google Shape;305;p12"/>
          <p:cNvSpPr txBox="1"/>
          <p:nvPr/>
        </p:nvSpPr>
        <p:spPr>
          <a:xfrm>
            <a:off x="472965" y="914400"/>
            <a:ext cx="525517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2498DA"/>
                </a:solidFill>
                <a:latin typeface="Calibri"/>
                <a:ea typeface="Calibri"/>
                <a:cs typeface="Calibri"/>
                <a:sym typeface="Calibri"/>
              </a:rPr>
              <a:t>研修先でのサポート</a:t>
            </a:r>
            <a:endParaRPr sz="2400" b="1" i="0" u="none" strike="noStrike" cap="none">
              <a:solidFill>
                <a:srgbClr val="2498DA"/>
              </a:solidFill>
              <a:latin typeface="Calibri"/>
              <a:ea typeface="Calibri"/>
              <a:cs typeface="Calibri"/>
              <a:sym typeface="Calibri"/>
            </a:endParaRPr>
          </a:p>
        </p:txBody>
      </p:sp>
      <p:sp>
        <p:nvSpPr>
          <p:cNvPr id="306" name="Google Shape;306;p12"/>
          <p:cNvSpPr txBox="1"/>
          <p:nvPr/>
        </p:nvSpPr>
        <p:spPr>
          <a:xfrm>
            <a:off x="756048" y="2003456"/>
            <a:ext cx="7631903"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ja-JP" sz="2800" b="1" i="0" u="none" strike="noStrike" cap="none">
                <a:solidFill>
                  <a:schemeClr val="dk1"/>
                </a:solidFill>
                <a:latin typeface="Calibri"/>
                <a:ea typeface="Calibri"/>
                <a:cs typeface="Calibri"/>
                <a:sym typeface="Calibri"/>
              </a:rPr>
              <a:t>現地の</a:t>
            </a:r>
            <a:r>
              <a:rPr lang="ja-JP" sz="2800" b="0" i="0" u="none" strike="noStrike" cap="none">
                <a:solidFill>
                  <a:schemeClr val="dk1"/>
                </a:solidFill>
                <a:latin typeface="Poppins Medium"/>
                <a:ea typeface="Poppins Medium"/>
                <a:cs typeface="Poppins Medium"/>
                <a:sym typeface="Poppins Medium"/>
              </a:rPr>
              <a:t>IAESTE</a:t>
            </a:r>
            <a:r>
              <a:rPr lang="ja-JP" sz="2800" b="1" i="0" u="none" strike="noStrike" cap="none">
                <a:solidFill>
                  <a:schemeClr val="dk1"/>
                </a:solidFill>
                <a:latin typeface="Calibri"/>
                <a:ea typeface="Calibri"/>
                <a:cs typeface="Calibri"/>
                <a:sym typeface="Calibri"/>
              </a:rPr>
              <a:t>スタッフがサポートいたします</a:t>
            </a:r>
            <a:endParaRPr sz="1400" b="0" i="0" u="none" strike="noStrike" cap="none">
              <a:solidFill>
                <a:srgbClr val="000000"/>
              </a:solidFill>
              <a:latin typeface="Arial"/>
              <a:ea typeface="Arial"/>
              <a:cs typeface="Arial"/>
              <a:sym typeface="Arial"/>
            </a:endParaRPr>
          </a:p>
        </p:txBody>
      </p:sp>
      <p:grpSp>
        <p:nvGrpSpPr>
          <p:cNvPr id="307" name="Google Shape;307;p12"/>
          <p:cNvGrpSpPr/>
          <p:nvPr/>
        </p:nvGrpSpPr>
        <p:grpSpPr>
          <a:xfrm>
            <a:off x="727667" y="3180115"/>
            <a:ext cx="2536421" cy="2003773"/>
            <a:chOff x="1002272" y="3504629"/>
            <a:chExt cx="2536421" cy="2003773"/>
          </a:xfrm>
        </p:grpSpPr>
        <p:pic>
          <p:nvPicPr>
            <p:cNvPr id="308" name="Google Shape;308;p12"/>
            <p:cNvPicPr preferRelativeResize="0"/>
            <p:nvPr/>
          </p:nvPicPr>
          <p:blipFill rotWithShape="1">
            <a:blip r:embed="rId3">
              <a:alphaModFix/>
            </a:blip>
            <a:srcRect/>
            <a:stretch/>
          </p:blipFill>
          <p:spPr>
            <a:xfrm>
              <a:off x="1002272" y="3504629"/>
              <a:ext cx="2536421" cy="2003773"/>
            </a:xfrm>
            <a:prstGeom prst="rect">
              <a:avLst/>
            </a:prstGeom>
            <a:noFill/>
            <a:ln>
              <a:noFill/>
            </a:ln>
          </p:spPr>
        </p:pic>
        <p:sp>
          <p:nvSpPr>
            <p:cNvPr id="309" name="Google Shape;309;p12"/>
            <p:cNvSpPr/>
            <p:nvPr/>
          </p:nvSpPr>
          <p:spPr>
            <a:xfrm>
              <a:off x="1457439" y="3848367"/>
              <a:ext cx="1626086" cy="1299266"/>
            </a:xfrm>
            <a:prstGeom prst="rect">
              <a:avLst/>
            </a:prstGeom>
            <a:noFill/>
            <a:ln>
              <a:noFill/>
            </a:ln>
          </p:spPr>
          <p:txBody>
            <a:bodyPr spcFirstLastPara="1" wrap="square" lIns="91425" tIns="45700" rIns="91425" bIns="45700" anchor="t" anchorCtr="0">
              <a:spAutoFit/>
            </a:bodyPr>
            <a:lstStyle/>
            <a:p>
              <a:pPr marL="72000" marR="0" lvl="0" indent="0" algn="ctr" rtl="0">
                <a:lnSpc>
                  <a:spcPct val="15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スマホの</a:t>
              </a:r>
              <a:endParaRPr sz="1800" b="1" i="0" u="none" strike="noStrike" cap="none">
                <a:solidFill>
                  <a:schemeClr val="lt1"/>
                </a:solidFill>
                <a:latin typeface="Calibri"/>
                <a:ea typeface="Calibri"/>
                <a:cs typeface="Calibri"/>
                <a:sym typeface="Calibri"/>
              </a:endParaRPr>
            </a:p>
            <a:p>
              <a:pPr marL="72000" marR="0" lvl="0" indent="0" algn="ctr" rtl="0">
                <a:lnSpc>
                  <a:spcPct val="15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SIMカードの</a:t>
              </a:r>
              <a:endParaRPr sz="1800" b="1" i="0" u="none" strike="noStrike" cap="none">
                <a:solidFill>
                  <a:schemeClr val="lt1"/>
                </a:solidFill>
                <a:latin typeface="Calibri"/>
                <a:ea typeface="Calibri"/>
                <a:cs typeface="Calibri"/>
                <a:sym typeface="Calibri"/>
              </a:endParaRPr>
            </a:p>
            <a:p>
              <a:pPr marL="72000" marR="0" lvl="0" indent="0" algn="ctr" rtl="0">
                <a:lnSpc>
                  <a:spcPct val="15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購入手続き</a:t>
              </a:r>
              <a:endParaRPr sz="1800" b="1" i="0" u="none" strike="noStrike" cap="none">
                <a:solidFill>
                  <a:schemeClr val="lt1"/>
                </a:solidFill>
                <a:latin typeface="Calibri"/>
                <a:ea typeface="Calibri"/>
                <a:cs typeface="Calibri"/>
                <a:sym typeface="Calibri"/>
              </a:endParaRPr>
            </a:p>
          </p:txBody>
        </p:sp>
      </p:grpSp>
      <p:grpSp>
        <p:nvGrpSpPr>
          <p:cNvPr id="310" name="Google Shape;310;p12"/>
          <p:cNvGrpSpPr/>
          <p:nvPr/>
        </p:nvGrpSpPr>
        <p:grpSpPr>
          <a:xfrm>
            <a:off x="3363597" y="3180115"/>
            <a:ext cx="2536421" cy="2003773"/>
            <a:chOff x="3769592" y="3504629"/>
            <a:chExt cx="2536421" cy="2003773"/>
          </a:xfrm>
        </p:grpSpPr>
        <p:pic>
          <p:nvPicPr>
            <p:cNvPr id="311" name="Google Shape;311;p12"/>
            <p:cNvPicPr preferRelativeResize="0"/>
            <p:nvPr/>
          </p:nvPicPr>
          <p:blipFill rotWithShape="1">
            <a:blip r:embed="rId4">
              <a:alphaModFix/>
            </a:blip>
            <a:srcRect l="7636" r="7630"/>
            <a:stretch/>
          </p:blipFill>
          <p:spPr>
            <a:xfrm>
              <a:off x="3769592" y="3504629"/>
              <a:ext cx="2536421" cy="2003773"/>
            </a:xfrm>
            <a:prstGeom prst="rect">
              <a:avLst/>
            </a:prstGeom>
            <a:noFill/>
            <a:ln>
              <a:noFill/>
            </a:ln>
          </p:spPr>
        </p:pic>
        <p:sp>
          <p:nvSpPr>
            <p:cNvPr id="312" name="Google Shape;312;p12"/>
            <p:cNvSpPr/>
            <p:nvPr/>
          </p:nvSpPr>
          <p:spPr>
            <a:xfrm>
              <a:off x="4316853" y="4044850"/>
              <a:ext cx="1411284" cy="883768"/>
            </a:xfrm>
            <a:prstGeom prst="rect">
              <a:avLst/>
            </a:prstGeom>
            <a:noFill/>
            <a:ln>
              <a:noFill/>
            </a:ln>
          </p:spPr>
          <p:txBody>
            <a:bodyPr spcFirstLastPara="1" wrap="square" lIns="91425" tIns="45700" rIns="91425" bIns="45700" anchor="t" anchorCtr="0">
              <a:spAutoFit/>
            </a:bodyPr>
            <a:lstStyle/>
            <a:p>
              <a:pPr marL="72000" marR="0" lvl="0" indent="0" algn="ctr" rtl="0">
                <a:lnSpc>
                  <a:spcPct val="15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空港までの</a:t>
              </a:r>
              <a:endParaRPr sz="1800" b="1" i="0" u="none" strike="noStrike" cap="none">
                <a:solidFill>
                  <a:schemeClr val="lt1"/>
                </a:solidFill>
                <a:latin typeface="Calibri"/>
                <a:ea typeface="Calibri"/>
                <a:cs typeface="Calibri"/>
                <a:sym typeface="Calibri"/>
              </a:endParaRPr>
            </a:p>
            <a:p>
              <a:pPr marL="72000" marR="0" lvl="0" indent="0" algn="ctr" rtl="0">
                <a:lnSpc>
                  <a:spcPct val="15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お迎え</a:t>
              </a:r>
              <a:endParaRPr sz="1800" b="1" i="0" u="none" strike="noStrike" cap="none">
                <a:solidFill>
                  <a:schemeClr val="lt1"/>
                </a:solidFill>
                <a:latin typeface="Calibri"/>
                <a:ea typeface="Calibri"/>
                <a:cs typeface="Calibri"/>
                <a:sym typeface="Calibri"/>
              </a:endParaRPr>
            </a:p>
          </p:txBody>
        </p:sp>
      </p:grpSp>
      <p:grpSp>
        <p:nvGrpSpPr>
          <p:cNvPr id="313" name="Google Shape;313;p12"/>
          <p:cNvGrpSpPr/>
          <p:nvPr/>
        </p:nvGrpSpPr>
        <p:grpSpPr>
          <a:xfrm>
            <a:off x="5998946" y="3172392"/>
            <a:ext cx="2536422" cy="2004488"/>
            <a:chOff x="6372940" y="3504629"/>
            <a:chExt cx="2536422" cy="2004488"/>
          </a:xfrm>
        </p:grpSpPr>
        <p:pic>
          <p:nvPicPr>
            <p:cNvPr id="314" name="Google Shape;314;p12"/>
            <p:cNvPicPr preferRelativeResize="0"/>
            <p:nvPr/>
          </p:nvPicPr>
          <p:blipFill rotWithShape="1">
            <a:blip r:embed="rId5">
              <a:alphaModFix/>
            </a:blip>
            <a:srcRect l="3857" r="11890"/>
            <a:stretch/>
          </p:blipFill>
          <p:spPr>
            <a:xfrm>
              <a:off x="6372940" y="3504629"/>
              <a:ext cx="2536422" cy="2004488"/>
            </a:xfrm>
            <a:prstGeom prst="rect">
              <a:avLst/>
            </a:prstGeom>
            <a:noFill/>
            <a:ln>
              <a:noFill/>
            </a:ln>
          </p:spPr>
        </p:pic>
        <p:sp>
          <p:nvSpPr>
            <p:cNvPr id="315" name="Google Shape;315;p12"/>
            <p:cNvSpPr/>
            <p:nvPr/>
          </p:nvSpPr>
          <p:spPr>
            <a:xfrm>
              <a:off x="6704677" y="4288288"/>
              <a:ext cx="1872949" cy="468270"/>
            </a:xfrm>
            <a:prstGeom prst="rect">
              <a:avLst/>
            </a:prstGeom>
            <a:noFill/>
            <a:ln>
              <a:noFill/>
            </a:ln>
          </p:spPr>
          <p:txBody>
            <a:bodyPr spcFirstLastPara="1" wrap="square" lIns="91425" tIns="45700" rIns="91425" bIns="45700" anchor="t" anchorCtr="0">
              <a:spAutoFit/>
            </a:bodyPr>
            <a:lstStyle/>
            <a:p>
              <a:pPr marL="72000" marR="0" lvl="0" indent="0" algn="ctr" rtl="0">
                <a:lnSpc>
                  <a:spcPct val="15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週末のイベント</a:t>
              </a:r>
              <a:endParaRPr sz="1800" b="1" i="0" u="none" strike="noStrike" cap="none">
                <a:solidFill>
                  <a:schemeClr val="lt1"/>
                </a:solidFill>
                <a:latin typeface="Calibri"/>
                <a:ea typeface="Calibri"/>
                <a:cs typeface="Calibri"/>
                <a:sym typeface="Calibri"/>
              </a:endParaRPr>
            </a:p>
          </p:txBody>
        </p:sp>
      </p:grpSp>
      <p:grpSp>
        <p:nvGrpSpPr>
          <p:cNvPr id="316" name="Google Shape;316;p12"/>
          <p:cNvGrpSpPr/>
          <p:nvPr/>
        </p:nvGrpSpPr>
        <p:grpSpPr>
          <a:xfrm>
            <a:off x="229651" y="2873776"/>
            <a:ext cx="896524" cy="610082"/>
            <a:chOff x="644298" y="1534250"/>
            <a:chExt cx="896524" cy="610082"/>
          </a:xfrm>
        </p:grpSpPr>
        <p:sp>
          <p:nvSpPr>
            <p:cNvPr id="317" name="Google Shape;317;p12"/>
            <p:cNvSpPr/>
            <p:nvPr/>
          </p:nvSpPr>
          <p:spPr>
            <a:xfrm>
              <a:off x="787519" y="1534250"/>
              <a:ext cx="610082" cy="610082"/>
            </a:xfrm>
            <a:prstGeom prst="ellipse">
              <a:avLst/>
            </a:prstGeom>
            <a:solidFill>
              <a:srgbClr val="FFC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318" name="Google Shape;318;p12"/>
            <p:cNvSpPr txBox="1"/>
            <p:nvPr/>
          </p:nvSpPr>
          <p:spPr>
            <a:xfrm>
              <a:off x="644298" y="1642116"/>
              <a:ext cx="896524"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ja-JP" sz="2000" b="1" i="0" u="none" strike="noStrike" cap="none">
                  <a:solidFill>
                    <a:schemeClr val="lt1"/>
                  </a:solidFill>
                  <a:latin typeface="Calibri"/>
                  <a:ea typeface="Calibri"/>
                  <a:cs typeface="Calibri"/>
                  <a:sym typeface="Calibri"/>
                </a:rPr>
                <a:t>例</a:t>
              </a:r>
              <a:endParaRPr sz="2800" b="1" i="0" u="none" strike="noStrike" cap="none">
                <a:solidFill>
                  <a:schemeClr val="lt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3"/>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16</a:t>
            </a:fld>
            <a:endParaRPr/>
          </a:p>
        </p:txBody>
      </p:sp>
      <p:sp>
        <p:nvSpPr>
          <p:cNvPr id="324" name="Google Shape;324;p13"/>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プログラムの特徴</a:t>
            </a:r>
            <a:endParaRPr/>
          </a:p>
        </p:txBody>
      </p:sp>
      <p:sp>
        <p:nvSpPr>
          <p:cNvPr id="325" name="Google Shape;325;p13"/>
          <p:cNvSpPr txBox="1"/>
          <p:nvPr/>
        </p:nvSpPr>
        <p:spPr>
          <a:xfrm>
            <a:off x="472965" y="914400"/>
            <a:ext cx="525517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2498DA"/>
                </a:solidFill>
                <a:latin typeface="Calibri"/>
                <a:ea typeface="Calibri"/>
                <a:cs typeface="Calibri"/>
                <a:sym typeface="Calibri"/>
              </a:rPr>
              <a:t>充実した研修サポート</a:t>
            </a:r>
            <a:endParaRPr sz="2400" b="1" i="0" u="none" strike="noStrike" cap="none">
              <a:solidFill>
                <a:srgbClr val="2498DA"/>
              </a:solidFill>
              <a:latin typeface="Calibri"/>
              <a:ea typeface="Calibri"/>
              <a:cs typeface="Calibri"/>
              <a:sym typeface="Calibri"/>
            </a:endParaRPr>
          </a:p>
        </p:txBody>
      </p:sp>
      <p:sp>
        <p:nvSpPr>
          <p:cNvPr id="326" name="Google Shape;326;p13"/>
          <p:cNvSpPr txBox="1"/>
          <p:nvPr/>
        </p:nvSpPr>
        <p:spPr>
          <a:xfrm>
            <a:off x="985651" y="1681418"/>
            <a:ext cx="282654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altLang="en-US" sz="2400" b="1" dirty="0">
                <a:solidFill>
                  <a:schemeClr val="dk1"/>
                </a:solidFill>
                <a:latin typeface="Calibri"/>
                <a:ea typeface="Calibri"/>
                <a:cs typeface="Calibri"/>
                <a:sym typeface="Calibri"/>
              </a:rPr>
              <a:t>研修</a:t>
            </a:r>
            <a:r>
              <a:rPr lang="ja-JP" sz="2400" b="1" i="0" u="none" strike="noStrike" cap="none" dirty="0">
                <a:solidFill>
                  <a:schemeClr val="dk1"/>
                </a:solidFill>
                <a:latin typeface="Calibri"/>
                <a:ea typeface="Calibri"/>
                <a:cs typeface="Calibri"/>
                <a:sym typeface="Calibri"/>
              </a:rPr>
              <a:t>準備会</a:t>
            </a:r>
            <a:endParaRPr sz="1400" b="0" i="0" u="none" strike="noStrike" cap="none" dirty="0">
              <a:solidFill>
                <a:srgbClr val="000000"/>
              </a:solidFill>
              <a:latin typeface="Arial"/>
              <a:ea typeface="Arial"/>
              <a:cs typeface="Arial"/>
              <a:sym typeface="Arial"/>
            </a:endParaRPr>
          </a:p>
        </p:txBody>
      </p:sp>
      <p:sp>
        <p:nvSpPr>
          <p:cNvPr id="327" name="Google Shape;327;p13"/>
          <p:cNvSpPr txBox="1"/>
          <p:nvPr/>
        </p:nvSpPr>
        <p:spPr>
          <a:xfrm>
            <a:off x="5654124" y="1681418"/>
            <a:ext cx="2561935"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altLang="en-US" sz="2400" b="1" dirty="0">
                <a:solidFill>
                  <a:schemeClr val="dk1"/>
                </a:solidFill>
                <a:latin typeface="Calibri"/>
                <a:ea typeface="Calibri"/>
                <a:cs typeface="Calibri"/>
                <a:sym typeface="Calibri"/>
              </a:rPr>
              <a:t>研修</a:t>
            </a:r>
            <a:r>
              <a:rPr lang="ja-JP" sz="2400" b="1" i="0" u="none" strike="noStrike" cap="none" dirty="0">
                <a:solidFill>
                  <a:schemeClr val="dk1"/>
                </a:solidFill>
                <a:latin typeface="Calibri"/>
                <a:ea typeface="Calibri"/>
                <a:cs typeface="Calibri"/>
                <a:sym typeface="Calibri"/>
              </a:rPr>
              <a:t>報告会</a:t>
            </a:r>
            <a:endParaRPr sz="1400" b="0" i="0" u="none" strike="noStrike" cap="none" dirty="0">
              <a:solidFill>
                <a:srgbClr val="000000"/>
              </a:solidFill>
              <a:latin typeface="Arial"/>
              <a:ea typeface="Arial"/>
              <a:cs typeface="Arial"/>
              <a:sym typeface="Arial"/>
            </a:endParaRPr>
          </a:p>
        </p:txBody>
      </p:sp>
      <p:grpSp>
        <p:nvGrpSpPr>
          <p:cNvPr id="328" name="Google Shape;328;p13"/>
          <p:cNvGrpSpPr/>
          <p:nvPr/>
        </p:nvGrpSpPr>
        <p:grpSpPr>
          <a:xfrm>
            <a:off x="537389" y="1514260"/>
            <a:ext cx="896524" cy="756000"/>
            <a:chOff x="644298" y="1534250"/>
            <a:chExt cx="896524" cy="756000"/>
          </a:xfrm>
        </p:grpSpPr>
        <p:sp>
          <p:nvSpPr>
            <p:cNvPr id="329" name="Google Shape;329;p13"/>
            <p:cNvSpPr/>
            <p:nvPr/>
          </p:nvSpPr>
          <p:spPr>
            <a:xfrm>
              <a:off x="714560" y="1534250"/>
              <a:ext cx="756000" cy="756000"/>
            </a:xfrm>
            <a:prstGeom prst="ellipse">
              <a:avLst/>
            </a:prstGeom>
            <a:solidFill>
              <a:srgbClr val="FFC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330" name="Google Shape;330;p13"/>
            <p:cNvSpPr txBox="1"/>
            <p:nvPr/>
          </p:nvSpPr>
          <p:spPr>
            <a:xfrm>
              <a:off x="644298" y="1722983"/>
              <a:ext cx="896524"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Calibri"/>
                  <a:ea typeface="Calibri"/>
                  <a:cs typeface="Calibri"/>
                  <a:sym typeface="Calibri"/>
                </a:rPr>
                <a:t>研修</a:t>
              </a:r>
              <a:r>
                <a:rPr lang="ja-JP" sz="1600" b="1" i="0" u="none" strike="noStrike" cap="none">
                  <a:solidFill>
                    <a:schemeClr val="lt1"/>
                  </a:solidFill>
                  <a:latin typeface="Calibri"/>
                  <a:ea typeface="Calibri"/>
                  <a:cs typeface="Calibri"/>
                  <a:sym typeface="Calibri"/>
                </a:rPr>
                <a:t>前</a:t>
              </a:r>
              <a:endParaRPr sz="1400" b="0" i="0" u="none" strike="noStrike" cap="none">
                <a:solidFill>
                  <a:srgbClr val="000000"/>
                </a:solidFill>
                <a:latin typeface="Arial"/>
                <a:ea typeface="Arial"/>
                <a:cs typeface="Arial"/>
                <a:sym typeface="Arial"/>
              </a:endParaRPr>
            </a:p>
          </p:txBody>
        </p:sp>
      </p:grpSp>
      <p:grpSp>
        <p:nvGrpSpPr>
          <p:cNvPr id="331" name="Google Shape;331;p13"/>
          <p:cNvGrpSpPr/>
          <p:nvPr/>
        </p:nvGrpSpPr>
        <p:grpSpPr>
          <a:xfrm>
            <a:off x="5067313" y="1534250"/>
            <a:ext cx="896524" cy="756000"/>
            <a:chOff x="644298" y="1534250"/>
            <a:chExt cx="896524" cy="756000"/>
          </a:xfrm>
        </p:grpSpPr>
        <p:sp>
          <p:nvSpPr>
            <p:cNvPr id="332" name="Google Shape;332;p13"/>
            <p:cNvSpPr/>
            <p:nvPr/>
          </p:nvSpPr>
          <p:spPr>
            <a:xfrm>
              <a:off x="714560" y="1534250"/>
              <a:ext cx="756000" cy="756000"/>
            </a:xfrm>
            <a:prstGeom prst="ellipse">
              <a:avLst/>
            </a:prstGeom>
            <a:solidFill>
              <a:srgbClr val="FFC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333" name="Google Shape;333;p13"/>
            <p:cNvSpPr txBox="1"/>
            <p:nvPr/>
          </p:nvSpPr>
          <p:spPr>
            <a:xfrm>
              <a:off x="644298" y="1722983"/>
              <a:ext cx="896524"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Calibri"/>
                  <a:ea typeface="Calibri"/>
                  <a:cs typeface="Calibri"/>
                  <a:sym typeface="Calibri"/>
                </a:rPr>
                <a:t>研修</a:t>
              </a:r>
              <a:r>
                <a:rPr lang="ja-JP" sz="1600" b="1" i="0" u="none" strike="noStrike" cap="none">
                  <a:solidFill>
                    <a:schemeClr val="lt1"/>
                  </a:solidFill>
                  <a:latin typeface="Calibri"/>
                  <a:ea typeface="Calibri"/>
                  <a:cs typeface="Calibri"/>
                  <a:sym typeface="Calibri"/>
                </a:rPr>
                <a:t>後</a:t>
              </a:r>
              <a:endParaRPr sz="1600" b="1" i="0" u="none" strike="noStrike" cap="none">
                <a:solidFill>
                  <a:schemeClr val="lt1"/>
                </a:solidFill>
                <a:latin typeface="Calibri"/>
                <a:ea typeface="Calibri"/>
                <a:cs typeface="Calibri"/>
                <a:sym typeface="Calibri"/>
              </a:endParaRPr>
            </a:p>
          </p:txBody>
        </p:sp>
      </p:grpSp>
      <p:pic>
        <p:nvPicPr>
          <p:cNvPr id="334" name="Google Shape;334;p13"/>
          <p:cNvPicPr preferRelativeResize="0"/>
          <p:nvPr/>
        </p:nvPicPr>
        <p:blipFill rotWithShape="1">
          <a:blip r:embed="rId3">
            <a:alphaModFix/>
          </a:blip>
          <a:srcRect/>
          <a:stretch/>
        </p:blipFill>
        <p:spPr>
          <a:xfrm>
            <a:off x="1123650" y="4427494"/>
            <a:ext cx="2550541" cy="1941457"/>
          </a:xfrm>
          <a:prstGeom prst="rect">
            <a:avLst/>
          </a:prstGeom>
          <a:noFill/>
          <a:ln>
            <a:noFill/>
          </a:ln>
        </p:spPr>
      </p:pic>
      <p:pic>
        <p:nvPicPr>
          <p:cNvPr id="335" name="Google Shape;335;p13"/>
          <p:cNvPicPr preferRelativeResize="0"/>
          <p:nvPr/>
        </p:nvPicPr>
        <p:blipFill rotWithShape="1">
          <a:blip r:embed="rId4">
            <a:alphaModFix/>
          </a:blip>
          <a:srcRect l="4682" t="6608" b="8413"/>
          <a:stretch/>
        </p:blipFill>
        <p:spPr>
          <a:xfrm>
            <a:off x="1123650" y="2496556"/>
            <a:ext cx="2550541" cy="1704642"/>
          </a:xfrm>
          <a:prstGeom prst="rect">
            <a:avLst/>
          </a:prstGeom>
          <a:noFill/>
          <a:ln>
            <a:noFill/>
          </a:ln>
        </p:spPr>
      </p:pic>
      <p:sp>
        <p:nvSpPr>
          <p:cNvPr id="336" name="Google Shape;336;p13"/>
          <p:cNvSpPr txBox="1"/>
          <p:nvPr/>
        </p:nvSpPr>
        <p:spPr>
          <a:xfrm>
            <a:off x="1278781" y="3164211"/>
            <a:ext cx="2240278"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英語でのセミナー</a:t>
            </a:r>
            <a:endParaRPr sz="1800" b="1" i="0" u="none" strike="noStrike" cap="none">
              <a:solidFill>
                <a:schemeClr val="lt1"/>
              </a:solidFill>
              <a:latin typeface="Calibri"/>
              <a:ea typeface="Calibri"/>
              <a:cs typeface="Calibri"/>
              <a:sym typeface="Calibri"/>
            </a:endParaRPr>
          </a:p>
        </p:txBody>
      </p:sp>
      <p:sp>
        <p:nvSpPr>
          <p:cNvPr id="337" name="Google Shape;337;p13"/>
          <p:cNvSpPr txBox="1"/>
          <p:nvPr/>
        </p:nvSpPr>
        <p:spPr>
          <a:xfrm>
            <a:off x="1278781" y="5213556"/>
            <a:ext cx="2240278"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ポスター発表</a:t>
            </a:r>
            <a:endParaRPr sz="1800" b="1" i="0" u="none" strike="noStrike" cap="none">
              <a:solidFill>
                <a:schemeClr val="lt1"/>
              </a:solidFill>
              <a:latin typeface="Calibri"/>
              <a:ea typeface="Calibri"/>
              <a:cs typeface="Calibri"/>
              <a:sym typeface="Calibri"/>
            </a:endParaRPr>
          </a:p>
        </p:txBody>
      </p:sp>
      <p:pic>
        <p:nvPicPr>
          <p:cNvPr id="338" name="Google Shape;338;p13"/>
          <p:cNvPicPr preferRelativeResize="0"/>
          <p:nvPr/>
        </p:nvPicPr>
        <p:blipFill rotWithShape="1">
          <a:blip r:embed="rId5">
            <a:alphaModFix/>
          </a:blip>
          <a:srcRect b="7245"/>
          <a:stretch/>
        </p:blipFill>
        <p:spPr>
          <a:xfrm flipH="1">
            <a:off x="5548402" y="2497450"/>
            <a:ext cx="2445669" cy="1701332"/>
          </a:xfrm>
          <a:prstGeom prst="rect">
            <a:avLst/>
          </a:prstGeom>
          <a:noFill/>
          <a:ln>
            <a:noFill/>
          </a:ln>
        </p:spPr>
      </p:pic>
      <p:sp>
        <p:nvSpPr>
          <p:cNvPr id="339" name="Google Shape;339;p13"/>
          <p:cNvSpPr txBox="1"/>
          <p:nvPr/>
        </p:nvSpPr>
        <p:spPr>
          <a:xfrm>
            <a:off x="5615250" y="3201043"/>
            <a:ext cx="2240278"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体験談を発表</a:t>
            </a:r>
            <a:endParaRPr sz="1800" b="1" i="0" u="none" strike="noStrike" cap="none">
              <a:solidFill>
                <a:schemeClr val="lt1"/>
              </a:solidFill>
              <a:latin typeface="Calibri"/>
              <a:ea typeface="Calibri"/>
              <a:cs typeface="Calibri"/>
              <a:sym typeface="Calibri"/>
            </a:endParaRPr>
          </a:p>
        </p:txBody>
      </p:sp>
      <p:pic>
        <p:nvPicPr>
          <p:cNvPr id="340" name="Google Shape;340;p13"/>
          <p:cNvPicPr preferRelativeResize="0"/>
          <p:nvPr/>
        </p:nvPicPr>
        <p:blipFill rotWithShape="1">
          <a:blip r:embed="rId6">
            <a:alphaModFix/>
          </a:blip>
          <a:srcRect r="10247"/>
          <a:stretch/>
        </p:blipFill>
        <p:spPr>
          <a:xfrm>
            <a:off x="5553675" y="4427494"/>
            <a:ext cx="2440396" cy="1941457"/>
          </a:xfrm>
          <a:prstGeom prst="rect">
            <a:avLst/>
          </a:prstGeom>
          <a:noFill/>
          <a:ln>
            <a:noFill/>
          </a:ln>
        </p:spPr>
      </p:pic>
      <p:sp>
        <p:nvSpPr>
          <p:cNvPr id="341" name="Google Shape;341;p13"/>
          <p:cNvSpPr txBox="1"/>
          <p:nvPr/>
        </p:nvSpPr>
        <p:spPr>
          <a:xfrm>
            <a:off x="5653734" y="5075057"/>
            <a:ext cx="2240278"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海外インターン</a:t>
            </a:r>
            <a:endParaRPr sz="1800" b="1"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情報の共有</a:t>
            </a:r>
            <a:endParaRPr sz="1400" b="0" i="0" u="none" strike="noStrike" cap="none">
              <a:solidFill>
                <a:srgbClr val="000000"/>
              </a:solidFill>
              <a:latin typeface="Arial"/>
              <a:ea typeface="Arial"/>
              <a:cs typeface="Arial"/>
              <a:sym typeface="Arial"/>
            </a:endParaRPr>
          </a:p>
        </p:txBody>
      </p:sp>
      <p:sp>
        <p:nvSpPr>
          <p:cNvPr id="342" name="Google Shape;342;p13"/>
          <p:cNvSpPr/>
          <p:nvPr/>
        </p:nvSpPr>
        <p:spPr>
          <a:xfrm rot="5400000">
            <a:off x="4368842" y="4013252"/>
            <a:ext cx="484909" cy="442491"/>
          </a:xfrm>
          <a:prstGeom prst="triangle">
            <a:avLst>
              <a:gd name="adj" fmla="val 50000"/>
            </a:avLst>
          </a:prstGeom>
          <a:solidFill>
            <a:srgbClr val="FFC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14"/>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17</a:t>
            </a:fld>
            <a:endParaRPr/>
          </a:p>
        </p:txBody>
      </p:sp>
      <p:sp>
        <p:nvSpPr>
          <p:cNvPr id="348" name="Google Shape;348;p14"/>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プログラムの特徴</a:t>
            </a:r>
            <a:endParaRPr/>
          </a:p>
        </p:txBody>
      </p:sp>
      <p:sp>
        <p:nvSpPr>
          <p:cNvPr id="349" name="Google Shape;349;p14"/>
          <p:cNvSpPr txBox="1"/>
          <p:nvPr/>
        </p:nvSpPr>
        <p:spPr>
          <a:xfrm>
            <a:off x="472965" y="914400"/>
            <a:ext cx="525517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0" i="0" u="none" strike="noStrike" cap="none">
                <a:solidFill>
                  <a:srgbClr val="2498DA"/>
                </a:solidFill>
                <a:latin typeface="Arial"/>
                <a:ea typeface="Arial"/>
                <a:cs typeface="Arial"/>
                <a:sym typeface="Arial"/>
              </a:rPr>
              <a:t>さまざまな国籍の学生との交流</a:t>
            </a:r>
            <a:endParaRPr sz="2400" b="0" i="0" u="none" strike="noStrike" cap="none">
              <a:solidFill>
                <a:srgbClr val="2498DA"/>
              </a:solidFill>
              <a:latin typeface="Arial"/>
              <a:ea typeface="Arial"/>
              <a:cs typeface="Arial"/>
              <a:sym typeface="Arial"/>
            </a:endParaRPr>
          </a:p>
        </p:txBody>
      </p:sp>
      <p:pic>
        <p:nvPicPr>
          <p:cNvPr id="350" name="Google Shape;350;p14"/>
          <p:cNvPicPr preferRelativeResize="0"/>
          <p:nvPr/>
        </p:nvPicPr>
        <p:blipFill rotWithShape="1">
          <a:blip r:embed="rId3">
            <a:alphaModFix/>
          </a:blip>
          <a:srcRect l="7811"/>
          <a:stretch/>
        </p:blipFill>
        <p:spPr>
          <a:xfrm>
            <a:off x="1107034" y="3912654"/>
            <a:ext cx="3471220" cy="2234619"/>
          </a:xfrm>
          <a:prstGeom prst="rect">
            <a:avLst/>
          </a:prstGeom>
          <a:noFill/>
          <a:ln>
            <a:noFill/>
          </a:ln>
        </p:spPr>
      </p:pic>
      <p:pic>
        <p:nvPicPr>
          <p:cNvPr id="351" name="Google Shape;351;p14"/>
          <p:cNvPicPr preferRelativeResize="0"/>
          <p:nvPr/>
        </p:nvPicPr>
        <p:blipFill rotWithShape="1">
          <a:blip r:embed="rId4">
            <a:alphaModFix/>
          </a:blip>
          <a:srcRect t="7347" r="5835" b="8276"/>
          <a:stretch/>
        </p:blipFill>
        <p:spPr>
          <a:xfrm>
            <a:off x="1107034" y="1764938"/>
            <a:ext cx="3223940" cy="2018910"/>
          </a:xfrm>
          <a:prstGeom prst="rect">
            <a:avLst/>
          </a:prstGeom>
          <a:noFill/>
          <a:ln>
            <a:noFill/>
          </a:ln>
        </p:spPr>
      </p:pic>
      <p:pic>
        <p:nvPicPr>
          <p:cNvPr id="352" name="Google Shape;352;p14"/>
          <p:cNvPicPr preferRelativeResize="0"/>
          <p:nvPr/>
        </p:nvPicPr>
        <p:blipFill rotWithShape="1">
          <a:blip r:embed="rId5">
            <a:alphaModFix/>
          </a:blip>
          <a:srcRect/>
          <a:stretch/>
        </p:blipFill>
        <p:spPr>
          <a:xfrm>
            <a:off x="4475384" y="1751083"/>
            <a:ext cx="3231172" cy="2018909"/>
          </a:xfrm>
          <a:prstGeom prst="rect">
            <a:avLst/>
          </a:prstGeom>
          <a:noFill/>
          <a:ln>
            <a:noFill/>
          </a:ln>
        </p:spPr>
      </p:pic>
      <p:pic>
        <p:nvPicPr>
          <p:cNvPr id="353" name="Google Shape;353;p14"/>
          <p:cNvPicPr preferRelativeResize="0"/>
          <p:nvPr/>
        </p:nvPicPr>
        <p:blipFill rotWithShape="1">
          <a:blip r:embed="rId6">
            <a:alphaModFix/>
          </a:blip>
          <a:srcRect/>
          <a:stretch/>
        </p:blipFill>
        <p:spPr>
          <a:xfrm>
            <a:off x="4722664" y="3912654"/>
            <a:ext cx="2997747" cy="223461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g209de7d90b5_0_1"/>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SzPts val="2000"/>
              <a:buNone/>
            </a:pPr>
            <a:r>
              <a:rPr lang="ja-JP"/>
              <a:t>プログラムの特徴</a:t>
            </a:r>
            <a:endParaRPr/>
          </a:p>
        </p:txBody>
      </p:sp>
      <p:pic>
        <p:nvPicPr>
          <p:cNvPr id="360" name="Google Shape;360;g209de7d90b5_0_1"/>
          <p:cNvPicPr preferRelativeResize="0"/>
          <p:nvPr/>
        </p:nvPicPr>
        <p:blipFill rotWithShape="1">
          <a:blip r:embed="rId3">
            <a:alphaModFix/>
          </a:blip>
          <a:srcRect/>
          <a:stretch/>
        </p:blipFill>
        <p:spPr>
          <a:xfrm>
            <a:off x="294949" y="2154449"/>
            <a:ext cx="4108351" cy="3049575"/>
          </a:xfrm>
          <a:prstGeom prst="rect">
            <a:avLst/>
          </a:prstGeom>
          <a:noFill/>
          <a:ln>
            <a:noFill/>
          </a:ln>
        </p:spPr>
      </p:pic>
      <p:sp>
        <p:nvSpPr>
          <p:cNvPr id="361" name="Google Shape;361;g209de7d90b5_0_1"/>
          <p:cNvSpPr txBox="1"/>
          <p:nvPr/>
        </p:nvSpPr>
        <p:spPr>
          <a:xfrm>
            <a:off x="1305038" y="5297425"/>
            <a:ext cx="172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Calibri"/>
                <a:ea typeface="Calibri"/>
                <a:cs typeface="Calibri"/>
                <a:sym typeface="Calibri"/>
              </a:rPr>
              <a:t>アラブ首長国連邦</a:t>
            </a:r>
            <a:endParaRPr sz="1400" b="0" i="0" u="none" strike="noStrike" cap="none">
              <a:solidFill>
                <a:srgbClr val="000000"/>
              </a:solidFill>
              <a:latin typeface="Calibri"/>
              <a:ea typeface="Calibri"/>
              <a:cs typeface="Calibri"/>
              <a:sym typeface="Calibri"/>
            </a:endParaRPr>
          </a:p>
        </p:txBody>
      </p:sp>
      <p:sp>
        <p:nvSpPr>
          <p:cNvPr id="362" name="Google Shape;362;g209de7d90b5_0_1"/>
          <p:cNvSpPr txBox="1"/>
          <p:nvPr/>
        </p:nvSpPr>
        <p:spPr>
          <a:xfrm>
            <a:off x="472965" y="897525"/>
            <a:ext cx="5255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0" i="0" u="none" strike="noStrike" cap="none">
                <a:solidFill>
                  <a:srgbClr val="2498DA"/>
                </a:solidFill>
                <a:latin typeface="Arial"/>
                <a:ea typeface="Arial"/>
                <a:cs typeface="Arial"/>
                <a:sym typeface="Arial"/>
              </a:rPr>
              <a:t>さまざまなインターン先（中東）</a:t>
            </a:r>
            <a:endParaRPr sz="2400" b="0" i="0" u="none" strike="noStrike" cap="none">
              <a:solidFill>
                <a:srgbClr val="2498DA"/>
              </a:solidFill>
              <a:latin typeface="Arial"/>
              <a:ea typeface="Arial"/>
              <a:cs typeface="Arial"/>
              <a:sym typeface="Arial"/>
            </a:endParaRPr>
          </a:p>
        </p:txBody>
      </p:sp>
      <p:sp>
        <p:nvSpPr>
          <p:cNvPr id="363" name="Google Shape;363;g209de7d90b5_0_1"/>
          <p:cNvSpPr txBox="1"/>
          <p:nvPr/>
        </p:nvSpPr>
        <p:spPr>
          <a:xfrm>
            <a:off x="6399875" y="5297425"/>
            <a:ext cx="172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Calibri"/>
                <a:ea typeface="Calibri"/>
                <a:cs typeface="Calibri"/>
                <a:sym typeface="Calibri"/>
              </a:rPr>
              <a:t>オマーン</a:t>
            </a:r>
            <a:endParaRPr sz="1400" b="0" i="0" u="none" strike="noStrike" cap="none">
              <a:solidFill>
                <a:srgbClr val="000000"/>
              </a:solidFill>
              <a:latin typeface="Calibri"/>
              <a:ea typeface="Calibri"/>
              <a:cs typeface="Calibri"/>
              <a:sym typeface="Calibri"/>
            </a:endParaRPr>
          </a:p>
        </p:txBody>
      </p:sp>
      <p:pic>
        <p:nvPicPr>
          <p:cNvPr id="364" name="Google Shape;364;g209de7d90b5_0_1"/>
          <p:cNvPicPr preferRelativeResize="0"/>
          <p:nvPr/>
        </p:nvPicPr>
        <p:blipFill rotWithShape="1">
          <a:blip r:embed="rId4">
            <a:alphaModFix/>
          </a:blip>
          <a:srcRect/>
          <a:stretch/>
        </p:blipFill>
        <p:spPr>
          <a:xfrm>
            <a:off x="4727375" y="2154449"/>
            <a:ext cx="4103094" cy="3049575"/>
          </a:xfrm>
          <a:prstGeom prst="rect">
            <a:avLst/>
          </a:prstGeom>
          <a:noFill/>
          <a:ln>
            <a:noFill/>
          </a:ln>
        </p:spPr>
      </p:pic>
      <p:sp>
        <p:nvSpPr>
          <p:cNvPr id="365" name="Google Shape;365;g209de7d90b5_0_1"/>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209de7d90b5_0_24"/>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SzPts val="2000"/>
              <a:buNone/>
            </a:pPr>
            <a:r>
              <a:rPr lang="ja-JP"/>
              <a:t>プログラムの特徴</a:t>
            </a:r>
            <a:endParaRPr/>
          </a:p>
        </p:txBody>
      </p:sp>
      <p:sp>
        <p:nvSpPr>
          <p:cNvPr id="372" name="Google Shape;372;g209de7d90b5_0_24"/>
          <p:cNvSpPr txBox="1"/>
          <p:nvPr/>
        </p:nvSpPr>
        <p:spPr>
          <a:xfrm>
            <a:off x="472965" y="897525"/>
            <a:ext cx="5255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0" i="0" u="none" strike="noStrike" cap="none">
                <a:solidFill>
                  <a:srgbClr val="2498DA"/>
                </a:solidFill>
                <a:latin typeface="Arial"/>
                <a:ea typeface="Arial"/>
                <a:cs typeface="Arial"/>
                <a:sym typeface="Arial"/>
              </a:rPr>
              <a:t>さまざまなインターン先（ケニア）</a:t>
            </a:r>
            <a:endParaRPr sz="2400" b="0" i="0" u="none" strike="noStrike" cap="none">
              <a:solidFill>
                <a:srgbClr val="2498DA"/>
              </a:solidFill>
              <a:latin typeface="Arial"/>
              <a:ea typeface="Arial"/>
              <a:cs typeface="Arial"/>
              <a:sym typeface="Arial"/>
            </a:endParaRPr>
          </a:p>
        </p:txBody>
      </p:sp>
      <p:pic>
        <p:nvPicPr>
          <p:cNvPr id="373" name="Google Shape;373;g209de7d90b5_0_24"/>
          <p:cNvPicPr preferRelativeResize="0"/>
          <p:nvPr/>
        </p:nvPicPr>
        <p:blipFill rotWithShape="1">
          <a:blip r:embed="rId3">
            <a:alphaModFix/>
          </a:blip>
          <a:srcRect/>
          <a:stretch/>
        </p:blipFill>
        <p:spPr>
          <a:xfrm>
            <a:off x="472975" y="2686444"/>
            <a:ext cx="4882401" cy="3669382"/>
          </a:xfrm>
          <a:prstGeom prst="rect">
            <a:avLst/>
          </a:prstGeom>
          <a:noFill/>
          <a:ln>
            <a:noFill/>
          </a:ln>
        </p:spPr>
      </p:pic>
      <p:pic>
        <p:nvPicPr>
          <p:cNvPr id="374" name="Google Shape;374;g209de7d90b5_0_24"/>
          <p:cNvPicPr preferRelativeResize="0"/>
          <p:nvPr/>
        </p:nvPicPr>
        <p:blipFill rotWithShape="1">
          <a:blip r:embed="rId4">
            <a:alphaModFix/>
          </a:blip>
          <a:srcRect/>
          <a:stretch/>
        </p:blipFill>
        <p:spPr>
          <a:xfrm>
            <a:off x="4268175" y="1754575"/>
            <a:ext cx="4579750" cy="3053175"/>
          </a:xfrm>
          <a:prstGeom prst="rect">
            <a:avLst/>
          </a:prstGeom>
          <a:noFill/>
          <a:ln>
            <a:noFill/>
          </a:ln>
        </p:spPr>
      </p:pic>
      <p:sp>
        <p:nvSpPr>
          <p:cNvPr id="375" name="Google Shape;375;g209de7d90b5_0_24"/>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g209de7d90b5_0_11"/>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SzPts val="2000"/>
              <a:buNone/>
            </a:pPr>
            <a:r>
              <a:rPr lang="ja-JP"/>
              <a:t>プログラムの特徴</a:t>
            </a:r>
            <a:endParaRPr/>
          </a:p>
        </p:txBody>
      </p:sp>
      <p:sp>
        <p:nvSpPr>
          <p:cNvPr id="382" name="Google Shape;382;g209de7d90b5_0_11"/>
          <p:cNvSpPr txBox="1"/>
          <p:nvPr/>
        </p:nvSpPr>
        <p:spPr>
          <a:xfrm>
            <a:off x="1600763" y="5449275"/>
            <a:ext cx="172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Calibri"/>
                <a:ea typeface="Calibri"/>
                <a:cs typeface="Calibri"/>
                <a:sym typeface="Calibri"/>
              </a:rPr>
              <a:t>ノルウェー</a:t>
            </a:r>
            <a:endParaRPr sz="1400" b="0" i="0" u="none" strike="noStrike" cap="none">
              <a:solidFill>
                <a:srgbClr val="000000"/>
              </a:solidFill>
              <a:latin typeface="Calibri"/>
              <a:ea typeface="Calibri"/>
              <a:cs typeface="Calibri"/>
              <a:sym typeface="Calibri"/>
            </a:endParaRPr>
          </a:p>
        </p:txBody>
      </p:sp>
      <p:pic>
        <p:nvPicPr>
          <p:cNvPr id="383" name="Google Shape;383;g209de7d90b5_0_11"/>
          <p:cNvPicPr preferRelativeResize="0"/>
          <p:nvPr/>
        </p:nvPicPr>
        <p:blipFill rotWithShape="1">
          <a:blip r:embed="rId3">
            <a:alphaModFix/>
          </a:blip>
          <a:srcRect/>
          <a:stretch/>
        </p:blipFill>
        <p:spPr>
          <a:xfrm>
            <a:off x="4656085" y="2075125"/>
            <a:ext cx="4408739" cy="3299800"/>
          </a:xfrm>
          <a:prstGeom prst="rect">
            <a:avLst/>
          </a:prstGeom>
          <a:noFill/>
          <a:ln>
            <a:noFill/>
          </a:ln>
        </p:spPr>
      </p:pic>
      <p:sp>
        <p:nvSpPr>
          <p:cNvPr id="384" name="Google Shape;384;g209de7d90b5_0_11"/>
          <p:cNvSpPr txBox="1"/>
          <p:nvPr/>
        </p:nvSpPr>
        <p:spPr>
          <a:xfrm>
            <a:off x="6399875" y="5449275"/>
            <a:ext cx="172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Calibri"/>
                <a:ea typeface="Calibri"/>
                <a:cs typeface="Calibri"/>
                <a:sym typeface="Calibri"/>
              </a:rPr>
              <a:t>アイスランド</a:t>
            </a:r>
            <a:endParaRPr sz="1400" b="0" i="0" u="none" strike="noStrike" cap="none">
              <a:solidFill>
                <a:srgbClr val="000000"/>
              </a:solidFill>
              <a:latin typeface="Calibri"/>
              <a:ea typeface="Calibri"/>
              <a:cs typeface="Calibri"/>
              <a:sym typeface="Calibri"/>
            </a:endParaRPr>
          </a:p>
        </p:txBody>
      </p:sp>
      <p:sp>
        <p:nvSpPr>
          <p:cNvPr id="385" name="Google Shape;385;g209de7d90b5_0_11"/>
          <p:cNvSpPr txBox="1"/>
          <p:nvPr/>
        </p:nvSpPr>
        <p:spPr>
          <a:xfrm>
            <a:off x="472965" y="897525"/>
            <a:ext cx="5255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0" i="0" u="none" strike="noStrike" cap="none">
                <a:solidFill>
                  <a:srgbClr val="2498DA"/>
                </a:solidFill>
                <a:latin typeface="Arial"/>
                <a:ea typeface="Arial"/>
                <a:cs typeface="Arial"/>
                <a:sym typeface="Arial"/>
              </a:rPr>
              <a:t>さまざまなインターン先（北欧）</a:t>
            </a:r>
            <a:endParaRPr sz="2400" b="0" i="0" u="none" strike="noStrike" cap="none">
              <a:solidFill>
                <a:srgbClr val="2498DA"/>
              </a:solidFill>
              <a:latin typeface="Arial"/>
              <a:ea typeface="Arial"/>
              <a:cs typeface="Arial"/>
              <a:sym typeface="Arial"/>
            </a:endParaRPr>
          </a:p>
        </p:txBody>
      </p:sp>
      <p:pic>
        <p:nvPicPr>
          <p:cNvPr id="386" name="Google Shape;386;g209de7d90b5_0_11"/>
          <p:cNvPicPr preferRelativeResize="0"/>
          <p:nvPr/>
        </p:nvPicPr>
        <p:blipFill rotWithShape="1">
          <a:blip r:embed="rId4">
            <a:alphaModFix/>
          </a:blip>
          <a:srcRect/>
          <a:stretch/>
        </p:blipFill>
        <p:spPr>
          <a:xfrm>
            <a:off x="133975" y="2075125"/>
            <a:ext cx="4438024" cy="3299800"/>
          </a:xfrm>
          <a:prstGeom prst="rect">
            <a:avLst/>
          </a:prstGeom>
          <a:noFill/>
          <a:ln>
            <a:noFill/>
          </a:ln>
        </p:spPr>
      </p:pic>
      <p:sp>
        <p:nvSpPr>
          <p:cNvPr id="387" name="Google Shape;387;g209de7d90b5_0_11"/>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209de7d90b5_0_34"/>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SzPts val="2000"/>
              <a:buNone/>
            </a:pPr>
            <a:r>
              <a:rPr lang="ja-JP"/>
              <a:t>プログラムの特徴</a:t>
            </a:r>
            <a:endParaRPr/>
          </a:p>
        </p:txBody>
      </p:sp>
      <p:sp>
        <p:nvSpPr>
          <p:cNvPr id="394" name="Google Shape;394;g209de7d90b5_0_34"/>
          <p:cNvSpPr txBox="1"/>
          <p:nvPr/>
        </p:nvSpPr>
        <p:spPr>
          <a:xfrm>
            <a:off x="1452225" y="5432400"/>
            <a:ext cx="172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Calibri"/>
                <a:ea typeface="Calibri"/>
                <a:cs typeface="Calibri"/>
                <a:sym typeface="Calibri"/>
              </a:rPr>
              <a:t>スロベニア</a:t>
            </a:r>
            <a:endParaRPr sz="1400" b="0" i="0" u="none" strike="noStrike" cap="none">
              <a:solidFill>
                <a:srgbClr val="000000"/>
              </a:solidFill>
              <a:latin typeface="Calibri"/>
              <a:ea typeface="Calibri"/>
              <a:cs typeface="Calibri"/>
              <a:sym typeface="Calibri"/>
            </a:endParaRPr>
          </a:p>
        </p:txBody>
      </p:sp>
      <p:sp>
        <p:nvSpPr>
          <p:cNvPr id="395" name="Google Shape;395;g209de7d90b5_0_34"/>
          <p:cNvSpPr txBox="1"/>
          <p:nvPr/>
        </p:nvSpPr>
        <p:spPr>
          <a:xfrm>
            <a:off x="6399875" y="5297425"/>
            <a:ext cx="17253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Calibri"/>
                <a:ea typeface="Calibri"/>
                <a:cs typeface="Calibri"/>
                <a:sym typeface="Calibri"/>
              </a:rPr>
              <a:t>オランダ</a:t>
            </a:r>
            <a:endParaRPr sz="1400" b="0" i="0" u="none" strike="noStrike" cap="none">
              <a:solidFill>
                <a:srgbClr val="000000"/>
              </a:solidFill>
              <a:latin typeface="Calibri"/>
              <a:ea typeface="Calibri"/>
              <a:cs typeface="Calibri"/>
              <a:sym typeface="Calibri"/>
            </a:endParaRPr>
          </a:p>
        </p:txBody>
      </p:sp>
      <p:sp>
        <p:nvSpPr>
          <p:cNvPr id="396" name="Google Shape;396;g209de7d90b5_0_34"/>
          <p:cNvSpPr txBox="1"/>
          <p:nvPr/>
        </p:nvSpPr>
        <p:spPr>
          <a:xfrm>
            <a:off x="472965" y="897525"/>
            <a:ext cx="5255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0" i="0" u="none" strike="noStrike" cap="none">
                <a:solidFill>
                  <a:srgbClr val="2498DA"/>
                </a:solidFill>
                <a:latin typeface="Arial"/>
                <a:ea typeface="Arial"/>
                <a:cs typeface="Arial"/>
                <a:sym typeface="Arial"/>
              </a:rPr>
              <a:t>さまざまなインターン先（欧州）</a:t>
            </a:r>
            <a:endParaRPr sz="2400" b="0" i="0" u="none" strike="noStrike" cap="none">
              <a:solidFill>
                <a:srgbClr val="2498DA"/>
              </a:solidFill>
              <a:latin typeface="Arial"/>
              <a:ea typeface="Arial"/>
              <a:cs typeface="Arial"/>
              <a:sym typeface="Arial"/>
            </a:endParaRPr>
          </a:p>
        </p:txBody>
      </p:sp>
      <p:pic>
        <p:nvPicPr>
          <p:cNvPr id="397" name="Google Shape;397;g209de7d90b5_0_34"/>
          <p:cNvPicPr preferRelativeResize="0"/>
          <p:nvPr/>
        </p:nvPicPr>
        <p:blipFill rotWithShape="1">
          <a:blip r:embed="rId3">
            <a:alphaModFix/>
          </a:blip>
          <a:srcRect/>
          <a:stretch/>
        </p:blipFill>
        <p:spPr>
          <a:xfrm>
            <a:off x="141362" y="1961138"/>
            <a:ext cx="4347025" cy="3260236"/>
          </a:xfrm>
          <a:prstGeom prst="rect">
            <a:avLst/>
          </a:prstGeom>
          <a:noFill/>
          <a:ln>
            <a:noFill/>
          </a:ln>
        </p:spPr>
      </p:pic>
      <p:pic>
        <p:nvPicPr>
          <p:cNvPr id="398" name="Google Shape;398;g209de7d90b5_0_34"/>
          <p:cNvPicPr preferRelativeResize="0"/>
          <p:nvPr/>
        </p:nvPicPr>
        <p:blipFill rotWithShape="1">
          <a:blip r:embed="rId4">
            <a:alphaModFix/>
          </a:blip>
          <a:srcRect/>
          <a:stretch/>
        </p:blipFill>
        <p:spPr>
          <a:xfrm>
            <a:off x="4712075" y="1959850"/>
            <a:ext cx="4347025" cy="3262825"/>
          </a:xfrm>
          <a:prstGeom prst="rect">
            <a:avLst/>
          </a:prstGeom>
          <a:noFill/>
          <a:ln>
            <a:noFill/>
          </a:ln>
        </p:spPr>
      </p:pic>
      <p:sp>
        <p:nvSpPr>
          <p:cNvPr id="399" name="Google Shape;399;g209de7d90b5_0_34"/>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15"/>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22</a:t>
            </a:fld>
            <a:endParaRPr/>
          </a:p>
        </p:txBody>
      </p:sp>
      <p:sp>
        <p:nvSpPr>
          <p:cNvPr id="405" name="Google Shape;405;p15"/>
          <p:cNvSpPr txBox="1">
            <a:spLocks noGrp="1"/>
          </p:cNvSpPr>
          <p:nvPr>
            <p:ph type="title"/>
          </p:nvPr>
        </p:nvSpPr>
        <p:spPr>
          <a:xfrm>
            <a:off x="229651" y="12526"/>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Poppins Medium"/>
              <a:buNone/>
            </a:pPr>
            <a:r>
              <a:rPr lang="ja-JP" sz="2000" b="0">
                <a:latin typeface="Poppins Medium"/>
                <a:ea typeface="Poppins Medium"/>
                <a:cs typeface="Poppins Medium"/>
                <a:sym typeface="Poppins Medium"/>
              </a:rPr>
              <a:t>Contents</a:t>
            </a:r>
            <a:endParaRPr sz="2000" b="0">
              <a:latin typeface="Poppins Medium"/>
              <a:ea typeface="Poppins Medium"/>
              <a:cs typeface="Poppins Medium"/>
              <a:sym typeface="Poppins Medium"/>
            </a:endParaRPr>
          </a:p>
        </p:txBody>
      </p:sp>
      <p:grpSp>
        <p:nvGrpSpPr>
          <p:cNvPr id="406" name="Google Shape;406;p15"/>
          <p:cNvGrpSpPr/>
          <p:nvPr/>
        </p:nvGrpSpPr>
        <p:grpSpPr>
          <a:xfrm>
            <a:off x="861916" y="3012805"/>
            <a:ext cx="7420169" cy="902208"/>
            <a:chOff x="751559" y="1502789"/>
            <a:chExt cx="7420169" cy="902208"/>
          </a:xfrm>
        </p:grpSpPr>
        <p:pic>
          <p:nvPicPr>
            <p:cNvPr id="407" name="Google Shape;407;p15"/>
            <p:cNvPicPr preferRelativeResize="0"/>
            <p:nvPr/>
          </p:nvPicPr>
          <p:blipFill rotWithShape="1">
            <a:blip r:embed="rId3">
              <a:alphaModFix/>
            </a:blip>
            <a:srcRect t="9460" r="14521" b="24530"/>
            <a:stretch/>
          </p:blipFill>
          <p:spPr>
            <a:xfrm>
              <a:off x="4991848" y="1503123"/>
              <a:ext cx="3179880" cy="901874"/>
            </a:xfrm>
            <a:prstGeom prst="rect">
              <a:avLst/>
            </a:prstGeom>
            <a:noFill/>
            <a:ln>
              <a:noFill/>
            </a:ln>
          </p:spPr>
        </p:pic>
        <p:pic>
          <p:nvPicPr>
            <p:cNvPr id="408" name="Google Shape;408;p15"/>
            <p:cNvPicPr preferRelativeResize="0"/>
            <p:nvPr/>
          </p:nvPicPr>
          <p:blipFill rotWithShape="1">
            <a:blip r:embed="rId4">
              <a:alphaModFix amt="67000"/>
            </a:blip>
            <a:srcRect/>
            <a:stretch/>
          </p:blipFill>
          <p:spPr>
            <a:xfrm>
              <a:off x="5343184" y="1502789"/>
              <a:ext cx="2828544" cy="902208"/>
            </a:xfrm>
            <a:prstGeom prst="rect">
              <a:avLst/>
            </a:prstGeom>
            <a:noFill/>
            <a:ln>
              <a:noFill/>
            </a:ln>
          </p:spPr>
        </p:pic>
        <p:sp>
          <p:nvSpPr>
            <p:cNvPr id="409" name="Google Shape;409;p15"/>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chemeClr val="lt1"/>
                  </a:solidFill>
                  <a:latin typeface="Calibri"/>
                  <a:ea typeface="Calibri"/>
                  <a:cs typeface="Calibri"/>
                  <a:sym typeface="Calibri"/>
                </a:rPr>
                <a:t>プログラムの特徴</a:t>
              </a:r>
              <a:endParaRPr sz="1400" b="0" i="0" u="none" strike="noStrike" cap="none">
                <a:solidFill>
                  <a:srgbClr val="000000"/>
                </a:solidFill>
                <a:latin typeface="Arial"/>
                <a:ea typeface="Arial"/>
                <a:cs typeface="Arial"/>
                <a:sym typeface="Arial"/>
              </a:endParaRPr>
            </a:p>
          </p:txBody>
        </p:sp>
        <p:sp>
          <p:nvSpPr>
            <p:cNvPr id="410" name="Google Shape;410;p15"/>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2</a:t>
              </a:r>
              <a:endParaRPr sz="1600" b="0" i="0" u="none" strike="noStrike" cap="none">
                <a:solidFill>
                  <a:schemeClr val="lt1"/>
                </a:solidFill>
                <a:latin typeface="Poppins Medium"/>
                <a:ea typeface="Poppins Medium"/>
                <a:cs typeface="Poppins Medium"/>
                <a:sym typeface="Poppins Medium"/>
              </a:endParaRPr>
            </a:p>
          </p:txBody>
        </p:sp>
      </p:grpSp>
      <p:grpSp>
        <p:nvGrpSpPr>
          <p:cNvPr id="411" name="Google Shape;411;p15"/>
          <p:cNvGrpSpPr/>
          <p:nvPr/>
        </p:nvGrpSpPr>
        <p:grpSpPr>
          <a:xfrm>
            <a:off x="861916" y="1623304"/>
            <a:ext cx="7404318" cy="902208"/>
            <a:chOff x="854306" y="1428201"/>
            <a:chExt cx="7404318" cy="902208"/>
          </a:xfrm>
        </p:grpSpPr>
        <p:grpSp>
          <p:nvGrpSpPr>
            <p:cNvPr id="412" name="Google Shape;412;p15"/>
            <p:cNvGrpSpPr/>
            <p:nvPr/>
          </p:nvGrpSpPr>
          <p:grpSpPr>
            <a:xfrm>
              <a:off x="854306" y="1428201"/>
              <a:ext cx="7404318" cy="902208"/>
              <a:chOff x="751559" y="1503123"/>
              <a:chExt cx="7404318" cy="902208"/>
            </a:xfrm>
          </p:grpSpPr>
          <p:pic>
            <p:nvPicPr>
              <p:cNvPr id="413" name="Google Shape;413;p15"/>
              <p:cNvPicPr preferRelativeResize="0"/>
              <p:nvPr/>
            </p:nvPicPr>
            <p:blipFill rotWithShape="1">
              <a:blip r:embed="rId4">
                <a:alphaModFix amt="81000"/>
              </a:blip>
              <a:srcRect/>
              <a:stretch/>
            </p:blipFill>
            <p:spPr>
              <a:xfrm>
                <a:off x="5327333" y="1503123"/>
                <a:ext cx="2828544" cy="902208"/>
              </a:xfrm>
              <a:prstGeom prst="rect">
                <a:avLst/>
              </a:prstGeom>
              <a:noFill/>
              <a:ln>
                <a:noFill/>
              </a:ln>
            </p:spPr>
          </p:pic>
          <p:sp>
            <p:nvSpPr>
              <p:cNvPr id="414" name="Google Shape;414;p15"/>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0" i="0" u="none" strike="noStrike" cap="none">
                    <a:solidFill>
                      <a:schemeClr val="lt1"/>
                    </a:solidFill>
                    <a:latin typeface="Poppins Medium"/>
                    <a:ea typeface="Poppins Medium"/>
                    <a:cs typeface="Poppins Medium"/>
                    <a:sym typeface="Poppins Medium"/>
                  </a:rPr>
                  <a:t>IAESTE</a:t>
                </a:r>
                <a:r>
                  <a:rPr lang="ja-JP" sz="2600" b="1" i="0" u="none" strike="noStrike" cap="none">
                    <a:solidFill>
                      <a:schemeClr val="lt1"/>
                    </a:solidFill>
                    <a:latin typeface="Calibri"/>
                    <a:ea typeface="Calibri"/>
                    <a:cs typeface="Calibri"/>
                    <a:sym typeface="Calibri"/>
                  </a:rPr>
                  <a:t>とは</a:t>
                </a:r>
                <a:endParaRPr sz="1400" b="0" i="0" u="none" strike="noStrike" cap="none">
                  <a:solidFill>
                    <a:srgbClr val="000000"/>
                  </a:solidFill>
                  <a:latin typeface="Arial"/>
                  <a:ea typeface="Arial"/>
                  <a:cs typeface="Arial"/>
                  <a:sym typeface="Arial"/>
                </a:endParaRPr>
              </a:p>
            </p:txBody>
          </p:sp>
          <p:sp>
            <p:nvSpPr>
              <p:cNvPr id="415" name="Google Shape;415;p15"/>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1</a:t>
                </a:r>
                <a:endParaRPr sz="1600" b="0" i="0" u="none" strike="noStrike" cap="none">
                  <a:solidFill>
                    <a:schemeClr val="lt1"/>
                  </a:solidFill>
                  <a:latin typeface="Poppins Medium"/>
                  <a:ea typeface="Poppins Medium"/>
                  <a:cs typeface="Poppins Medium"/>
                  <a:sym typeface="Poppins Medium"/>
                </a:endParaRPr>
              </a:p>
            </p:txBody>
          </p:sp>
        </p:grpSp>
        <p:pic>
          <p:nvPicPr>
            <p:cNvPr id="416" name="Google Shape;416;p15"/>
            <p:cNvPicPr preferRelativeResize="0"/>
            <p:nvPr/>
          </p:nvPicPr>
          <p:blipFill rotWithShape="1">
            <a:blip r:embed="rId5">
              <a:alphaModFix/>
            </a:blip>
            <a:srcRect/>
            <a:stretch/>
          </p:blipFill>
          <p:spPr>
            <a:xfrm>
              <a:off x="5994728" y="1526857"/>
              <a:ext cx="1932234" cy="704561"/>
            </a:xfrm>
            <a:prstGeom prst="rect">
              <a:avLst/>
            </a:prstGeom>
            <a:noFill/>
            <a:ln>
              <a:noFill/>
            </a:ln>
          </p:spPr>
        </p:pic>
      </p:grpSp>
      <p:grpSp>
        <p:nvGrpSpPr>
          <p:cNvPr id="417" name="Google Shape;417;p15"/>
          <p:cNvGrpSpPr/>
          <p:nvPr/>
        </p:nvGrpSpPr>
        <p:grpSpPr>
          <a:xfrm>
            <a:off x="861916" y="4402306"/>
            <a:ext cx="7427779" cy="901874"/>
            <a:chOff x="854306" y="4406864"/>
            <a:chExt cx="7427779" cy="901874"/>
          </a:xfrm>
        </p:grpSpPr>
        <p:pic>
          <p:nvPicPr>
            <p:cNvPr id="418" name="Google Shape;418;p15"/>
            <p:cNvPicPr preferRelativeResize="0"/>
            <p:nvPr/>
          </p:nvPicPr>
          <p:blipFill rotWithShape="1">
            <a:blip r:embed="rId6">
              <a:alphaModFix/>
            </a:blip>
            <a:srcRect t="22795" b="353"/>
            <a:stretch/>
          </p:blipFill>
          <p:spPr>
            <a:xfrm>
              <a:off x="5339519" y="4410656"/>
              <a:ext cx="2942566" cy="898082"/>
            </a:xfrm>
            <a:prstGeom prst="rect">
              <a:avLst/>
            </a:prstGeom>
            <a:noFill/>
            <a:ln>
              <a:noFill/>
            </a:ln>
          </p:spPr>
        </p:pic>
        <p:grpSp>
          <p:nvGrpSpPr>
            <p:cNvPr id="419" name="Google Shape;419;p15"/>
            <p:cNvGrpSpPr/>
            <p:nvPr/>
          </p:nvGrpSpPr>
          <p:grpSpPr>
            <a:xfrm>
              <a:off x="854306" y="4406864"/>
              <a:ext cx="7427779" cy="901874"/>
              <a:chOff x="751559" y="1503123"/>
              <a:chExt cx="7427779" cy="901874"/>
            </a:xfrm>
          </p:grpSpPr>
          <p:pic>
            <p:nvPicPr>
              <p:cNvPr id="420" name="Google Shape;420;p15"/>
              <p:cNvPicPr preferRelativeResize="0"/>
              <p:nvPr/>
            </p:nvPicPr>
            <p:blipFill rotWithShape="1">
              <a:blip r:embed="rId4">
                <a:alphaModFix amt="67000"/>
              </a:blip>
              <a:srcRect/>
              <a:stretch/>
            </p:blipFill>
            <p:spPr>
              <a:xfrm>
                <a:off x="5363730" y="1506915"/>
                <a:ext cx="2815608" cy="898082"/>
              </a:xfrm>
              <a:prstGeom prst="rect">
                <a:avLst/>
              </a:prstGeom>
              <a:noFill/>
              <a:ln>
                <a:noFill/>
              </a:ln>
            </p:spPr>
          </p:pic>
          <p:sp>
            <p:nvSpPr>
              <p:cNvPr id="421" name="Google Shape;421;p15"/>
              <p:cNvSpPr/>
              <p:nvPr/>
            </p:nvSpPr>
            <p:spPr>
              <a:xfrm>
                <a:off x="751559" y="1503123"/>
                <a:ext cx="5010413" cy="901874"/>
              </a:xfrm>
              <a:custGeom>
                <a:avLst/>
                <a:gdLst/>
                <a:ahLst/>
                <a:cxnLst/>
                <a:rect l="l" t="t" r="r" b="b"/>
                <a:pathLst>
                  <a:path w="5010413" h="951977" extrusionOk="0">
                    <a:moveTo>
                      <a:pt x="0" y="12525"/>
                    </a:moveTo>
                    <a:lnTo>
                      <a:pt x="5010413" y="0"/>
                    </a:lnTo>
                    <a:lnTo>
                      <a:pt x="4647158" y="951977"/>
                    </a:lnTo>
                    <a:lnTo>
                      <a:pt x="0" y="951977"/>
                    </a:lnTo>
                    <a:lnTo>
                      <a:pt x="0" y="12525"/>
                    </a:lnTo>
                    <a:close/>
                  </a:path>
                </a:pathLst>
              </a:custGeom>
              <a:gradFill>
                <a:gsLst>
                  <a:gs pos="0">
                    <a:srgbClr val="185FAE"/>
                  </a:gs>
                  <a:gs pos="52999">
                    <a:srgbClr val="2498DA"/>
                  </a:gs>
                  <a:gs pos="100000">
                    <a:srgbClr val="3EB4A8"/>
                  </a:gs>
                </a:gsLst>
                <a:lin ang="0" scaled="0"/>
              </a:gradFill>
              <a:ln>
                <a:noFill/>
              </a:ln>
            </p:spPr>
            <p:txBody>
              <a:bodyPr spcFirstLastPara="1" wrap="square" lIns="827975" tIns="72000" rIns="91425" bIns="7200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ja-JP" sz="2600" b="1" i="0" u="none" strike="noStrike" cap="none">
                    <a:solidFill>
                      <a:schemeClr val="lt1"/>
                    </a:solidFill>
                    <a:latin typeface="Calibri"/>
                    <a:ea typeface="Calibri"/>
                    <a:cs typeface="Calibri"/>
                    <a:sym typeface="Calibri"/>
                  </a:rPr>
                  <a:t>応募から研修まで</a:t>
                </a:r>
                <a:endParaRPr sz="1400" b="0" i="0" u="none" strike="noStrike" cap="none">
                  <a:solidFill>
                    <a:srgbClr val="000000"/>
                  </a:solidFill>
                  <a:latin typeface="Arial"/>
                  <a:ea typeface="Arial"/>
                  <a:cs typeface="Arial"/>
                  <a:sym typeface="Arial"/>
                </a:endParaRPr>
              </a:p>
            </p:txBody>
          </p:sp>
          <p:sp>
            <p:nvSpPr>
              <p:cNvPr id="422" name="Google Shape;422;p15"/>
              <p:cNvSpPr txBox="1"/>
              <p:nvPr/>
            </p:nvSpPr>
            <p:spPr>
              <a:xfrm>
                <a:off x="876819" y="1592489"/>
                <a:ext cx="697338"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ja-JP" sz="4000" b="0" i="0" u="none" strike="noStrike" cap="none">
                    <a:solidFill>
                      <a:schemeClr val="lt1"/>
                    </a:solidFill>
                    <a:latin typeface="Poppins Medium"/>
                    <a:ea typeface="Poppins Medium"/>
                    <a:cs typeface="Poppins Medium"/>
                    <a:sym typeface="Poppins Medium"/>
                  </a:rPr>
                  <a:t>3</a:t>
                </a:r>
                <a:endParaRPr sz="1600" b="0" i="0" u="none" strike="noStrike" cap="none">
                  <a:solidFill>
                    <a:schemeClr val="lt1"/>
                  </a:solidFill>
                  <a:latin typeface="Poppins Medium"/>
                  <a:ea typeface="Poppins Medium"/>
                  <a:cs typeface="Poppins Medium"/>
                  <a:sym typeface="Poppins Medium"/>
                </a:endParaRPr>
              </a:p>
            </p:txBody>
          </p:sp>
        </p:grpSp>
      </p:grpSp>
      <p:sp>
        <p:nvSpPr>
          <p:cNvPr id="423" name="Google Shape;423;p15"/>
          <p:cNvSpPr/>
          <p:nvPr/>
        </p:nvSpPr>
        <p:spPr>
          <a:xfrm>
            <a:off x="838455" y="1621575"/>
            <a:ext cx="7580331" cy="2384737"/>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16"/>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23</a:t>
            </a:fld>
            <a:endParaRPr/>
          </a:p>
        </p:txBody>
      </p:sp>
      <p:sp>
        <p:nvSpPr>
          <p:cNvPr id="429" name="Google Shape;429;p16"/>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プログラムの概要</a:t>
            </a:r>
            <a:endParaRPr/>
          </a:p>
        </p:txBody>
      </p:sp>
      <p:graphicFrame>
        <p:nvGraphicFramePr>
          <p:cNvPr id="430" name="Google Shape;430;p16"/>
          <p:cNvGraphicFramePr/>
          <p:nvPr/>
        </p:nvGraphicFramePr>
        <p:xfrm>
          <a:off x="1766204" y="2168142"/>
          <a:ext cx="5832000" cy="3528000"/>
        </p:xfrm>
        <a:graphic>
          <a:graphicData uri="http://schemas.openxmlformats.org/drawingml/2006/table">
            <a:tbl>
              <a:tblPr firstRow="1" bandRow="1">
                <a:noFill/>
                <a:tableStyleId>{02FEB39E-33E0-4033-A97A-97D64E5FD191}</a:tableStyleId>
              </a:tblPr>
              <a:tblGrid>
                <a:gridCol w="2247000">
                  <a:extLst>
                    <a:ext uri="{9D8B030D-6E8A-4147-A177-3AD203B41FA5}">
                      <a16:colId xmlns:a16="http://schemas.microsoft.com/office/drawing/2014/main" val="20000"/>
                    </a:ext>
                  </a:extLst>
                </a:gridCol>
                <a:gridCol w="3585000">
                  <a:extLst>
                    <a:ext uri="{9D8B030D-6E8A-4147-A177-3AD203B41FA5}">
                      <a16:colId xmlns:a16="http://schemas.microsoft.com/office/drawing/2014/main" val="20001"/>
                    </a:ext>
                  </a:extLst>
                </a:gridCol>
              </a:tblGrid>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1" u="none" strike="noStrike" cap="none">
                          <a:solidFill>
                            <a:srgbClr val="2498DA"/>
                          </a:solidFill>
                          <a:latin typeface="Calibri"/>
                          <a:ea typeface="Calibri"/>
                          <a:cs typeface="Calibri"/>
                          <a:sym typeface="Calibri"/>
                        </a:rPr>
                        <a:t>対象</a:t>
                      </a:r>
                      <a:endParaRPr sz="1400" u="none" strike="noStrike" cap="none"/>
                    </a:p>
                  </a:txBody>
                  <a:tcPr marL="91450" marR="360000" marT="108000" marB="45725">
                    <a:lnT w="19050" cap="flat" cmpd="sng">
                      <a:solidFill>
                        <a:srgbClr val="2498DA"/>
                      </a:solidFill>
                      <a:prstDash val="solid"/>
                      <a:round/>
                      <a:headEnd type="none" w="sm" len="sm"/>
                      <a:tailEnd type="none" w="sm" len="sm"/>
                    </a:lnT>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学部 </a:t>
                      </a:r>
                      <a:r>
                        <a:rPr lang="ja-JP" sz="1800" b="0" i="0" u="none" strike="noStrike" cap="none">
                          <a:solidFill>
                            <a:schemeClr val="dk1"/>
                          </a:solidFill>
                          <a:latin typeface="Poppins Light"/>
                          <a:ea typeface="Poppins Light"/>
                          <a:cs typeface="Poppins Light"/>
                          <a:sym typeface="Poppins Light"/>
                        </a:rPr>
                        <a:t>3 </a:t>
                      </a:r>
                      <a:r>
                        <a:rPr lang="ja-JP" sz="1800" b="0" i="0" u="none" strike="noStrike" cap="none">
                          <a:solidFill>
                            <a:schemeClr val="dk1"/>
                          </a:solidFill>
                          <a:latin typeface="Calibri"/>
                          <a:ea typeface="Calibri"/>
                          <a:cs typeface="Calibri"/>
                          <a:sym typeface="Calibri"/>
                        </a:rPr>
                        <a:t>年生以上（大学院も可）</a:t>
                      </a:r>
                      <a:endParaRPr sz="1800" b="0" i="0" u="none" strike="noStrike" cap="none">
                        <a:solidFill>
                          <a:schemeClr val="dk1"/>
                        </a:solidFill>
                        <a:latin typeface="Calibri"/>
                        <a:ea typeface="Calibri"/>
                        <a:cs typeface="Calibri"/>
                        <a:sym typeface="Calibri"/>
                      </a:endParaRPr>
                    </a:p>
                  </a:txBody>
                  <a:tcPr marL="91450" marR="91450" marT="108000" marB="45725">
                    <a:lnT w="1905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endParaRPr sz="1800" b="1" u="none" strike="noStrike" cap="none">
                        <a:solidFill>
                          <a:srgbClr val="2498DA"/>
                        </a:solidFill>
                        <a:latin typeface="Calibri"/>
                        <a:ea typeface="Calibri"/>
                        <a:cs typeface="Calibri"/>
                        <a:sym typeface="Calibri"/>
                      </a:endParaRPr>
                    </a:p>
                  </a:txBody>
                  <a:tcPr marL="91450" marR="360000" marT="108000" marB="45725">
                    <a:lnB w="1270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latin typeface="Calibri"/>
                          <a:ea typeface="Calibri"/>
                          <a:cs typeface="Calibri"/>
                          <a:sym typeface="Calibri"/>
                        </a:rPr>
                        <a:t>英語能力が一定に達している者</a:t>
                      </a:r>
                      <a:endParaRPr sz="1800" b="0" i="0" u="none" strike="noStrike" cap="none">
                        <a:latin typeface="Calibri"/>
                        <a:ea typeface="Calibri"/>
                        <a:cs typeface="Calibri"/>
                        <a:sym typeface="Calibri"/>
                      </a:endParaRPr>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1" u="none" strike="noStrike" cap="none">
                          <a:solidFill>
                            <a:srgbClr val="2498DA"/>
                          </a:solidFill>
                          <a:latin typeface="Calibri"/>
                          <a:ea typeface="Calibri"/>
                          <a:cs typeface="Calibri"/>
                          <a:sym typeface="Calibri"/>
                        </a:rPr>
                        <a:t>研修先</a:t>
                      </a:r>
                      <a:endParaRPr sz="1400" u="none" strike="noStrike" cap="none"/>
                    </a:p>
                  </a:txBody>
                  <a:tcPr marL="91450" marR="360000" marT="108000" marB="45725">
                    <a:lnT w="12700" cap="flat" cmpd="sng">
                      <a:solidFill>
                        <a:srgbClr val="2498DA"/>
                      </a:solidFill>
                      <a:prstDash val="solid"/>
                      <a:round/>
                      <a:headEnd type="none" w="sm" len="sm"/>
                      <a:tailEnd type="none" w="sm" len="sm"/>
                    </a:lnT>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latin typeface="Calibri"/>
                          <a:ea typeface="Calibri"/>
                          <a:cs typeface="Calibri"/>
                          <a:sym typeface="Calibri"/>
                        </a:rPr>
                        <a:t>企業・大学・研究所</a:t>
                      </a:r>
                      <a:endParaRPr sz="1400" u="none" strike="noStrike" cap="none"/>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endParaRPr sz="1800" b="1" u="none" strike="noStrike" cap="none">
                        <a:solidFill>
                          <a:srgbClr val="2498DA"/>
                        </a:solidFill>
                        <a:latin typeface="Calibri"/>
                        <a:ea typeface="Calibri"/>
                        <a:cs typeface="Calibri"/>
                        <a:sym typeface="Calibri"/>
                      </a:endParaRPr>
                    </a:p>
                  </a:txBody>
                  <a:tcPr marL="91450" marR="360000" marT="108000" marB="45725">
                    <a:lnB w="1270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latin typeface="Calibri"/>
                          <a:ea typeface="Calibri"/>
                          <a:cs typeface="Calibri"/>
                          <a:sym typeface="Calibri"/>
                        </a:rPr>
                        <a:t>研修地域のみ指定できる</a:t>
                      </a:r>
                      <a:endParaRPr sz="1400" u="none" strike="noStrike" cap="none"/>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1" u="none" strike="noStrike" cap="none">
                          <a:solidFill>
                            <a:srgbClr val="2498DA"/>
                          </a:solidFill>
                          <a:latin typeface="Calibri"/>
                          <a:ea typeface="Calibri"/>
                          <a:cs typeface="Calibri"/>
                          <a:sym typeface="Calibri"/>
                        </a:rPr>
                        <a:t>期間</a:t>
                      </a:r>
                      <a:endParaRPr sz="1400" u="none" strike="noStrike" cap="none"/>
                    </a:p>
                  </a:txBody>
                  <a:tcPr marL="91450" marR="36000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latin typeface="Poppins Light"/>
                          <a:ea typeface="Poppins Light"/>
                          <a:cs typeface="Poppins Light"/>
                          <a:sym typeface="Poppins Light"/>
                        </a:rPr>
                        <a:t>8 – 52 </a:t>
                      </a:r>
                      <a:r>
                        <a:rPr lang="ja-JP" sz="1800" b="0" i="0" u="none" strike="noStrike" cap="none">
                          <a:latin typeface="Calibri"/>
                          <a:ea typeface="Calibri"/>
                          <a:cs typeface="Calibri"/>
                          <a:sym typeface="Calibri"/>
                        </a:rPr>
                        <a:t>週間</a:t>
                      </a:r>
                      <a:endParaRPr sz="1800" b="0" i="0" u="none" strike="noStrike" cap="none">
                        <a:latin typeface="Calibri"/>
                        <a:ea typeface="Calibri"/>
                        <a:cs typeface="Calibri"/>
                        <a:sym typeface="Calibri"/>
                      </a:endParaRPr>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1" u="none" strike="noStrike" cap="none">
                          <a:solidFill>
                            <a:srgbClr val="2498DA"/>
                          </a:solidFill>
                          <a:latin typeface="Calibri"/>
                          <a:ea typeface="Calibri"/>
                          <a:cs typeface="Calibri"/>
                          <a:sym typeface="Calibri"/>
                        </a:rPr>
                        <a:t>滞在先</a:t>
                      </a:r>
                      <a:endParaRPr sz="1400" u="none" strike="noStrike" cap="none"/>
                    </a:p>
                  </a:txBody>
                  <a:tcPr marL="91450" marR="36000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latin typeface="Calibri"/>
                          <a:ea typeface="Calibri"/>
                          <a:cs typeface="Calibri"/>
                          <a:sym typeface="Calibri"/>
                        </a:rPr>
                        <a:t>現地</a:t>
                      </a:r>
                      <a:r>
                        <a:rPr lang="ja-JP" sz="1800" b="0" i="0" u="none" strike="noStrike" cap="none">
                          <a:latin typeface="Poppins Light"/>
                          <a:ea typeface="Poppins Light"/>
                          <a:cs typeface="Poppins Light"/>
                          <a:sym typeface="Poppins Light"/>
                        </a:rPr>
                        <a:t>IAESTE</a:t>
                      </a:r>
                      <a:r>
                        <a:rPr lang="ja-JP" sz="1800" b="0" i="0" u="none" strike="noStrike" cap="none">
                          <a:latin typeface="Calibri"/>
                          <a:ea typeface="Calibri"/>
                          <a:cs typeface="Calibri"/>
                          <a:sym typeface="Calibri"/>
                        </a:rPr>
                        <a:t>委員会が手配</a:t>
                      </a:r>
                      <a:endParaRPr sz="1400" u="none" strike="noStrike" cap="none"/>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1" u="none" strike="noStrike" cap="none">
                          <a:solidFill>
                            <a:srgbClr val="2498DA"/>
                          </a:solidFill>
                          <a:latin typeface="Calibri"/>
                          <a:ea typeface="Calibri"/>
                          <a:cs typeface="Calibri"/>
                          <a:sym typeface="Calibri"/>
                        </a:rPr>
                        <a:t>共通言語</a:t>
                      </a:r>
                      <a:endParaRPr sz="1400" u="none" strike="noStrike" cap="none"/>
                    </a:p>
                  </a:txBody>
                  <a:tcPr marL="91450" marR="360000" marT="108000" marB="45725">
                    <a:lnT w="12700"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dirty="0">
                          <a:latin typeface="Calibri"/>
                          <a:ea typeface="Calibri"/>
                          <a:cs typeface="Calibri"/>
                          <a:sym typeface="Calibri"/>
                        </a:rPr>
                        <a:t>英語</a:t>
                      </a:r>
                      <a:endParaRPr sz="1400" u="none" strike="noStrike" cap="none" dirty="0"/>
                    </a:p>
                  </a:txBody>
                  <a:tcPr marL="91450" marR="91450" marT="108000" marB="45725">
                    <a:lnT w="12700"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431" name="Google Shape;431;p16"/>
          <p:cNvSpPr txBox="1"/>
          <p:nvPr/>
        </p:nvSpPr>
        <p:spPr>
          <a:xfrm>
            <a:off x="472964" y="1033668"/>
            <a:ext cx="683656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0" i="0" u="none" strike="noStrike" cap="none">
                <a:solidFill>
                  <a:srgbClr val="2498DA"/>
                </a:solidFill>
                <a:latin typeface="Poppins Medium"/>
                <a:ea typeface="Poppins Medium"/>
                <a:cs typeface="Poppins Medium"/>
                <a:sym typeface="Poppins Medium"/>
              </a:rPr>
              <a:t>IAESTE</a:t>
            </a:r>
            <a:r>
              <a:rPr lang="ja-JP" sz="2400" b="1" i="0" u="none" strike="noStrike" cap="none">
                <a:solidFill>
                  <a:srgbClr val="2498DA"/>
                </a:solidFill>
                <a:latin typeface="Calibri"/>
                <a:ea typeface="Calibri"/>
                <a:cs typeface="Calibri"/>
                <a:sym typeface="Calibri"/>
              </a:rPr>
              <a:t> 海外インターンプログラムについて</a:t>
            </a:r>
            <a:endParaRPr sz="2400" b="1" i="0" u="none" strike="noStrike" cap="none">
              <a:solidFill>
                <a:srgbClr val="2498DA"/>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7"/>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24</a:t>
            </a:fld>
            <a:endParaRPr/>
          </a:p>
        </p:txBody>
      </p:sp>
      <p:sp>
        <p:nvSpPr>
          <p:cNvPr id="437" name="Google Shape;437;p17"/>
          <p:cNvSpPr txBox="1">
            <a:spLocks noGrp="1"/>
          </p:cNvSpPr>
          <p:nvPr>
            <p:ph type="title"/>
          </p:nvPr>
        </p:nvSpPr>
        <p:spPr>
          <a:xfrm>
            <a:off x="206791" y="-118475"/>
            <a:ext cx="8347082" cy="857250"/>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dirty="0"/>
              <a:t>応募方法　いずれかを選択</a:t>
            </a:r>
            <a:endParaRPr dirty="0"/>
          </a:p>
        </p:txBody>
      </p:sp>
      <p:sp>
        <p:nvSpPr>
          <p:cNvPr id="438" name="Google Shape;438;p17"/>
          <p:cNvSpPr txBox="1"/>
          <p:nvPr/>
        </p:nvSpPr>
        <p:spPr>
          <a:xfrm>
            <a:off x="1105786" y="4856726"/>
            <a:ext cx="19383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chemeClr val="lt1"/>
                </a:solidFill>
                <a:latin typeface="Calibri"/>
                <a:ea typeface="Calibri"/>
                <a:cs typeface="Calibri"/>
                <a:sym typeface="Calibri"/>
              </a:rPr>
              <a:t>COBEオファー</a:t>
            </a:r>
            <a:endParaRPr sz="2000" b="1" i="0" u="none" strike="noStrike" cap="none">
              <a:solidFill>
                <a:schemeClr val="lt1"/>
              </a:solidFill>
              <a:latin typeface="Calibri"/>
              <a:ea typeface="Calibri"/>
              <a:cs typeface="Calibri"/>
              <a:sym typeface="Calibri"/>
            </a:endParaRPr>
          </a:p>
        </p:txBody>
      </p:sp>
      <p:sp>
        <p:nvSpPr>
          <p:cNvPr id="439" name="Google Shape;439;p17"/>
          <p:cNvSpPr txBox="1"/>
          <p:nvPr/>
        </p:nvSpPr>
        <p:spPr>
          <a:xfrm>
            <a:off x="685800" y="4118925"/>
            <a:ext cx="26469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Calibri"/>
                <a:ea typeface="Calibri"/>
                <a:cs typeface="Calibri"/>
                <a:sym typeface="Calibri"/>
              </a:rPr>
              <a:t>オープンオファー</a:t>
            </a:r>
            <a:endParaRPr sz="1400" b="0" i="0" u="none" strike="noStrike" cap="none">
              <a:solidFill>
                <a:srgbClr val="000000"/>
              </a:solidFill>
              <a:latin typeface="Arial"/>
              <a:ea typeface="Arial"/>
              <a:cs typeface="Arial"/>
              <a:sym typeface="Arial"/>
            </a:endParaRPr>
          </a:p>
        </p:txBody>
      </p:sp>
      <p:sp>
        <p:nvSpPr>
          <p:cNvPr id="440" name="Google Shape;440;p17"/>
          <p:cNvSpPr txBox="1"/>
          <p:nvPr/>
        </p:nvSpPr>
        <p:spPr>
          <a:xfrm>
            <a:off x="1105786" y="4898680"/>
            <a:ext cx="18902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solidFill>
                  <a:schemeClr val="lt1"/>
                </a:solidFill>
                <a:latin typeface="Calibri"/>
                <a:ea typeface="Calibri"/>
                <a:cs typeface="Calibri"/>
                <a:sym typeface="Calibri"/>
              </a:rPr>
              <a:t>FCFSオファー</a:t>
            </a:r>
            <a:endParaRPr sz="1400" b="0" i="0" u="none" strike="noStrike" cap="none">
              <a:solidFill>
                <a:srgbClr val="000000"/>
              </a:solidFill>
              <a:latin typeface="Arial"/>
              <a:ea typeface="Arial"/>
              <a:cs typeface="Arial"/>
              <a:sym typeface="Arial"/>
            </a:endParaRPr>
          </a:p>
        </p:txBody>
      </p:sp>
      <p:grpSp>
        <p:nvGrpSpPr>
          <p:cNvPr id="441" name="Google Shape;441;p17"/>
          <p:cNvGrpSpPr/>
          <p:nvPr/>
        </p:nvGrpSpPr>
        <p:grpSpPr>
          <a:xfrm>
            <a:off x="760440" y="1731788"/>
            <a:ext cx="7772400" cy="4084294"/>
            <a:chOff x="0" y="230334"/>
            <a:chExt cx="7772400" cy="3720744"/>
          </a:xfrm>
        </p:grpSpPr>
        <p:sp>
          <p:nvSpPr>
            <p:cNvPr id="442" name="Google Shape;442;p17"/>
            <p:cNvSpPr/>
            <p:nvPr/>
          </p:nvSpPr>
          <p:spPr>
            <a:xfrm>
              <a:off x="0" y="521230"/>
              <a:ext cx="7772400" cy="1079998"/>
            </a:xfrm>
            <a:prstGeom prst="rect">
              <a:avLst/>
            </a:prstGeom>
            <a:solidFill>
              <a:schemeClr val="lt1">
                <a:alpha val="87450"/>
              </a:schemeClr>
            </a:solidFill>
            <a:ln w="12700" cap="flat" cmpd="sng">
              <a:solidFill>
                <a:srgbClr val="2498DA"/>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17"/>
            <p:cNvSpPr/>
            <p:nvPr/>
          </p:nvSpPr>
          <p:spPr>
            <a:xfrm>
              <a:off x="203769" y="230334"/>
              <a:ext cx="2880023" cy="719991"/>
            </a:xfrm>
            <a:prstGeom prst="rect">
              <a:avLst/>
            </a:prstGeom>
            <a:gradFill>
              <a:gsLst>
                <a:gs pos="0">
                  <a:srgbClr val="185FAE"/>
                </a:gs>
                <a:gs pos="49000">
                  <a:srgbClr val="2498DA"/>
                </a:gs>
                <a:gs pos="100000">
                  <a:srgbClr val="1BA3B6"/>
                </a:gs>
              </a:gsLst>
              <a:lin ang="2700000" scaled="0"/>
            </a:gra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17"/>
            <p:cNvSpPr txBox="1"/>
            <p:nvPr/>
          </p:nvSpPr>
          <p:spPr>
            <a:xfrm>
              <a:off x="203775" y="230345"/>
              <a:ext cx="3026700" cy="720000"/>
            </a:xfrm>
            <a:prstGeom prst="rect">
              <a:avLst/>
            </a:prstGeom>
            <a:noFill/>
            <a:ln>
              <a:noFill/>
            </a:ln>
          </p:spPr>
          <p:txBody>
            <a:bodyPr spcFirstLastPara="1" wrap="square" lIns="205625" tIns="0" rIns="205625" bIns="0" anchor="ctr" anchorCtr="0">
              <a:noAutofit/>
            </a:bodyPr>
            <a:lstStyle/>
            <a:p>
              <a:pPr marL="0" marR="0" lvl="0" indent="0" algn="ctr" rtl="0">
                <a:lnSpc>
                  <a:spcPct val="90000"/>
                </a:lnSpc>
                <a:spcBef>
                  <a:spcPts val="0"/>
                </a:spcBef>
                <a:spcAft>
                  <a:spcPts val="0"/>
                </a:spcAft>
                <a:buClr>
                  <a:schemeClr val="lt1"/>
                </a:buClr>
                <a:buSzPts val="2400"/>
                <a:buFont typeface="Calibri"/>
                <a:buNone/>
              </a:pPr>
              <a:r>
                <a:rPr lang="ja-JP" sz="2400" b="1" i="0" u="none" strike="noStrike" cap="none" dirty="0">
                  <a:solidFill>
                    <a:schemeClr val="lt1"/>
                  </a:solidFill>
                  <a:latin typeface="Calibri"/>
                  <a:ea typeface="Calibri"/>
                  <a:cs typeface="Calibri"/>
                  <a:sym typeface="Calibri"/>
                </a:rPr>
                <a:t>Exchange Internship</a:t>
              </a:r>
              <a:endParaRPr sz="2400" b="1" i="0" u="none" strike="noStrike" cap="none" dirty="0">
                <a:solidFill>
                  <a:schemeClr val="lt1"/>
                </a:solidFill>
                <a:latin typeface="Calibri"/>
                <a:ea typeface="Calibri"/>
                <a:cs typeface="Calibri"/>
                <a:sym typeface="Calibri"/>
              </a:endParaRPr>
            </a:p>
          </p:txBody>
        </p:sp>
        <p:sp>
          <p:nvSpPr>
            <p:cNvPr id="445" name="Google Shape;445;p17"/>
            <p:cNvSpPr/>
            <p:nvPr/>
          </p:nvSpPr>
          <p:spPr>
            <a:xfrm>
              <a:off x="0" y="2308302"/>
              <a:ext cx="7772400" cy="1642776"/>
            </a:xfrm>
            <a:prstGeom prst="rect">
              <a:avLst/>
            </a:prstGeom>
            <a:solidFill>
              <a:schemeClr val="lt1">
                <a:alpha val="87450"/>
              </a:schemeClr>
            </a:solidFill>
            <a:ln w="12700" cap="flat" cmpd="sng">
              <a:solidFill>
                <a:srgbClr val="2498DA"/>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17"/>
            <p:cNvSpPr/>
            <p:nvPr/>
          </p:nvSpPr>
          <p:spPr>
            <a:xfrm>
              <a:off x="203769" y="2035902"/>
              <a:ext cx="2880023" cy="719991"/>
            </a:xfrm>
            <a:prstGeom prst="rect">
              <a:avLst/>
            </a:prstGeom>
            <a:gradFill>
              <a:gsLst>
                <a:gs pos="0">
                  <a:srgbClr val="185FAE"/>
                </a:gs>
                <a:gs pos="50000">
                  <a:srgbClr val="2498DA"/>
                </a:gs>
                <a:gs pos="100000">
                  <a:srgbClr val="1BA3B6"/>
                </a:gs>
              </a:gsLst>
              <a:lin ang="2700000" scaled="0"/>
            </a:gra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p17"/>
            <p:cNvSpPr txBox="1"/>
            <p:nvPr/>
          </p:nvSpPr>
          <p:spPr>
            <a:xfrm>
              <a:off x="203769" y="2035902"/>
              <a:ext cx="2880023" cy="719991"/>
            </a:xfrm>
            <a:prstGeom prst="rect">
              <a:avLst/>
            </a:prstGeom>
            <a:noFill/>
            <a:ln>
              <a:noFill/>
            </a:ln>
          </p:spPr>
          <p:txBody>
            <a:bodyPr spcFirstLastPara="1" wrap="square" lIns="205625" tIns="0" rIns="205625" bIns="0" anchor="ctr" anchorCtr="0">
              <a:noAutofit/>
            </a:bodyPr>
            <a:lstStyle/>
            <a:p>
              <a:pPr marL="0" marR="0" lvl="0" indent="0" algn="ctr" rtl="0">
                <a:lnSpc>
                  <a:spcPct val="90000"/>
                </a:lnSpc>
                <a:spcBef>
                  <a:spcPts val="0"/>
                </a:spcBef>
                <a:spcAft>
                  <a:spcPts val="0"/>
                </a:spcAft>
                <a:buClr>
                  <a:schemeClr val="lt1"/>
                </a:buClr>
                <a:buSzPts val="2400"/>
                <a:buFont typeface="Calibri"/>
                <a:buNone/>
              </a:pPr>
              <a:r>
                <a:rPr lang="ja-JP" sz="2400" b="1" i="0" u="none" strike="noStrike" cap="none">
                  <a:solidFill>
                    <a:schemeClr val="lt1"/>
                  </a:solidFill>
                  <a:latin typeface="Calibri"/>
                  <a:ea typeface="Calibri"/>
                  <a:cs typeface="Calibri"/>
                  <a:sym typeface="Calibri"/>
                </a:rPr>
                <a:t>Global Internship</a:t>
              </a:r>
              <a:endParaRPr sz="2400" b="1" i="0" u="none" strike="noStrike" cap="none">
                <a:solidFill>
                  <a:schemeClr val="lt1"/>
                </a:solidFill>
                <a:latin typeface="Calibri"/>
                <a:ea typeface="Calibri"/>
                <a:cs typeface="Calibri"/>
                <a:sym typeface="Calibri"/>
              </a:endParaRPr>
            </a:p>
          </p:txBody>
        </p:sp>
      </p:grpSp>
      <p:sp>
        <p:nvSpPr>
          <p:cNvPr id="448" name="Google Shape;448;p17"/>
          <p:cNvSpPr txBox="1"/>
          <p:nvPr/>
        </p:nvSpPr>
        <p:spPr>
          <a:xfrm>
            <a:off x="1105786" y="2486799"/>
            <a:ext cx="2326200" cy="4002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2498DA"/>
              </a:buClr>
              <a:buSzPts val="2000"/>
              <a:buFont typeface="Noto Sans Symbols"/>
              <a:buChar char="●"/>
            </a:pPr>
            <a:r>
              <a:rPr lang="ja-JP" sz="2000" b="0" i="0" u="none" strike="noStrike" cap="none">
                <a:solidFill>
                  <a:schemeClr val="dk1"/>
                </a:solidFill>
                <a:latin typeface="Calibri"/>
                <a:ea typeface="Calibri"/>
                <a:cs typeface="Calibri"/>
                <a:sym typeface="Calibri"/>
              </a:rPr>
              <a:t>国際総会で獲得</a:t>
            </a:r>
            <a:endParaRPr sz="1400" b="0" i="0" u="none" strike="noStrike" cap="none">
              <a:solidFill>
                <a:srgbClr val="000000"/>
              </a:solidFill>
              <a:latin typeface="Arial"/>
              <a:ea typeface="Arial"/>
              <a:cs typeface="Arial"/>
              <a:sym typeface="Arial"/>
            </a:endParaRPr>
          </a:p>
        </p:txBody>
      </p:sp>
      <p:sp>
        <p:nvSpPr>
          <p:cNvPr id="449" name="Google Shape;449;p17"/>
          <p:cNvSpPr txBox="1"/>
          <p:nvPr/>
        </p:nvSpPr>
        <p:spPr>
          <a:xfrm>
            <a:off x="3310637" y="2486799"/>
            <a:ext cx="5147700" cy="4002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2498DA"/>
              </a:buClr>
              <a:buSzPts val="2000"/>
              <a:buFont typeface="Noto Sans Symbols"/>
              <a:buChar char="●"/>
            </a:pPr>
            <a:r>
              <a:rPr lang="ja-JP" sz="2000" b="0" i="0" u="none" strike="noStrike" cap="none">
                <a:solidFill>
                  <a:schemeClr val="dk1"/>
                </a:solidFill>
                <a:latin typeface="Calibri"/>
                <a:ea typeface="Calibri"/>
                <a:cs typeface="Calibri"/>
                <a:sym typeface="Calibri"/>
              </a:rPr>
              <a:t>１つのオファーが１人の学生にアサイン</a:t>
            </a:r>
            <a:endParaRPr sz="2000" b="0" i="0" u="none" strike="noStrike" cap="none">
              <a:solidFill>
                <a:schemeClr val="dk1"/>
              </a:solidFill>
              <a:latin typeface="Calibri"/>
              <a:ea typeface="Calibri"/>
              <a:cs typeface="Calibri"/>
              <a:sym typeface="Calibri"/>
            </a:endParaRPr>
          </a:p>
        </p:txBody>
      </p:sp>
      <p:sp>
        <p:nvSpPr>
          <p:cNvPr id="450" name="Google Shape;450;p17"/>
          <p:cNvSpPr txBox="1"/>
          <p:nvPr/>
        </p:nvSpPr>
        <p:spPr>
          <a:xfrm>
            <a:off x="1068916" y="4513589"/>
            <a:ext cx="2069700" cy="4002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2498DA"/>
              </a:buClr>
              <a:buSzPts val="2000"/>
              <a:buFont typeface="Noto Sans Symbols"/>
              <a:buChar char="●"/>
            </a:pPr>
            <a:r>
              <a:rPr lang="ja-JP" sz="2000" b="0" i="0" u="none" strike="noStrike" cap="none" dirty="0">
                <a:solidFill>
                  <a:schemeClr val="dk1"/>
                </a:solidFill>
                <a:latin typeface="Calibri"/>
                <a:ea typeface="Calibri"/>
                <a:cs typeface="Calibri"/>
                <a:sym typeface="Calibri"/>
              </a:rPr>
              <a:t>年間応募可能</a:t>
            </a:r>
            <a:endParaRPr sz="1400" b="0" i="0" u="none" strike="noStrike" cap="none" dirty="0">
              <a:solidFill>
                <a:srgbClr val="000000"/>
              </a:solidFill>
              <a:latin typeface="Arial"/>
              <a:ea typeface="Arial"/>
              <a:cs typeface="Arial"/>
              <a:sym typeface="Arial"/>
            </a:endParaRPr>
          </a:p>
        </p:txBody>
      </p:sp>
      <p:sp>
        <p:nvSpPr>
          <p:cNvPr id="451" name="Google Shape;451;p17"/>
          <p:cNvSpPr txBox="1"/>
          <p:nvPr/>
        </p:nvSpPr>
        <p:spPr>
          <a:xfrm>
            <a:off x="3332678" y="4511161"/>
            <a:ext cx="4909622" cy="40006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2498DA"/>
              </a:buClr>
              <a:buSzPts val="2000"/>
              <a:buFont typeface="Noto Sans Symbols"/>
              <a:buChar char="●"/>
            </a:pPr>
            <a:r>
              <a:rPr lang="ja-JP" sz="2000" b="0" i="0" u="none" strike="noStrike" cap="none" dirty="0">
                <a:solidFill>
                  <a:schemeClr val="dk1"/>
                </a:solidFill>
                <a:latin typeface="Calibri"/>
                <a:ea typeface="Calibri"/>
                <a:cs typeface="Calibri"/>
                <a:sym typeface="Calibri"/>
              </a:rPr>
              <a:t>複数のオファーに応募可能</a:t>
            </a:r>
            <a:endParaRPr sz="2000" b="0" i="0" u="none" strike="noStrike" cap="none" dirty="0">
              <a:solidFill>
                <a:schemeClr val="dk1"/>
              </a:solidFill>
              <a:latin typeface="Calibri"/>
              <a:ea typeface="Calibri"/>
              <a:cs typeface="Calibri"/>
              <a:sym typeface="Calibri"/>
            </a:endParaRPr>
          </a:p>
        </p:txBody>
      </p:sp>
      <p:sp>
        <p:nvSpPr>
          <p:cNvPr id="452" name="Google Shape;452;p17"/>
          <p:cNvSpPr txBox="1"/>
          <p:nvPr/>
        </p:nvSpPr>
        <p:spPr>
          <a:xfrm>
            <a:off x="5273844" y="2847734"/>
            <a:ext cx="1221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chemeClr val="dk1"/>
                </a:solidFill>
                <a:latin typeface="Calibri"/>
                <a:ea typeface="Calibri"/>
                <a:cs typeface="Calibri"/>
                <a:sym typeface="Calibri"/>
              </a:rPr>
              <a:t>※併願不可</a:t>
            </a:r>
            <a:endParaRPr sz="1400" b="0" i="0" u="none" strike="noStrike" cap="none">
              <a:solidFill>
                <a:schemeClr val="dk1"/>
              </a:solidFill>
              <a:latin typeface="Calibri"/>
              <a:ea typeface="Calibri"/>
              <a:cs typeface="Calibri"/>
              <a:sym typeface="Calibri"/>
            </a:endParaRPr>
          </a:p>
        </p:txBody>
      </p:sp>
      <p:sp>
        <p:nvSpPr>
          <p:cNvPr id="453" name="Google Shape;453;p17"/>
          <p:cNvSpPr txBox="1"/>
          <p:nvPr/>
        </p:nvSpPr>
        <p:spPr>
          <a:xfrm>
            <a:off x="6263630" y="2843027"/>
            <a:ext cx="2765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chemeClr val="dk1"/>
                </a:solidFill>
                <a:latin typeface="Calibri"/>
                <a:ea typeface="Calibri"/>
                <a:cs typeface="Calibri"/>
                <a:sym typeface="Calibri"/>
              </a:rPr>
              <a:t>※研修可能期間 6月～12月</a:t>
            </a:r>
            <a:endParaRPr sz="1400" b="0" i="0" u="none" strike="noStrike" cap="none">
              <a:solidFill>
                <a:schemeClr val="dk1"/>
              </a:solidFill>
              <a:latin typeface="Calibri"/>
              <a:ea typeface="Calibri"/>
              <a:cs typeface="Calibri"/>
              <a:sym typeface="Calibri"/>
            </a:endParaRPr>
          </a:p>
        </p:txBody>
      </p:sp>
      <p:sp>
        <p:nvSpPr>
          <p:cNvPr id="2" name="Google Shape;451;p17">
            <a:extLst>
              <a:ext uri="{FF2B5EF4-FFF2-40B4-BE49-F238E27FC236}">
                <a16:creationId xmlns:a16="http://schemas.microsoft.com/office/drawing/2014/main" id="{28927054-E19B-DB26-C277-55DE510B059F}"/>
              </a:ext>
            </a:extLst>
          </p:cNvPr>
          <p:cNvSpPr txBox="1"/>
          <p:nvPr/>
        </p:nvSpPr>
        <p:spPr>
          <a:xfrm>
            <a:off x="1068916" y="5025954"/>
            <a:ext cx="7389284" cy="70784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2498DA"/>
              </a:buClr>
              <a:buSzPts val="2000"/>
              <a:buFont typeface="Noto Sans Symbols"/>
              <a:buChar char="●"/>
            </a:pPr>
            <a:r>
              <a:rPr lang="ja-JP" altLang="en-US" sz="2000" b="0" i="0" u="none" strike="noStrike" cap="none" dirty="0">
                <a:solidFill>
                  <a:schemeClr val="dk1"/>
                </a:solidFill>
                <a:latin typeface="Calibri"/>
                <a:ea typeface="Calibri"/>
                <a:cs typeface="Calibri"/>
                <a:sym typeface="Calibri"/>
              </a:rPr>
              <a:t>他国から多数の応募が来るため競争倍率が高い場合がある。特にスイス・オーストリア・北欧のオファーは競争率が高い</a:t>
            </a:r>
            <a:endParaRPr sz="20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18"/>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リモートインターンシップについて</a:t>
            </a:r>
            <a:endParaRPr/>
          </a:p>
        </p:txBody>
      </p:sp>
      <p:graphicFrame>
        <p:nvGraphicFramePr>
          <p:cNvPr id="460" name="Google Shape;460;p18"/>
          <p:cNvGraphicFramePr/>
          <p:nvPr/>
        </p:nvGraphicFramePr>
        <p:xfrm>
          <a:off x="1564005" y="1558466"/>
          <a:ext cx="6016000" cy="4248300"/>
        </p:xfrm>
        <a:graphic>
          <a:graphicData uri="http://schemas.openxmlformats.org/drawingml/2006/table">
            <a:tbl>
              <a:tblPr firstRow="1" bandRow="1">
                <a:noFill/>
                <a:tableStyleId>{02FEB39E-33E0-4033-A97A-97D64E5FD191}</a:tableStyleId>
              </a:tblPr>
              <a:tblGrid>
                <a:gridCol w="27775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tblGrid>
              <a:tr h="606900">
                <a:tc>
                  <a:txBody>
                    <a:bodyPr/>
                    <a:lstStyle/>
                    <a:p>
                      <a:pPr marL="0" marR="0" lvl="0" indent="0" algn="r" rtl="0">
                        <a:lnSpc>
                          <a:spcPct val="100000"/>
                        </a:lnSpc>
                        <a:spcBef>
                          <a:spcPts val="0"/>
                        </a:spcBef>
                        <a:spcAft>
                          <a:spcPts val="0"/>
                        </a:spcAft>
                        <a:buClr>
                          <a:srgbClr val="000000"/>
                        </a:buClr>
                        <a:buSzPts val="2000"/>
                        <a:buFont typeface="Arial"/>
                        <a:buNone/>
                      </a:pPr>
                      <a:r>
                        <a:rPr lang="ja-JP" sz="2000" b="1" u="none" strike="noStrike" cap="none">
                          <a:solidFill>
                            <a:srgbClr val="2498DA"/>
                          </a:solidFill>
                          <a:latin typeface="Calibri"/>
                          <a:ea typeface="Calibri"/>
                          <a:cs typeface="Calibri"/>
                          <a:sym typeface="Calibri"/>
                        </a:rPr>
                        <a:t>受入機関</a:t>
                      </a:r>
                      <a:endParaRPr sz="1400" u="none" strike="noStrike" cap="none"/>
                    </a:p>
                  </a:txBody>
                  <a:tcPr marL="91450" marR="360000" marT="108000" marB="45725">
                    <a:lnT w="19050" cap="flat" cmpd="sng">
                      <a:solidFill>
                        <a:srgbClr val="2498DA"/>
                      </a:solidFill>
                      <a:prstDash val="solid"/>
                      <a:round/>
                      <a:headEnd type="none" w="sm" len="sm"/>
                      <a:tailEnd type="none" w="sm" len="sm"/>
                    </a:lnT>
                    <a:solidFill>
                      <a:schemeClr val="lt1"/>
                    </a:solidFill>
                  </a:tcPr>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Calibri"/>
                          <a:ea typeface="Calibri"/>
                          <a:cs typeface="Calibri"/>
                          <a:sym typeface="Calibri"/>
                        </a:rPr>
                        <a:t>企業・大学・研究所</a:t>
                      </a:r>
                      <a:endParaRPr sz="1400" u="none" strike="noStrike" cap="none"/>
                    </a:p>
                  </a:txBody>
                  <a:tcPr marL="91450" marR="91450" marT="108000" marB="45725">
                    <a:lnT w="1905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06900">
                <a:tc>
                  <a:txBody>
                    <a:bodyPr/>
                    <a:lstStyle/>
                    <a:p>
                      <a:pPr marL="0" marR="0" lvl="0" indent="0" algn="r" rtl="0">
                        <a:lnSpc>
                          <a:spcPct val="100000"/>
                        </a:lnSpc>
                        <a:spcBef>
                          <a:spcPts val="0"/>
                        </a:spcBef>
                        <a:spcAft>
                          <a:spcPts val="0"/>
                        </a:spcAft>
                        <a:buClr>
                          <a:srgbClr val="000000"/>
                        </a:buClr>
                        <a:buSzPts val="1800"/>
                        <a:buFont typeface="Arial"/>
                        <a:buNone/>
                      </a:pPr>
                      <a:endParaRPr sz="1800" b="1" u="none" strike="noStrike" cap="none">
                        <a:solidFill>
                          <a:srgbClr val="2498DA"/>
                        </a:solidFill>
                        <a:latin typeface="Calibri"/>
                        <a:ea typeface="Calibri"/>
                        <a:cs typeface="Calibri"/>
                        <a:sym typeface="Calibri"/>
                      </a:endParaRPr>
                    </a:p>
                  </a:txBody>
                  <a:tcPr marL="91450" marR="360000" marT="108000" marB="45725">
                    <a:lnB w="1270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latin typeface="Calibri"/>
                        <a:ea typeface="Calibri"/>
                        <a:cs typeface="Calibri"/>
                        <a:sym typeface="Calibri"/>
                      </a:endParaRPr>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06900">
                <a:tc>
                  <a:txBody>
                    <a:bodyPr/>
                    <a:lstStyle/>
                    <a:p>
                      <a:pPr marL="0" marR="0" lvl="0" indent="0" algn="r" rtl="0">
                        <a:lnSpc>
                          <a:spcPct val="100000"/>
                        </a:lnSpc>
                        <a:spcBef>
                          <a:spcPts val="0"/>
                        </a:spcBef>
                        <a:spcAft>
                          <a:spcPts val="0"/>
                        </a:spcAft>
                        <a:buClr>
                          <a:srgbClr val="000000"/>
                        </a:buClr>
                        <a:buSzPts val="2000"/>
                        <a:buFont typeface="Arial"/>
                        <a:buNone/>
                      </a:pPr>
                      <a:r>
                        <a:rPr lang="ja-JP" sz="2000" b="1" u="none" strike="noStrike" cap="none">
                          <a:solidFill>
                            <a:srgbClr val="2498DA"/>
                          </a:solidFill>
                          <a:latin typeface="Calibri"/>
                          <a:ea typeface="Calibri"/>
                          <a:cs typeface="Calibri"/>
                          <a:sym typeface="Calibri"/>
                        </a:rPr>
                        <a:t>研修内容</a:t>
                      </a:r>
                      <a:endParaRPr sz="1400" u="none" strike="noStrike" cap="none"/>
                    </a:p>
                  </a:txBody>
                  <a:tcPr marL="91450" marR="360000" marT="108000" marB="45725">
                    <a:lnT w="12700" cap="flat" cmpd="sng">
                      <a:solidFill>
                        <a:srgbClr val="2498DA"/>
                      </a:solidFill>
                      <a:prstDash val="solid"/>
                      <a:round/>
                      <a:headEnd type="none" w="sm" len="sm"/>
                      <a:tailEnd type="none" w="sm" len="sm"/>
                    </a:lnT>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latin typeface="Calibri"/>
                          <a:ea typeface="Calibri"/>
                          <a:cs typeface="Calibri"/>
                          <a:sym typeface="Calibri"/>
                        </a:rPr>
                        <a:t>インターンシップ等</a:t>
                      </a:r>
                      <a:endParaRPr sz="1400" u="none" strike="noStrike" cap="none"/>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06900">
                <a:tc>
                  <a:txBody>
                    <a:bodyPr/>
                    <a:lstStyle/>
                    <a:p>
                      <a:pPr marL="0" marR="0" lvl="0" indent="0" algn="r" rtl="0">
                        <a:lnSpc>
                          <a:spcPct val="100000"/>
                        </a:lnSpc>
                        <a:spcBef>
                          <a:spcPts val="0"/>
                        </a:spcBef>
                        <a:spcAft>
                          <a:spcPts val="0"/>
                        </a:spcAft>
                        <a:buClr>
                          <a:srgbClr val="000000"/>
                        </a:buClr>
                        <a:buSzPts val="1800"/>
                        <a:buFont typeface="Arial"/>
                        <a:buNone/>
                      </a:pPr>
                      <a:endParaRPr sz="1800" b="1" u="none" strike="noStrike" cap="none">
                        <a:solidFill>
                          <a:srgbClr val="2498DA"/>
                        </a:solidFill>
                        <a:latin typeface="Calibri"/>
                        <a:ea typeface="Calibri"/>
                        <a:cs typeface="Calibri"/>
                        <a:sym typeface="Calibri"/>
                      </a:endParaRPr>
                    </a:p>
                  </a:txBody>
                  <a:tcPr marL="91450" marR="360000" marT="108000" marB="45725">
                    <a:lnB w="1270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latin typeface="Calibri"/>
                        <a:ea typeface="Calibri"/>
                        <a:cs typeface="Calibri"/>
                        <a:sym typeface="Calibri"/>
                      </a:endParaRPr>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06900">
                <a:tc>
                  <a:txBody>
                    <a:bodyPr/>
                    <a:lstStyle/>
                    <a:p>
                      <a:pPr marL="0" marR="0" lvl="0" indent="0" algn="r" rtl="0">
                        <a:lnSpc>
                          <a:spcPct val="100000"/>
                        </a:lnSpc>
                        <a:spcBef>
                          <a:spcPts val="0"/>
                        </a:spcBef>
                        <a:spcAft>
                          <a:spcPts val="0"/>
                        </a:spcAft>
                        <a:buClr>
                          <a:srgbClr val="000000"/>
                        </a:buClr>
                        <a:buSzPts val="2000"/>
                        <a:buFont typeface="Arial"/>
                        <a:buNone/>
                      </a:pPr>
                      <a:r>
                        <a:rPr lang="ja-JP" sz="2000" b="1" u="none" strike="noStrike" cap="none">
                          <a:solidFill>
                            <a:srgbClr val="2498DA"/>
                          </a:solidFill>
                          <a:latin typeface="Calibri"/>
                          <a:ea typeface="Calibri"/>
                          <a:cs typeface="Calibri"/>
                          <a:sym typeface="Calibri"/>
                        </a:rPr>
                        <a:t>期間</a:t>
                      </a:r>
                      <a:endParaRPr sz="2000" b="1" u="none" strike="noStrike" cap="none">
                        <a:solidFill>
                          <a:srgbClr val="2498DA"/>
                        </a:solidFill>
                        <a:latin typeface="Calibri"/>
                        <a:ea typeface="Calibri"/>
                        <a:cs typeface="Calibri"/>
                        <a:sym typeface="Calibri"/>
                      </a:endParaRPr>
                    </a:p>
                  </a:txBody>
                  <a:tcPr marL="91450" marR="36000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latin typeface="Poppins Light"/>
                          <a:ea typeface="Poppins Light"/>
                          <a:cs typeface="Poppins Light"/>
                          <a:sym typeface="Poppins Light"/>
                        </a:rPr>
                        <a:t>４～8 </a:t>
                      </a:r>
                      <a:r>
                        <a:rPr lang="ja-JP" sz="2000" b="0" i="0" u="none" strike="noStrike" cap="none">
                          <a:latin typeface="Calibri"/>
                          <a:ea typeface="Calibri"/>
                          <a:cs typeface="Calibri"/>
                          <a:sym typeface="Calibri"/>
                        </a:rPr>
                        <a:t>週間程度</a:t>
                      </a:r>
                      <a:endParaRPr sz="2000" b="0" i="0" u="none" strike="noStrike" cap="none">
                        <a:latin typeface="Calibri"/>
                        <a:ea typeface="Calibri"/>
                        <a:cs typeface="Calibri"/>
                        <a:sym typeface="Calibri"/>
                      </a:endParaRPr>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606900">
                <a:tc>
                  <a:txBody>
                    <a:bodyPr/>
                    <a:lstStyle/>
                    <a:p>
                      <a:pPr marL="0" marR="0" lvl="0" indent="0" algn="r" rtl="0">
                        <a:lnSpc>
                          <a:spcPct val="100000"/>
                        </a:lnSpc>
                        <a:spcBef>
                          <a:spcPts val="0"/>
                        </a:spcBef>
                        <a:spcAft>
                          <a:spcPts val="0"/>
                        </a:spcAft>
                        <a:buClr>
                          <a:srgbClr val="000000"/>
                        </a:buClr>
                        <a:buSzPts val="2000"/>
                        <a:buFont typeface="Arial"/>
                        <a:buNone/>
                      </a:pPr>
                      <a:r>
                        <a:rPr lang="ja-JP" sz="2000" b="1" u="none" strike="noStrike" cap="none">
                          <a:solidFill>
                            <a:srgbClr val="2498DA"/>
                          </a:solidFill>
                          <a:latin typeface="Calibri"/>
                          <a:ea typeface="Calibri"/>
                          <a:cs typeface="Calibri"/>
                          <a:sym typeface="Calibri"/>
                        </a:rPr>
                        <a:t>滞在費</a:t>
                      </a:r>
                      <a:endParaRPr sz="1400" u="none" strike="noStrike" cap="none"/>
                    </a:p>
                  </a:txBody>
                  <a:tcPr marL="91450" marR="36000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a:latin typeface="Calibri"/>
                          <a:ea typeface="Calibri"/>
                          <a:cs typeface="Calibri"/>
                          <a:sym typeface="Calibri"/>
                        </a:rPr>
                        <a:t>なし</a:t>
                      </a:r>
                      <a:r>
                        <a:rPr lang="ja-JP" sz="2000" b="0" i="0" u="none" strike="noStrike" cap="none">
                          <a:latin typeface="Calibri"/>
                          <a:ea typeface="Calibri"/>
                          <a:cs typeface="Calibri"/>
                          <a:sym typeface="Calibri"/>
                        </a:rPr>
                        <a:t>（無給）</a:t>
                      </a:r>
                      <a:endParaRPr sz="1400" u="none" strike="noStrike" cap="none"/>
                    </a:p>
                  </a:txBody>
                  <a:tcPr marL="91450" marR="91450" marT="108000" marB="45725">
                    <a:lnT w="12700" cap="flat" cmpd="sng">
                      <a:solidFill>
                        <a:srgbClr val="2498DA"/>
                      </a:solidFill>
                      <a:prstDash val="solid"/>
                      <a:round/>
                      <a:headEnd type="none" w="sm" len="sm"/>
                      <a:tailEnd type="none" w="sm" len="sm"/>
                    </a:lnT>
                    <a:lnB w="1270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606900">
                <a:tc>
                  <a:txBody>
                    <a:bodyPr/>
                    <a:lstStyle/>
                    <a:p>
                      <a:pPr marL="0" marR="0" lvl="0" indent="0" algn="r" rtl="0">
                        <a:lnSpc>
                          <a:spcPct val="100000"/>
                        </a:lnSpc>
                        <a:spcBef>
                          <a:spcPts val="0"/>
                        </a:spcBef>
                        <a:spcAft>
                          <a:spcPts val="0"/>
                        </a:spcAft>
                        <a:buClr>
                          <a:srgbClr val="000000"/>
                        </a:buClr>
                        <a:buSzPts val="2000"/>
                        <a:buFont typeface="Arial"/>
                        <a:buNone/>
                      </a:pPr>
                      <a:r>
                        <a:rPr lang="ja-JP" sz="2000" b="1" u="none" strike="noStrike" cap="none">
                          <a:solidFill>
                            <a:srgbClr val="2498DA"/>
                          </a:solidFill>
                          <a:latin typeface="Calibri"/>
                          <a:ea typeface="Calibri"/>
                          <a:cs typeface="Calibri"/>
                          <a:sym typeface="Calibri"/>
                        </a:rPr>
                        <a:t>リモート希望の場合</a:t>
                      </a:r>
                      <a:endParaRPr sz="1400" u="none" strike="noStrike" cap="none"/>
                    </a:p>
                  </a:txBody>
                  <a:tcPr marL="91450" marR="360000" marT="108000" marB="45725">
                    <a:lnT w="12700"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2000"/>
                        <a:buFont typeface="Arial"/>
                        <a:buNone/>
                      </a:pPr>
                      <a:r>
                        <a:rPr lang="ja-JP" sz="2000" u="none" strike="noStrike" cap="none" dirty="0"/>
                        <a:t>Global Internship</a:t>
                      </a:r>
                      <a:r>
                        <a:rPr lang="ja-JP" sz="2000" b="0" i="0" u="none" strike="noStrike" cap="none" dirty="0">
                          <a:latin typeface="Calibri"/>
                          <a:ea typeface="Calibri"/>
                          <a:cs typeface="Calibri"/>
                          <a:sym typeface="Calibri"/>
                        </a:rPr>
                        <a:t>を選択</a:t>
                      </a:r>
                      <a:endParaRPr sz="1400" u="none" strike="noStrike" cap="none" dirty="0"/>
                    </a:p>
                  </a:txBody>
                  <a:tcPr marL="91450" marR="91450" marT="108000" marB="45725">
                    <a:lnT w="12700"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461" name="Google Shape;461;p18"/>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19"/>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26</a:t>
            </a:fld>
            <a:endParaRPr/>
          </a:p>
        </p:txBody>
      </p:sp>
      <p:sp>
        <p:nvSpPr>
          <p:cNvPr id="467" name="Google Shape;467;p19"/>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dirty="0"/>
              <a:t>プログラ</a:t>
            </a:r>
            <a:r>
              <a:rPr lang="ja-JP" altLang="en-US" dirty="0"/>
              <a:t>ム</a:t>
            </a:r>
            <a:r>
              <a:rPr lang="ja-JP" dirty="0"/>
              <a:t>参加費</a:t>
            </a:r>
            <a:endParaRPr dirty="0"/>
          </a:p>
        </p:txBody>
      </p:sp>
      <p:graphicFrame>
        <p:nvGraphicFramePr>
          <p:cNvPr id="468" name="Google Shape;468;p19"/>
          <p:cNvGraphicFramePr/>
          <p:nvPr>
            <p:extLst>
              <p:ext uri="{D42A27DB-BD31-4B8C-83A1-F6EECF244321}">
                <p14:modId xmlns:p14="http://schemas.microsoft.com/office/powerpoint/2010/main" val="1076571588"/>
              </p:ext>
            </p:extLst>
          </p:nvPr>
        </p:nvGraphicFramePr>
        <p:xfrm>
          <a:off x="1418950" y="2074958"/>
          <a:ext cx="6264000" cy="2016000"/>
        </p:xfrm>
        <a:graphic>
          <a:graphicData uri="http://schemas.openxmlformats.org/drawingml/2006/table">
            <a:tbl>
              <a:tblPr firstRow="1" bandRow="1">
                <a:noFill/>
                <a:tableStyleId>{02FEB39E-33E0-4033-A97A-97D64E5FD191}</a:tableStyleId>
              </a:tblPr>
              <a:tblGrid>
                <a:gridCol w="2088000">
                  <a:extLst>
                    <a:ext uri="{9D8B030D-6E8A-4147-A177-3AD203B41FA5}">
                      <a16:colId xmlns:a16="http://schemas.microsoft.com/office/drawing/2014/main" val="20000"/>
                    </a:ext>
                  </a:extLst>
                </a:gridCol>
                <a:gridCol w="2088000">
                  <a:extLst>
                    <a:ext uri="{9D8B030D-6E8A-4147-A177-3AD203B41FA5}">
                      <a16:colId xmlns:a16="http://schemas.microsoft.com/office/drawing/2014/main" val="20001"/>
                    </a:ext>
                  </a:extLst>
                </a:gridCol>
                <a:gridCol w="2088000">
                  <a:extLst>
                    <a:ext uri="{9D8B030D-6E8A-4147-A177-3AD203B41FA5}">
                      <a16:colId xmlns:a16="http://schemas.microsoft.com/office/drawing/2014/main" val="20002"/>
                    </a:ext>
                  </a:extLst>
                </a:gridCol>
              </a:tblGrid>
              <a:tr h="504000">
                <a:tc>
                  <a:txBody>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txBody>
                  <a:tcPr marL="91450" marR="91450" marT="45725" marB="45725">
                    <a:lnB w="19050" cap="flat" cmpd="sng">
                      <a:solidFill>
                        <a:srgbClr val="2498DA"/>
                      </a:solidFill>
                      <a:prstDash val="solid"/>
                      <a:round/>
                      <a:headEnd type="none" w="sm" len="sm"/>
                      <a:tailEnd type="none" w="sm" len="sm"/>
                    </a:lnB>
                    <a:solidFill>
                      <a:schemeClr val="lt1"/>
                    </a:solidFill>
                  </a:tcPr>
                </a:tc>
                <a:tc>
                  <a:txBody>
                    <a:bodyPr/>
                    <a:lstStyle/>
                    <a:p>
                      <a:pPr marL="0" marR="0" lvl="0" indent="0" algn="r" rtl="0">
                        <a:lnSpc>
                          <a:spcPct val="100000"/>
                        </a:lnSpc>
                        <a:spcBef>
                          <a:spcPts val="0"/>
                        </a:spcBef>
                        <a:spcAft>
                          <a:spcPts val="0"/>
                        </a:spcAft>
                        <a:buClr>
                          <a:srgbClr val="000000"/>
                        </a:buClr>
                        <a:buSzPts val="1800"/>
                        <a:buFont typeface="Arial"/>
                        <a:buNone/>
                      </a:pPr>
                      <a:r>
                        <a:rPr lang="ja-JP" sz="1800" b="1" i="0" u="none" strike="noStrike" cap="none">
                          <a:solidFill>
                            <a:schemeClr val="dk1"/>
                          </a:solidFill>
                          <a:latin typeface="Calibri"/>
                          <a:ea typeface="Calibri"/>
                          <a:cs typeface="Calibri"/>
                          <a:sym typeface="Calibri"/>
                        </a:rPr>
                        <a:t>大学会員校生</a:t>
                      </a:r>
                      <a:endParaRPr sz="1800" b="1" i="0" u="none" strike="noStrike" cap="none">
                        <a:solidFill>
                          <a:schemeClr val="dk1"/>
                        </a:solidFill>
                        <a:latin typeface="Calibri"/>
                        <a:ea typeface="Calibri"/>
                        <a:cs typeface="Calibri"/>
                        <a:sym typeface="Calibri"/>
                      </a:endParaRPr>
                    </a:p>
                  </a:txBody>
                  <a:tcPr marL="91450" marR="91450" marT="45725" marB="45725">
                    <a:lnB w="19050" cap="flat" cmpd="sng">
                      <a:solidFill>
                        <a:srgbClr val="2498DA"/>
                      </a:solidFill>
                      <a:prstDash val="solid"/>
                      <a:round/>
                      <a:headEnd type="none" w="sm" len="sm"/>
                      <a:tailEnd type="none" w="sm" len="sm"/>
                    </a:lnB>
                    <a:solidFill>
                      <a:schemeClr val="lt1"/>
                    </a:solidFill>
                  </a:tcPr>
                </a:tc>
                <a:tc>
                  <a:txBody>
                    <a:bodyPr/>
                    <a:lstStyle/>
                    <a:p>
                      <a:pPr marL="0" marR="0" lvl="0" indent="0" algn="r" rtl="0">
                        <a:lnSpc>
                          <a:spcPct val="100000"/>
                        </a:lnSpc>
                        <a:spcBef>
                          <a:spcPts val="0"/>
                        </a:spcBef>
                        <a:spcAft>
                          <a:spcPts val="0"/>
                        </a:spcAft>
                        <a:buClr>
                          <a:srgbClr val="000000"/>
                        </a:buClr>
                        <a:buSzPts val="1800"/>
                        <a:buFont typeface="Arial"/>
                        <a:buNone/>
                      </a:pPr>
                      <a:r>
                        <a:rPr lang="ja-JP" sz="1800" b="1" i="0" u="none" strike="noStrike" cap="none">
                          <a:solidFill>
                            <a:schemeClr val="dk1"/>
                          </a:solidFill>
                          <a:latin typeface="Calibri"/>
                          <a:ea typeface="Calibri"/>
                          <a:cs typeface="Calibri"/>
                          <a:sym typeface="Calibri"/>
                        </a:rPr>
                        <a:t>一般生</a:t>
                      </a:r>
                      <a:endParaRPr sz="1400" u="none" strike="noStrike" cap="none"/>
                    </a:p>
                  </a:txBody>
                  <a:tcPr marL="91450" marR="91450" marT="45725" marB="45725">
                    <a:lnB w="1905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1" i="0" u="none" strike="noStrike" cap="none">
                          <a:solidFill>
                            <a:srgbClr val="2498DA"/>
                          </a:solidFill>
                          <a:latin typeface="Calibri"/>
                          <a:ea typeface="Calibri"/>
                          <a:cs typeface="Calibri"/>
                          <a:sym typeface="Calibri"/>
                        </a:rPr>
                        <a:t>応募手数料</a:t>
                      </a:r>
                      <a:endParaRPr sz="1400" u="none" strike="noStrike" cap="none"/>
                    </a:p>
                  </a:txBody>
                  <a:tcPr marL="91450" marR="288000" marT="108000" marB="45725">
                    <a:lnT w="19050"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Poppins Medium"/>
                          <a:ea typeface="Poppins Medium"/>
                          <a:cs typeface="Poppins Medium"/>
                          <a:sym typeface="Poppins Medium"/>
                        </a:rPr>
                        <a:t>5,000</a:t>
                      </a:r>
                      <a:r>
                        <a:rPr lang="ja-JP" sz="1600" b="0" i="0" u="none" strike="noStrike" cap="none">
                          <a:solidFill>
                            <a:schemeClr val="dk1"/>
                          </a:solidFill>
                          <a:latin typeface="Poppins Medium"/>
                          <a:ea typeface="Poppins Medium"/>
                          <a:cs typeface="Poppins Medium"/>
                          <a:sym typeface="Poppins Medium"/>
                        </a:rPr>
                        <a:t>円</a:t>
                      </a:r>
                      <a:endParaRPr sz="1800" b="0" i="0" u="none" strike="noStrike" cap="none">
                        <a:solidFill>
                          <a:schemeClr val="dk1"/>
                        </a:solidFill>
                        <a:latin typeface="Poppins Medium"/>
                        <a:ea typeface="Poppins Medium"/>
                        <a:cs typeface="Poppins Medium"/>
                        <a:sym typeface="Poppins Medium"/>
                      </a:endParaRPr>
                    </a:p>
                  </a:txBody>
                  <a:tcPr marL="91450" marR="91450" marT="108000" marB="45725">
                    <a:lnT w="19050"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Poppins Medium"/>
                          <a:ea typeface="Poppins Medium"/>
                          <a:cs typeface="Poppins Medium"/>
                          <a:sym typeface="Poppins Medium"/>
                        </a:rPr>
                        <a:t>10,000</a:t>
                      </a:r>
                      <a:r>
                        <a:rPr lang="ja-JP" sz="1600" b="0" i="0" u="none" strike="noStrike" cap="none">
                          <a:solidFill>
                            <a:schemeClr val="dk1"/>
                          </a:solidFill>
                          <a:latin typeface="Poppins Medium"/>
                          <a:ea typeface="Poppins Medium"/>
                          <a:cs typeface="Poppins Medium"/>
                          <a:sym typeface="Poppins Medium"/>
                        </a:rPr>
                        <a:t>円</a:t>
                      </a:r>
                      <a:endParaRPr sz="1800" b="0" i="0" u="none" strike="noStrike" cap="none">
                        <a:solidFill>
                          <a:schemeClr val="dk1"/>
                        </a:solidFill>
                        <a:latin typeface="Poppins Medium"/>
                        <a:ea typeface="Poppins Medium"/>
                        <a:cs typeface="Poppins Medium"/>
                        <a:sym typeface="Poppins Medium"/>
                      </a:endParaRPr>
                    </a:p>
                  </a:txBody>
                  <a:tcPr marL="91450" marR="91450" marT="108000" marB="45725">
                    <a:lnT w="19050"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504000">
                <a:tc>
                  <a:txBody>
                    <a:bodyPr/>
                    <a:lstStyle/>
                    <a:p>
                      <a:pPr marL="0" marR="0" lvl="0" indent="0" algn="r" rtl="0">
                        <a:lnSpc>
                          <a:spcPct val="100000"/>
                        </a:lnSpc>
                        <a:spcBef>
                          <a:spcPts val="0"/>
                        </a:spcBef>
                        <a:spcAft>
                          <a:spcPts val="0"/>
                        </a:spcAft>
                        <a:buClr>
                          <a:srgbClr val="2498DA"/>
                        </a:buClr>
                        <a:buSzPts val="1800"/>
                        <a:buFont typeface="Calibri"/>
                        <a:buNone/>
                      </a:pPr>
                      <a:r>
                        <a:rPr lang="ja-JP" altLang="en-US" sz="1800" b="1" i="0" u="none" strike="noStrike" cap="none" dirty="0">
                          <a:solidFill>
                            <a:srgbClr val="2498DA"/>
                          </a:solidFill>
                          <a:latin typeface="Calibri"/>
                          <a:ea typeface="Calibri"/>
                          <a:cs typeface="Calibri"/>
                          <a:sym typeface="Calibri"/>
                        </a:rPr>
                        <a:t>研修事務</a:t>
                      </a:r>
                      <a:r>
                        <a:rPr lang="ja-JP" sz="1800" b="1" i="0" u="none" strike="noStrike" cap="none" dirty="0">
                          <a:solidFill>
                            <a:srgbClr val="2498DA"/>
                          </a:solidFill>
                          <a:latin typeface="Calibri"/>
                          <a:ea typeface="Calibri"/>
                          <a:cs typeface="Calibri"/>
                          <a:sym typeface="Calibri"/>
                        </a:rPr>
                        <a:t>手数料 </a:t>
                      </a:r>
                      <a:r>
                        <a:rPr lang="ja-JP" sz="1400" b="0" i="0" u="none" strike="noStrike" cap="none" dirty="0">
                          <a:solidFill>
                            <a:srgbClr val="2498DA"/>
                          </a:solidFill>
                          <a:latin typeface="Calibri"/>
                          <a:ea typeface="Calibri"/>
                          <a:cs typeface="Calibri"/>
                          <a:sym typeface="Calibri"/>
                        </a:rPr>
                        <a:t>[1]</a:t>
                      </a:r>
                      <a:endParaRPr sz="1400" b="0" i="0" u="none" strike="noStrike" cap="none" dirty="0">
                        <a:solidFill>
                          <a:srgbClr val="2498DA"/>
                        </a:solidFill>
                        <a:latin typeface="Calibri"/>
                        <a:ea typeface="Calibri"/>
                        <a:cs typeface="Calibri"/>
                        <a:sym typeface="Calibri"/>
                      </a:endParaRPr>
                    </a:p>
                  </a:txBody>
                  <a:tcPr marL="91450" marR="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Poppins Medium"/>
                          <a:ea typeface="Poppins Medium"/>
                          <a:cs typeface="Poppins Medium"/>
                          <a:sym typeface="Poppins Medium"/>
                        </a:rPr>
                        <a:t>50,000</a:t>
                      </a:r>
                      <a:r>
                        <a:rPr lang="ja-JP" sz="1600" b="0" i="0" u="none" strike="noStrike" cap="none">
                          <a:solidFill>
                            <a:schemeClr val="dk1"/>
                          </a:solidFill>
                          <a:latin typeface="Poppins Medium"/>
                          <a:ea typeface="Poppins Medium"/>
                          <a:cs typeface="Poppins Medium"/>
                          <a:sym typeface="Poppins Medium"/>
                        </a:rPr>
                        <a:t>円</a:t>
                      </a:r>
                      <a:endParaRPr sz="1800" b="0" i="0" u="none" strike="noStrike" cap="none">
                        <a:solidFill>
                          <a:schemeClr val="dk1"/>
                        </a:solidFill>
                        <a:latin typeface="Poppins Medium"/>
                        <a:ea typeface="Poppins Medium"/>
                        <a:cs typeface="Poppins Medium"/>
                        <a:sym typeface="Poppins Medium"/>
                      </a:endParaRPr>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Poppins Medium"/>
                          <a:ea typeface="Poppins Medium"/>
                          <a:cs typeface="Poppins Medium"/>
                          <a:sym typeface="Poppins Medium"/>
                        </a:rPr>
                        <a:t>1</a:t>
                      </a:r>
                      <a:r>
                        <a:rPr lang="ja-JP" sz="1800" u="none" strike="noStrike" cap="none">
                          <a:latin typeface="Poppins Medium"/>
                          <a:ea typeface="Poppins Medium"/>
                          <a:cs typeface="Poppins Medium"/>
                          <a:sym typeface="Poppins Medium"/>
                        </a:rPr>
                        <a:t>0</a:t>
                      </a:r>
                      <a:r>
                        <a:rPr lang="ja-JP" sz="1800" b="0" i="0" u="none" strike="noStrike" cap="none">
                          <a:solidFill>
                            <a:schemeClr val="dk1"/>
                          </a:solidFill>
                          <a:latin typeface="Poppins Medium"/>
                          <a:ea typeface="Poppins Medium"/>
                          <a:cs typeface="Poppins Medium"/>
                          <a:sym typeface="Poppins Medium"/>
                        </a:rPr>
                        <a:t>0,000</a:t>
                      </a:r>
                      <a:r>
                        <a:rPr lang="ja-JP" sz="1600" b="0" i="0" u="none" strike="noStrike" cap="none">
                          <a:solidFill>
                            <a:schemeClr val="dk1"/>
                          </a:solidFill>
                          <a:latin typeface="Poppins Medium"/>
                          <a:ea typeface="Poppins Medium"/>
                          <a:cs typeface="Poppins Medium"/>
                          <a:sym typeface="Poppins Medium"/>
                        </a:rPr>
                        <a:t>円</a:t>
                      </a:r>
                      <a:endParaRPr sz="1800" b="0" i="0" u="none" strike="noStrike" cap="none">
                        <a:solidFill>
                          <a:schemeClr val="dk1"/>
                        </a:solidFill>
                        <a:latin typeface="Poppins Medium"/>
                        <a:ea typeface="Poppins Medium"/>
                        <a:cs typeface="Poppins Medium"/>
                        <a:sym typeface="Poppins Medium"/>
                      </a:endParaRPr>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1" i="0" u="none" strike="noStrike" cap="none">
                          <a:solidFill>
                            <a:srgbClr val="2498DA"/>
                          </a:solidFill>
                          <a:latin typeface="Calibri"/>
                          <a:ea typeface="Calibri"/>
                          <a:cs typeface="Calibri"/>
                          <a:sym typeface="Calibri"/>
                        </a:rPr>
                        <a:t>合計</a:t>
                      </a:r>
                      <a:endParaRPr sz="1400" u="none" strike="noStrike" cap="none"/>
                    </a:p>
                  </a:txBody>
                  <a:tcPr marL="91450" marR="324000" marT="108000" marB="45725">
                    <a:lnT w="9525"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tc>
                  <a:txBody>
                    <a:bodyPr/>
                    <a:lstStyle/>
                    <a:p>
                      <a:pPr marL="0" marR="0" lvl="0" indent="0" algn="r" rtl="0">
                        <a:lnSpc>
                          <a:spcPct val="100000"/>
                        </a:lnSpc>
                        <a:spcBef>
                          <a:spcPts val="0"/>
                        </a:spcBef>
                        <a:spcAft>
                          <a:spcPts val="0"/>
                        </a:spcAft>
                        <a:buClr>
                          <a:srgbClr val="000000"/>
                        </a:buClr>
                        <a:buSzPts val="1800"/>
                        <a:buFont typeface="Arial"/>
                        <a:buNone/>
                      </a:pPr>
                      <a:r>
                        <a:rPr lang="ja-JP" sz="1800" b="0" i="0" u="none" strike="noStrike" cap="none">
                          <a:solidFill>
                            <a:srgbClr val="FFC400"/>
                          </a:solidFill>
                          <a:latin typeface="Poppins Medium"/>
                          <a:ea typeface="Poppins Medium"/>
                          <a:cs typeface="Poppins Medium"/>
                          <a:sym typeface="Poppins Medium"/>
                        </a:rPr>
                        <a:t>55,000</a:t>
                      </a:r>
                      <a:r>
                        <a:rPr lang="ja-JP" sz="1600" b="0" i="0" u="none" strike="noStrike" cap="none">
                          <a:solidFill>
                            <a:srgbClr val="FFC400"/>
                          </a:solidFill>
                          <a:latin typeface="Poppins Medium"/>
                          <a:ea typeface="Poppins Medium"/>
                          <a:cs typeface="Poppins Medium"/>
                          <a:sym typeface="Poppins Medium"/>
                        </a:rPr>
                        <a:t>円</a:t>
                      </a:r>
                      <a:endParaRPr sz="1800" b="0" i="0" u="none" strike="noStrike" cap="none">
                        <a:solidFill>
                          <a:srgbClr val="FFC400"/>
                        </a:solidFill>
                        <a:latin typeface="Poppins Medium"/>
                        <a:ea typeface="Poppins Medium"/>
                        <a:cs typeface="Poppins Medium"/>
                        <a:sym typeface="Poppins Medium"/>
                      </a:endParaRPr>
                    </a:p>
                  </a:txBody>
                  <a:tcPr marL="91450" marR="91450" marT="108000" marB="45725">
                    <a:lnT w="9525"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tc>
                  <a:txBody>
                    <a:bodyPr/>
                    <a:lstStyle/>
                    <a:p>
                      <a:pPr marL="0" marR="0" lvl="0" indent="0" algn="r" rtl="0">
                        <a:lnSpc>
                          <a:spcPct val="100000"/>
                        </a:lnSpc>
                        <a:spcBef>
                          <a:spcPts val="0"/>
                        </a:spcBef>
                        <a:spcAft>
                          <a:spcPts val="0"/>
                        </a:spcAft>
                        <a:buClr>
                          <a:srgbClr val="000000"/>
                        </a:buClr>
                        <a:buSzPts val="1800"/>
                        <a:buFont typeface="Arial"/>
                        <a:buNone/>
                      </a:pPr>
                      <a:r>
                        <a:rPr lang="ja-JP" sz="1800" b="0" i="0" u="none" strike="noStrike" cap="none" dirty="0">
                          <a:solidFill>
                            <a:srgbClr val="FFC400"/>
                          </a:solidFill>
                          <a:latin typeface="Poppins Medium"/>
                          <a:ea typeface="Poppins Medium"/>
                          <a:cs typeface="Poppins Medium"/>
                          <a:sym typeface="Poppins Medium"/>
                        </a:rPr>
                        <a:t>1</a:t>
                      </a:r>
                      <a:r>
                        <a:rPr lang="ja-JP" sz="1800" u="none" strike="noStrike" cap="none" dirty="0">
                          <a:solidFill>
                            <a:srgbClr val="FFC400"/>
                          </a:solidFill>
                          <a:latin typeface="Poppins Medium"/>
                          <a:ea typeface="Poppins Medium"/>
                          <a:cs typeface="Poppins Medium"/>
                          <a:sym typeface="Poppins Medium"/>
                        </a:rPr>
                        <a:t>1</a:t>
                      </a:r>
                      <a:r>
                        <a:rPr lang="ja-JP" sz="1800" b="0" i="0" u="none" strike="noStrike" cap="none" dirty="0">
                          <a:solidFill>
                            <a:srgbClr val="FFC400"/>
                          </a:solidFill>
                          <a:latin typeface="Poppins Medium"/>
                          <a:ea typeface="Poppins Medium"/>
                          <a:cs typeface="Poppins Medium"/>
                          <a:sym typeface="Poppins Medium"/>
                        </a:rPr>
                        <a:t>0,000</a:t>
                      </a:r>
                      <a:r>
                        <a:rPr lang="ja-JP" sz="1600" b="0" i="0" u="none" strike="noStrike" cap="none" dirty="0">
                          <a:solidFill>
                            <a:srgbClr val="FFC400"/>
                          </a:solidFill>
                          <a:latin typeface="Poppins Medium"/>
                          <a:ea typeface="Poppins Medium"/>
                          <a:cs typeface="Poppins Medium"/>
                          <a:sym typeface="Poppins Medium"/>
                        </a:rPr>
                        <a:t>円</a:t>
                      </a:r>
                      <a:endParaRPr sz="1800" b="0" i="0" u="none" strike="noStrike" cap="none" dirty="0">
                        <a:solidFill>
                          <a:srgbClr val="FFC400"/>
                        </a:solidFill>
                        <a:latin typeface="Poppins Medium"/>
                        <a:ea typeface="Poppins Medium"/>
                        <a:cs typeface="Poppins Medium"/>
                        <a:sym typeface="Poppins Medium"/>
                      </a:endParaRPr>
                    </a:p>
                  </a:txBody>
                  <a:tcPr marL="91450" marR="91450" marT="108000" marB="45725">
                    <a:lnT w="9525"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469" name="Google Shape;469;p19"/>
          <p:cNvSpPr txBox="1"/>
          <p:nvPr/>
        </p:nvSpPr>
        <p:spPr>
          <a:xfrm>
            <a:off x="472964" y="1051984"/>
            <a:ext cx="525517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2498DA"/>
                </a:solidFill>
                <a:latin typeface="Calibri"/>
                <a:ea typeface="Calibri"/>
                <a:cs typeface="Calibri"/>
                <a:sym typeface="Calibri"/>
              </a:rPr>
              <a:t>主な参加費</a:t>
            </a:r>
            <a:endParaRPr sz="2400" b="1" i="0" u="none" strike="noStrike" cap="none">
              <a:solidFill>
                <a:srgbClr val="2498DA"/>
              </a:solidFill>
              <a:latin typeface="Calibri"/>
              <a:ea typeface="Calibri"/>
              <a:cs typeface="Calibri"/>
              <a:sym typeface="Calibri"/>
            </a:endParaRPr>
          </a:p>
        </p:txBody>
      </p:sp>
      <p:sp>
        <p:nvSpPr>
          <p:cNvPr id="470" name="Google Shape;470;p19"/>
          <p:cNvSpPr txBox="1"/>
          <p:nvPr/>
        </p:nvSpPr>
        <p:spPr>
          <a:xfrm>
            <a:off x="4734231" y="5249092"/>
            <a:ext cx="294871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rgbClr val="2498DA"/>
                </a:solidFill>
                <a:latin typeface="Calibri"/>
                <a:ea typeface="Calibri"/>
                <a:cs typeface="Calibri"/>
                <a:sym typeface="Calibri"/>
              </a:rPr>
              <a:t>[1]</a:t>
            </a:r>
            <a:r>
              <a:rPr lang="ja-JP" sz="1400" b="0" i="0" u="none" strike="noStrike" cap="none">
                <a:solidFill>
                  <a:schemeClr val="dk1"/>
                </a:solidFill>
                <a:latin typeface="Calibri"/>
                <a:ea typeface="Calibri"/>
                <a:cs typeface="Calibri"/>
                <a:sym typeface="Calibri"/>
              </a:rPr>
              <a:t>　</a:t>
            </a:r>
            <a:r>
              <a:rPr lang="ja-JP" sz="1400" b="0" i="0" u="none" strike="noStrike" cap="none">
                <a:solidFill>
                  <a:srgbClr val="3F3F3F"/>
                </a:solidFill>
                <a:latin typeface="Calibri"/>
                <a:ea typeface="Calibri"/>
                <a:cs typeface="Calibri"/>
                <a:sym typeface="Calibri"/>
              </a:rPr>
              <a:t>選考およびマッチング手数料</a:t>
            </a:r>
            <a:endParaRPr sz="1400" b="0" i="0" u="none" strike="noStrike" cap="none">
              <a:solidFill>
                <a:srgbClr val="3F3F3F"/>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21"/>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27</a:t>
            </a:fld>
            <a:endParaRPr/>
          </a:p>
        </p:txBody>
      </p:sp>
      <p:sp>
        <p:nvSpPr>
          <p:cNvPr id="476" name="Google Shape;476;p21"/>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大学会員校</a:t>
            </a:r>
            <a:endParaRPr/>
          </a:p>
        </p:txBody>
      </p:sp>
      <p:sp>
        <p:nvSpPr>
          <p:cNvPr id="477" name="Google Shape;477;p21"/>
          <p:cNvSpPr txBox="1"/>
          <p:nvPr/>
        </p:nvSpPr>
        <p:spPr>
          <a:xfrm>
            <a:off x="1797550" y="1544684"/>
            <a:ext cx="2653680" cy="4407542"/>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rgbClr val="2498DA"/>
              </a:buClr>
              <a:buSzPts val="1600"/>
              <a:buFont typeface="Noto Sans Symbols"/>
              <a:buChar char="●"/>
            </a:pPr>
            <a:r>
              <a:rPr lang="ja-JP" sz="2000" b="1" i="0" u="none" strike="noStrike" cap="none">
                <a:solidFill>
                  <a:schemeClr val="dk1"/>
                </a:solidFill>
                <a:latin typeface="Calibri"/>
                <a:ea typeface="Calibri"/>
                <a:cs typeface="Calibri"/>
                <a:sym typeface="Calibri"/>
              </a:rPr>
              <a:t>室蘭工業大学</a:t>
            </a:r>
            <a:endParaRPr sz="2000" b="1"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2498DA"/>
              </a:buClr>
              <a:buSzPts val="1600"/>
              <a:buFont typeface="Noto Sans Symbols"/>
              <a:buChar char="●"/>
            </a:pPr>
            <a:r>
              <a:rPr lang="ja-JP" sz="2000" b="1" i="0" u="none" strike="noStrike" cap="none">
                <a:solidFill>
                  <a:schemeClr val="dk1"/>
                </a:solidFill>
                <a:latin typeface="Calibri"/>
                <a:ea typeface="Calibri"/>
                <a:cs typeface="Calibri"/>
                <a:sym typeface="Calibri"/>
              </a:rPr>
              <a:t>東北大学</a:t>
            </a:r>
            <a:endParaRPr sz="2000" b="1"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2498DA"/>
              </a:buClr>
              <a:buSzPts val="1600"/>
              <a:buFont typeface="Noto Sans Symbols"/>
              <a:buChar char="●"/>
            </a:pPr>
            <a:r>
              <a:rPr lang="ja-JP" sz="2000" b="1" i="0" u="none" strike="noStrike" cap="none">
                <a:solidFill>
                  <a:schemeClr val="dk1"/>
                </a:solidFill>
                <a:latin typeface="Calibri"/>
                <a:ea typeface="Calibri"/>
                <a:cs typeface="Calibri"/>
                <a:sym typeface="Calibri"/>
              </a:rPr>
              <a:t>東京大学</a:t>
            </a:r>
            <a:endParaRPr sz="2000" b="1"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2498DA"/>
              </a:buClr>
              <a:buSzPts val="1600"/>
              <a:buFont typeface="Noto Sans Symbols"/>
              <a:buChar char="●"/>
            </a:pPr>
            <a:r>
              <a:rPr lang="ja-JP" sz="2000" b="1" i="0" u="none" strike="noStrike" cap="none">
                <a:solidFill>
                  <a:schemeClr val="dk1"/>
                </a:solidFill>
                <a:latin typeface="Calibri"/>
                <a:ea typeface="Calibri"/>
                <a:cs typeface="Calibri"/>
                <a:sym typeface="Calibri"/>
              </a:rPr>
              <a:t>東京農工大学</a:t>
            </a:r>
            <a:endParaRPr sz="2000" b="1"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2498DA"/>
              </a:buClr>
              <a:buSzPts val="1600"/>
              <a:buFont typeface="Noto Sans Symbols"/>
              <a:buChar char="●"/>
            </a:pPr>
            <a:r>
              <a:rPr lang="ja-JP" sz="2000" b="1" i="0" u="none" strike="noStrike" cap="none">
                <a:solidFill>
                  <a:schemeClr val="dk1"/>
                </a:solidFill>
                <a:latin typeface="Calibri"/>
                <a:ea typeface="Calibri"/>
                <a:cs typeface="Calibri"/>
                <a:sym typeface="Calibri"/>
              </a:rPr>
              <a:t>東京工業大学</a:t>
            </a:r>
            <a:endParaRPr sz="2000" b="1"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2498DA"/>
              </a:buClr>
              <a:buSzPts val="1600"/>
              <a:buFont typeface="Noto Sans Symbols"/>
              <a:buChar char="●"/>
            </a:pPr>
            <a:r>
              <a:rPr lang="ja-JP" sz="2000" b="1" i="0" u="none" strike="noStrike" cap="none">
                <a:solidFill>
                  <a:schemeClr val="dk1"/>
                </a:solidFill>
                <a:latin typeface="Calibri"/>
                <a:ea typeface="Calibri"/>
                <a:cs typeface="Calibri"/>
                <a:sym typeface="Calibri"/>
              </a:rPr>
              <a:t>横浜国立大学</a:t>
            </a:r>
            <a:endParaRPr sz="2000" b="1"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2498DA"/>
              </a:buClr>
              <a:buSzPts val="1600"/>
              <a:buFont typeface="Noto Sans Symbols"/>
              <a:buChar char="●"/>
            </a:pPr>
            <a:r>
              <a:rPr lang="ja-JP" sz="2000" b="1" i="0" u="none" strike="noStrike" cap="none">
                <a:solidFill>
                  <a:schemeClr val="dk1"/>
                </a:solidFill>
                <a:latin typeface="Calibri"/>
                <a:ea typeface="Calibri"/>
                <a:cs typeface="Calibri"/>
                <a:sym typeface="Calibri"/>
              </a:rPr>
              <a:t>京都大学</a:t>
            </a:r>
            <a:endParaRPr sz="2000" b="1"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2498DA"/>
              </a:buClr>
              <a:buSzPts val="1600"/>
              <a:buFont typeface="Noto Sans Symbols"/>
              <a:buChar char="●"/>
            </a:pPr>
            <a:r>
              <a:rPr lang="ja-JP" sz="2000" b="1" i="0" u="none" strike="noStrike" cap="none">
                <a:solidFill>
                  <a:schemeClr val="dk1"/>
                </a:solidFill>
                <a:latin typeface="Calibri"/>
                <a:ea typeface="Calibri"/>
                <a:cs typeface="Calibri"/>
                <a:sym typeface="Calibri"/>
              </a:rPr>
              <a:t>大阪大学</a:t>
            </a:r>
            <a:endParaRPr sz="2000" b="1" i="0" u="none" strike="noStrike" cap="none">
              <a:solidFill>
                <a:schemeClr val="dk1"/>
              </a:solidFill>
              <a:latin typeface="Calibri"/>
              <a:ea typeface="Calibri"/>
              <a:cs typeface="Calibri"/>
              <a:sym typeface="Calibri"/>
            </a:endParaRPr>
          </a:p>
        </p:txBody>
      </p:sp>
      <p:sp>
        <p:nvSpPr>
          <p:cNvPr id="478" name="Google Shape;478;p21"/>
          <p:cNvSpPr txBox="1"/>
          <p:nvPr/>
        </p:nvSpPr>
        <p:spPr>
          <a:xfrm>
            <a:off x="4924742" y="1428247"/>
            <a:ext cx="2648409" cy="4001506"/>
          </a:xfrm>
          <a:prstGeom prst="rect">
            <a:avLst/>
          </a:prstGeom>
          <a:noFill/>
          <a:ln>
            <a:noFill/>
          </a:ln>
        </p:spPr>
        <p:txBody>
          <a:bodyPr spcFirstLastPara="1" wrap="square" lIns="68575" tIns="34275" rIns="68575" bIns="34275" anchor="t" anchorCtr="0">
            <a:noAutofit/>
          </a:bodyPr>
          <a:lstStyle/>
          <a:p>
            <a:pPr marL="414900" marR="0" lvl="0" indent="-342900" algn="l" rtl="0">
              <a:lnSpc>
                <a:spcPct val="100000"/>
              </a:lnSpc>
              <a:spcBef>
                <a:spcPts val="600"/>
              </a:spcBef>
              <a:spcAft>
                <a:spcPts val="0"/>
              </a:spcAft>
              <a:buClr>
                <a:srgbClr val="2498DA"/>
              </a:buClr>
              <a:buSzPts val="1200"/>
              <a:buFont typeface="Noto Sans Symbols"/>
              <a:buChar char="●"/>
            </a:pPr>
            <a:r>
              <a:rPr lang="ja-JP" altLang="en-US" sz="2000" b="1" i="0" u="none" strike="noStrike" cap="none" dirty="0">
                <a:solidFill>
                  <a:schemeClr val="dk1"/>
                </a:solidFill>
                <a:latin typeface="Calibri"/>
                <a:ea typeface="Calibri"/>
                <a:cs typeface="Calibri"/>
                <a:sym typeface="Calibri"/>
              </a:rPr>
              <a:t>九州大学</a:t>
            </a:r>
            <a:endParaRPr lang="en-US" altLang="ja-JP" sz="2000" b="1" i="0" u="none" strike="noStrike" cap="none" dirty="0">
              <a:solidFill>
                <a:schemeClr val="dk1"/>
              </a:solidFill>
              <a:latin typeface="Calibri"/>
              <a:ea typeface="Calibri"/>
              <a:cs typeface="Calibri"/>
              <a:sym typeface="Calibri"/>
            </a:endParaRPr>
          </a:p>
          <a:p>
            <a:pPr marL="414900" marR="0" lvl="0" indent="-342900" algn="l" rtl="0">
              <a:lnSpc>
                <a:spcPct val="100000"/>
              </a:lnSpc>
              <a:spcBef>
                <a:spcPts val="600"/>
              </a:spcBef>
              <a:spcAft>
                <a:spcPts val="0"/>
              </a:spcAft>
              <a:buClr>
                <a:srgbClr val="2498DA"/>
              </a:buClr>
              <a:buSzPts val="1200"/>
              <a:buFont typeface="Noto Sans Symbols"/>
              <a:buChar char="●"/>
            </a:pPr>
            <a:r>
              <a:rPr lang="ja-JP" sz="2000" b="1" i="0" u="none" strike="noStrike" cap="none" dirty="0">
                <a:solidFill>
                  <a:schemeClr val="dk1"/>
                </a:solidFill>
                <a:latin typeface="Calibri"/>
                <a:ea typeface="Calibri"/>
                <a:cs typeface="Calibri"/>
                <a:sym typeface="Calibri"/>
              </a:rPr>
              <a:t>岡山大学</a:t>
            </a:r>
            <a:endParaRPr dirty="0"/>
          </a:p>
          <a:p>
            <a:pPr marL="342900" marR="0" lvl="0" indent="-270900" algn="l" rtl="0">
              <a:lnSpc>
                <a:spcPct val="100000"/>
              </a:lnSpc>
              <a:spcBef>
                <a:spcPts val="600"/>
              </a:spcBef>
              <a:spcAft>
                <a:spcPts val="0"/>
              </a:spcAft>
              <a:buClr>
                <a:srgbClr val="2498DA"/>
              </a:buClr>
              <a:buSzPts val="1600"/>
              <a:buFont typeface="Noto Sans Symbols"/>
              <a:buChar char="●"/>
            </a:pPr>
            <a:r>
              <a:rPr lang="ja-JP" sz="2000" b="1" i="0" u="none" strike="noStrike" cap="none" dirty="0">
                <a:solidFill>
                  <a:schemeClr val="dk1"/>
                </a:solidFill>
                <a:latin typeface="Calibri"/>
                <a:ea typeface="Calibri"/>
                <a:cs typeface="Calibri"/>
                <a:sym typeface="Calibri"/>
              </a:rPr>
              <a:t>東京都立大学</a:t>
            </a:r>
            <a:endParaRPr sz="2000" b="1" i="0" u="none" strike="noStrike" cap="none" dirty="0">
              <a:solidFill>
                <a:schemeClr val="dk1"/>
              </a:solidFill>
              <a:latin typeface="Calibri"/>
              <a:ea typeface="Calibri"/>
              <a:cs typeface="Calibri"/>
              <a:sym typeface="Calibri"/>
            </a:endParaRPr>
          </a:p>
          <a:p>
            <a:pPr marL="342900" marR="0" lvl="0" indent="-270900" algn="l" rtl="0">
              <a:lnSpc>
                <a:spcPct val="100000"/>
              </a:lnSpc>
              <a:spcBef>
                <a:spcPts val="600"/>
              </a:spcBef>
              <a:spcAft>
                <a:spcPts val="0"/>
              </a:spcAft>
              <a:buClr>
                <a:srgbClr val="2498DA"/>
              </a:buClr>
              <a:buSzPts val="1600"/>
              <a:buFont typeface="Noto Sans Symbols"/>
              <a:buChar char="●"/>
            </a:pPr>
            <a:r>
              <a:rPr lang="ja-JP" sz="2000" b="1" i="0" u="none" strike="noStrike" cap="none" dirty="0">
                <a:solidFill>
                  <a:schemeClr val="dk1"/>
                </a:solidFill>
                <a:latin typeface="Calibri"/>
                <a:ea typeface="Calibri"/>
                <a:cs typeface="Calibri"/>
                <a:sym typeface="Calibri"/>
              </a:rPr>
              <a:t>慶應義塾大学</a:t>
            </a:r>
            <a:endParaRPr sz="2000" b="1" i="0" u="none" strike="noStrike" cap="none" dirty="0">
              <a:solidFill>
                <a:schemeClr val="dk1"/>
              </a:solidFill>
              <a:latin typeface="Calibri"/>
              <a:ea typeface="Calibri"/>
              <a:cs typeface="Calibri"/>
              <a:sym typeface="Calibri"/>
            </a:endParaRPr>
          </a:p>
          <a:p>
            <a:pPr marL="342900" marR="0" lvl="0" indent="-270900" algn="l" rtl="0">
              <a:lnSpc>
                <a:spcPct val="100000"/>
              </a:lnSpc>
              <a:spcBef>
                <a:spcPts val="1000"/>
              </a:spcBef>
              <a:spcAft>
                <a:spcPts val="0"/>
              </a:spcAft>
              <a:buClr>
                <a:srgbClr val="2498DA"/>
              </a:buClr>
              <a:buSzPts val="1600"/>
              <a:buFont typeface="Noto Sans Symbols"/>
              <a:buChar char="●"/>
            </a:pPr>
            <a:r>
              <a:rPr lang="ja-JP" sz="2000" b="1" i="0" u="none" strike="noStrike" cap="none" dirty="0">
                <a:solidFill>
                  <a:schemeClr val="dk1"/>
                </a:solidFill>
                <a:latin typeface="Calibri"/>
                <a:ea typeface="Calibri"/>
                <a:cs typeface="Calibri"/>
                <a:sym typeface="Calibri"/>
              </a:rPr>
              <a:t>東京都市大学</a:t>
            </a:r>
            <a:endParaRPr sz="2000" b="1" i="0" u="none" strike="noStrike" cap="none" dirty="0">
              <a:solidFill>
                <a:schemeClr val="dk1"/>
              </a:solidFill>
              <a:latin typeface="Calibri"/>
              <a:ea typeface="Calibri"/>
              <a:cs typeface="Calibri"/>
              <a:sym typeface="Calibri"/>
            </a:endParaRPr>
          </a:p>
          <a:p>
            <a:pPr marL="342900" marR="0" lvl="0" indent="-270900" algn="l" rtl="0">
              <a:lnSpc>
                <a:spcPct val="100000"/>
              </a:lnSpc>
              <a:spcBef>
                <a:spcPts val="1000"/>
              </a:spcBef>
              <a:spcAft>
                <a:spcPts val="0"/>
              </a:spcAft>
              <a:buClr>
                <a:srgbClr val="2498DA"/>
              </a:buClr>
              <a:buSzPts val="1600"/>
              <a:buFont typeface="Noto Sans Symbols"/>
              <a:buChar char="●"/>
            </a:pPr>
            <a:r>
              <a:rPr lang="ja-JP" sz="2000" b="1" i="0" u="none" strike="noStrike" cap="none" dirty="0">
                <a:solidFill>
                  <a:schemeClr val="dk1"/>
                </a:solidFill>
                <a:latin typeface="Calibri"/>
                <a:ea typeface="Calibri"/>
                <a:cs typeface="Calibri"/>
                <a:sym typeface="Calibri"/>
              </a:rPr>
              <a:t>東京理科大学</a:t>
            </a:r>
            <a:endParaRPr sz="2000" b="1" i="0" u="none" strike="noStrike" cap="none" dirty="0">
              <a:solidFill>
                <a:schemeClr val="dk1"/>
              </a:solidFill>
              <a:latin typeface="Calibri"/>
              <a:ea typeface="Calibri"/>
              <a:cs typeface="Calibri"/>
              <a:sym typeface="Calibri"/>
            </a:endParaRPr>
          </a:p>
          <a:p>
            <a:pPr marL="342900" marR="0" lvl="0" indent="-270900" algn="l" rtl="0">
              <a:lnSpc>
                <a:spcPct val="100000"/>
              </a:lnSpc>
              <a:spcBef>
                <a:spcPts val="1000"/>
              </a:spcBef>
              <a:spcAft>
                <a:spcPts val="0"/>
              </a:spcAft>
              <a:buClr>
                <a:srgbClr val="2498DA"/>
              </a:buClr>
              <a:buSzPts val="1600"/>
              <a:buFont typeface="Noto Sans Symbols"/>
              <a:buChar char="●"/>
            </a:pPr>
            <a:r>
              <a:rPr lang="ja-JP" sz="2000" b="1" i="0" u="none" strike="noStrike" cap="none" dirty="0">
                <a:solidFill>
                  <a:schemeClr val="dk1"/>
                </a:solidFill>
                <a:latin typeface="Calibri"/>
                <a:ea typeface="Calibri"/>
                <a:cs typeface="Calibri"/>
                <a:sym typeface="Calibri"/>
              </a:rPr>
              <a:t>早稲田大学</a:t>
            </a:r>
            <a:endParaRPr sz="2000" b="1" i="0" u="none" strike="noStrike" cap="none" dirty="0">
              <a:solidFill>
                <a:schemeClr val="dk1"/>
              </a:solidFill>
              <a:latin typeface="Calibri"/>
              <a:ea typeface="Calibri"/>
              <a:cs typeface="Calibri"/>
              <a:sym typeface="Calibri"/>
            </a:endParaRPr>
          </a:p>
          <a:p>
            <a:pPr marL="342900" marR="0" lvl="0" indent="-270900" algn="l" rtl="0">
              <a:lnSpc>
                <a:spcPct val="100000"/>
              </a:lnSpc>
              <a:spcBef>
                <a:spcPts val="1000"/>
              </a:spcBef>
              <a:spcAft>
                <a:spcPts val="0"/>
              </a:spcAft>
              <a:buClr>
                <a:srgbClr val="2498DA"/>
              </a:buClr>
              <a:buSzPts val="1600"/>
              <a:buFont typeface="Noto Sans Symbols"/>
              <a:buChar char="●"/>
            </a:pPr>
            <a:r>
              <a:rPr lang="ja-JP" sz="2000" b="1" i="0" u="none" strike="noStrike" cap="none" dirty="0">
                <a:solidFill>
                  <a:schemeClr val="dk1"/>
                </a:solidFill>
                <a:latin typeface="Calibri"/>
                <a:ea typeface="Calibri"/>
                <a:cs typeface="Calibri"/>
                <a:sym typeface="Calibri"/>
              </a:rPr>
              <a:t>同志社大学</a:t>
            </a:r>
            <a:endParaRPr sz="2000" b="1" i="0" u="none" strike="noStrike" cap="none" dirty="0">
              <a:solidFill>
                <a:schemeClr val="dk1"/>
              </a:solidFill>
              <a:latin typeface="Calibri"/>
              <a:ea typeface="Calibri"/>
              <a:cs typeface="Calibri"/>
              <a:sym typeface="Calibri"/>
            </a:endParaRPr>
          </a:p>
          <a:p>
            <a:pPr marL="342900" marR="0" lvl="0" indent="-270900" algn="l" rtl="0">
              <a:lnSpc>
                <a:spcPct val="100000"/>
              </a:lnSpc>
              <a:spcBef>
                <a:spcPts val="1000"/>
              </a:spcBef>
              <a:spcAft>
                <a:spcPts val="0"/>
              </a:spcAft>
              <a:buClr>
                <a:srgbClr val="2498DA"/>
              </a:buClr>
              <a:buSzPts val="1600"/>
              <a:buFont typeface="Noto Sans Symbols"/>
              <a:buChar char="●"/>
            </a:pPr>
            <a:r>
              <a:rPr lang="ja-JP" sz="2000" b="1" i="0" u="none" strike="noStrike" cap="none" dirty="0">
                <a:solidFill>
                  <a:schemeClr val="dk1"/>
                </a:solidFill>
                <a:latin typeface="Calibri"/>
                <a:ea typeface="Calibri"/>
                <a:cs typeface="Calibri"/>
                <a:sym typeface="Calibri"/>
              </a:rPr>
              <a:t>立命館大学</a:t>
            </a:r>
            <a:endParaRPr sz="2000" b="1" i="0" u="none" strike="noStrike" cap="none" dirty="0">
              <a:solidFill>
                <a:schemeClr val="dk1"/>
              </a:solidFill>
              <a:latin typeface="Calibri"/>
              <a:ea typeface="Calibri"/>
              <a:cs typeface="Calibri"/>
              <a:sym typeface="Calibri"/>
            </a:endParaRPr>
          </a:p>
          <a:p>
            <a:pPr marL="72000" marR="0" lvl="0" indent="0" algn="l" rtl="0">
              <a:lnSpc>
                <a:spcPct val="100000"/>
              </a:lnSpc>
              <a:spcBef>
                <a:spcPts val="1000"/>
              </a:spcBef>
              <a:spcAft>
                <a:spcPts val="0"/>
              </a:spcAft>
              <a:buNone/>
            </a:pPr>
            <a:endParaRPr sz="2000" b="1" i="0" u="none" strike="noStrike" cap="none" dirty="0">
              <a:solidFill>
                <a:schemeClr val="dk1"/>
              </a:solidFill>
              <a:latin typeface="Calibri"/>
              <a:ea typeface="Calibri"/>
              <a:cs typeface="Calibri"/>
              <a:sym typeface="Calibri"/>
            </a:endParaRPr>
          </a:p>
          <a:p>
            <a:pPr marL="72000" marR="0" lvl="0" indent="0" algn="l" rtl="0">
              <a:lnSpc>
                <a:spcPct val="100000"/>
              </a:lnSpc>
              <a:spcBef>
                <a:spcPts val="1000"/>
              </a:spcBef>
              <a:spcAft>
                <a:spcPts val="0"/>
              </a:spcAft>
              <a:buClr>
                <a:srgbClr val="2498DA"/>
              </a:buClr>
              <a:buSzPts val="1600"/>
              <a:buFont typeface="Noto Sans Symbols"/>
              <a:buNone/>
            </a:pPr>
            <a:endParaRPr sz="2000" b="1" i="0" u="none" strike="noStrike" cap="none" dirty="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22"/>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28</a:t>
            </a:fld>
            <a:endParaRPr/>
          </a:p>
        </p:txBody>
      </p:sp>
      <p:sp>
        <p:nvSpPr>
          <p:cNvPr id="484" name="Google Shape;484;p22"/>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その他の費用</a:t>
            </a:r>
            <a:endParaRPr/>
          </a:p>
        </p:txBody>
      </p:sp>
      <p:sp>
        <p:nvSpPr>
          <p:cNvPr id="485" name="Google Shape;485;p22"/>
          <p:cNvSpPr txBox="1"/>
          <p:nvPr/>
        </p:nvSpPr>
        <p:spPr>
          <a:xfrm>
            <a:off x="908897" y="2168095"/>
            <a:ext cx="7367001" cy="2641808"/>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rgbClr val="2498DA"/>
              </a:buClr>
              <a:buSzPts val="2040"/>
              <a:buFont typeface="Noto Sans Symbols"/>
              <a:buChar char="●"/>
            </a:pPr>
            <a:r>
              <a:rPr lang="ja-JP" sz="2400" b="1" i="0" u="none" strike="noStrike" cap="none">
                <a:solidFill>
                  <a:schemeClr val="dk1"/>
                </a:solidFill>
                <a:latin typeface="Calibri"/>
                <a:ea typeface="Calibri"/>
                <a:cs typeface="Calibri"/>
                <a:sym typeface="Calibri"/>
              </a:rPr>
              <a:t>渡航費</a:t>
            </a:r>
            <a:endParaRPr sz="2400" b="1"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2498DA"/>
              </a:buClr>
              <a:buSzPts val="2040"/>
              <a:buFont typeface="Noto Sans Symbols"/>
              <a:buChar char="●"/>
            </a:pPr>
            <a:r>
              <a:rPr lang="ja-JP" sz="2400" b="1" i="0" u="none" strike="noStrike" cap="none">
                <a:solidFill>
                  <a:schemeClr val="dk1"/>
                </a:solidFill>
                <a:latin typeface="Calibri"/>
                <a:ea typeface="Calibri"/>
                <a:cs typeface="Calibri"/>
                <a:sym typeface="Calibri"/>
              </a:rPr>
              <a:t>海外傷害保険</a:t>
            </a:r>
            <a:r>
              <a:rPr lang="ja-JP" sz="2000" b="0" i="0" u="none" strike="noStrike" cap="none">
                <a:solidFill>
                  <a:schemeClr val="dk1"/>
                </a:solidFill>
                <a:latin typeface="Calibri"/>
                <a:ea typeface="Calibri"/>
                <a:cs typeface="Calibri"/>
                <a:sym typeface="Calibri"/>
              </a:rPr>
              <a:t>（加入必須）</a:t>
            </a:r>
            <a:endParaRPr sz="2000" b="0"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2498DA"/>
              </a:buClr>
              <a:buSzPts val="2040"/>
              <a:buFont typeface="Noto Sans Symbols"/>
              <a:buChar char="●"/>
            </a:pPr>
            <a:r>
              <a:rPr lang="ja-JP" sz="2400" b="1" i="0" u="none" strike="noStrike" cap="none">
                <a:solidFill>
                  <a:schemeClr val="dk1"/>
                </a:solidFill>
                <a:latin typeface="Calibri"/>
                <a:ea typeface="Calibri"/>
                <a:cs typeface="Calibri"/>
                <a:sym typeface="Calibri"/>
              </a:rPr>
              <a:t>ビザ取得費</a:t>
            </a:r>
            <a:r>
              <a:rPr lang="ja-JP" sz="2000" b="0" i="0" u="none" strike="noStrike" cap="none">
                <a:solidFill>
                  <a:schemeClr val="dk1"/>
                </a:solidFill>
                <a:latin typeface="Calibri"/>
                <a:ea typeface="Calibri"/>
                <a:cs typeface="Calibri"/>
                <a:sym typeface="Calibri"/>
              </a:rPr>
              <a:t>（研修国による）</a:t>
            </a:r>
            <a:br>
              <a:rPr lang="ja-JP" sz="2400" b="0" i="0" u="none" strike="noStrike" cap="none">
                <a:solidFill>
                  <a:schemeClr val="dk1"/>
                </a:solidFill>
                <a:latin typeface="Calibri"/>
                <a:ea typeface="Calibri"/>
                <a:cs typeface="Calibri"/>
                <a:sym typeface="Calibri"/>
              </a:rPr>
            </a:br>
            <a:br>
              <a:rPr lang="ja-JP" sz="2400" b="0" i="0" u="none" strike="noStrike" cap="none">
                <a:solidFill>
                  <a:schemeClr val="dk1"/>
                </a:solidFill>
                <a:latin typeface="Calibri"/>
                <a:ea typeface="Calibri"/>
                <a:cs typeface="Calibri"/>
                <a:sym typeface="Calibri"/>
              </a:rPr>
            </a:br>
            <a:endParaRPr sz="2400" b="0" i="0" u="none" strike="noStrike" cap="none">
              <a:solidFill>
                <a:schemeClr val="dk1"/>
              </a:solidFill>
              <a:latin typeface="Calibri"/>
              <a:ea typeface="Calibri"/>
              <a:cs typeface="Calibri"/>
              <a:sym typeface="Calibri"/>
            </a:endParaRPr>
          </a:p>
          <a:p>
            <a:pPr marL="228600" marR="0" lvl="0" indent="-228600" algn="l" rtl="0">
              <a:lnSpc>
                <a:spcPct val="90000"/>
              </a:lnSpc>
              <a:spcBef>
                <a:spcPts val="1000"/>
              </a:spcBef>
              <a:spcAft>
                <a:spcPts val="0"/>
              </a:spcAft>
              <a:buClr>
                <a:srgbClr val="FECE00"/>
              </a:buClr>
              <a:buSzPts val="2040"/>
              <a:buFont typeface="Noto Sans Symbols"/>
              <a:buChar char="●"/>
            </a:pPr>
            <a:r>
              <a:rPr lang="ja-JP" sz="2400" b="1" i="0" u="none" strike="noStrike" cap="none">
                <a:solidFill>
                  <a:schemeClr val="dk1"/>
                </a:solidFill>
                <a:latin typeface="Calibri"/>
                <a:ea typeface="Calibri"/>
                <a:cs typeface="Calibri"/>
                <a:sym typeface="Calibri"/>
              </a:rPr>
              <a:t>滞在費</a:t>
            </a:r>
            <a:r>
              <a:rPr lang="ja-JP" sz="2000" b="0" i="0" u="none" strike="noStrike" cap="none">
                <a:solidFill>
                  <a:schemeClr val="dk1"/>
                </a:solidFill>
                <a:latin typeface="Calibri"/>
                <a:ea typeface="Calibri"/>
                <a:cs typeface="Calibri"/>
                <a:sym typeface="Calibri"/>
              </a:rPr>
              <a:t>（住居費，食費、交通費等）</a:t>
            </a:r>
            <a:r>
              <a:rPr lang="ja-JP"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486" name="Google Shape;486;p22"/>
          <p:cNvSpPr/>
          <p:nvPr/>
        </p:nvSpPr>
        <p:spPr>
          <a:xfrm rot="5400000">
            <a:off x="5396674" y="4212865"/>
            <a:ext cx="355669" cy="324556"/>
          </a:xfrm>
          <a:prstGeom prst="triangle">
            <a:avLst>
              <a:gd name="adj" fmla="val 50000"/>
            </a:avLst>
          </a:prstGeom>
          <a:solidFill>
            <a:srgbClr val="FFB9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7" name="Google Shape;487;p22"/>
          <p:cNvSpPr/>
          <p:nvPr/>
        </p:nvSpPr>
        <p:spPr>
          <a:xfrm rot="5400000">
            <a:off x="5396675" y="2618985"/>
            <a:ext cx="355669" cy="324556"/>
          </a:xfrm>
          <a:prstGeom prst="triangle">
            <a:avLst>
              <a:gd name="adj" fmla="val 50000"/>
            </a:avLst>
          </a:prstGeom>
          <a:solidFill>
            <a:srgbClr val="2498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88" name="Google Shape;488;p22"/>
          <p:cNvSpPr txBox="1"/>
          <p:nvPr/>
        </p:nvSpPr>
        <p:spPr>
          <a:xfrm>
            <a:off x="6039115" y="2550430"/>
            <a:ext cx="173994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2498DA"/>
                </a:solidFill>
                <a:latin typeface="Calibri"/>
                <a:ea typeface="Calibri"/>
                <a:cs typeface="Calibri"/>
                <a:sym typeface="Calibri"/>
              </a:rPr>
              <a:t>自己負担</a:t>
            </a:r>
            <a:endParaRPr sz="1400" b="0" i="0" u="none" strike="noStrike" cap="none">
              <a:solidFill>
                <a:srgbClr val="000000"/>
              </a:solidFill>
              <a:latin typeface="Arial"/>
              <a:ea typeface="Arial"/>
              <a:cs typeface="Arial"/>
              <a:sym typeface="Arial"/>
            </a:endParaRPr>
          </a:p>
        </p:txBody>
      </p:sp>
      <p:sp>
        <p:nvSpPr>
          <p:cNvPr id="489" name="Google Shape;489;p22"/>
          <p:cNvSpPr txBox="1"/>
          <p:nvPr/>
        </p:nvSpPr>
        <p:spPr>
          <a:xfrm>
            <a:off x="6045269" y="4197308"/>
            <a:ext cx="270444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1" i="0" u="none" strike="noStrike" cap="none">
                <a:solidFill>
                  <a:srgbClr val="FFB900"/>
                </a:solidFill>
                <a:latin typeface="Calibri"/>
                <a:ea typeface="Calibri"/>
                <a:cs typeface="Calibri"/>
                <a:sym typeface="Calibri"/>
              </a:rPr>
              <a:t>受入機関が負担</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grpSp>
        <p:nvGrpSpPr>
          <p:cNvPr id="494" name="Google Shape;494;p23"/>
          <p:cNvGrpSpPr/>
          <p:nvPr/>
        </p:nvGrpSpPr>
        <p:grpSpPr>
          <a:xfrm>
            <a:off x="5478955" y="1409529"/>
            <a:ext cx="605147" cy="4431979"/>
            <a:chOff x="4965737" y="1933276"/>
            <a:chExt cx="605147" cy="4431979"/>
          </a:xfrm>
        </p:grpSpPr>
        <p:cxnSp>
          <p:nvCxnSpPr>
            <p:cNvPr id="495" name="Google Shape;495;p23"/>
            <p:cNvCxnSpPr/>
            <p:nvPr/>
          </p:nvCxnSpPr>
          <p:spPr>
            <a:xfrm>
              <a:off x="5244495" y="2174171"/>
              <a:ext cx="0" cy="4191084"/>
            </a:xfrm>
            <a:prstGeom prst="straightConnector1">
              <a:avLst/>
            </a:prstGeom>
            <a:noFill/>
            <a:ln w="12700" cap="flat" cmpd="sng">
              <a:solidFill>
                <a:srgbClr val="FECE00"/>
              </a:solidFill>
              <a:prstDash val="solid"/>
              <a:miter lim="800000"/>
              <a:headEnd type="none" w="sm" len="sm"/>
              <a:tailEnd type="none" w="sm" len="sm"/>
            </a:ln>
          </p:spPr>
        </p:cxnSp>
        <p:sp>
          <p:nvSpPr>
            <p:cNvPr id="496" name="Google Shape;496;p23"/>
            <p:cNvSpPr/>
            <p:nvPr/>
          </p:nvSpPr>
          <p:spPr>
            <a:xfrm>
              <a:off x="4966628" y="418164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497" name="Google Shape;497;p23"/>
            <p:cNvSpPr/>
            <p:nvPr/>
          </p:nvSpPr>
          <p:spPr>
            <a:xfrm>
              <a:off x="4965737" y="193327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498" name="Google Shape;498;p23"/>
            <p:cNvSpPr txBox="1"/>
            <p:nvPr/>
          </p:nvSpPr>
          <p:spPr>
            <a:xfrm>
              <a:off x="4978128" y="2075849"/>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Poppins"/>
                  <a:ea typeface="Poppins"/>
                  <a:cs typeface="Poppins"/>
                  <a:sym typeface="Poppins"/>
                </a:rPr>
                <a:t>2</a:t>
              </a:r>
              <a:r>
                <a:rPr lang="ja-JP" sz="18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499" name="Google Shape;499;p23"/>
            <p:cNvSpPr/>
            <p:nvPr/>
          </p:nvSpPr>
          <p:spPr>
            <a:xfrm>
              <a:off x="4966628" y="3053407"/>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00" name="Google Shape;500;p23"/>
            <p:cNvSpPr txBox="1"/>
            <p:nvPr/>
          </p:nvSpPr>
          <p:spPr>
            <a:xfrm>
              <a:off x="5012718" y="3147242"/>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4月</a:t>
              </a:r>
              <a:endParaRPr sz="1400" b="0" i="0" u="none" strike="noStrike" cap="none">
                <a:solidFill>
                  <a:srgbClr val="000000"/>
                </a:solidFill>
                <a:latin typeface="Arial"/>
                <a:ea typeface="Arial"/>
                <a:cs typeface="Arial"/>
                <a:sym typeface="Arial"/>
              </a:endParaRPr>
            </a:p>
          </p:txBody>
        </p:sp>
      </p:grpSp>
      <p:sp>
        <p:nvSpPr>
          <p:cNvPr id="501" name="Google Shape;501;p23"/>
          <p:cNvSpPr/>
          <p:nvPr/>
        </p:nvSpPr>
        <p:spPr>
          <a:xfrm>
            <a:off x="6201144" y="1474703"/>
            <a:ext cx="1845172" cy="1928572"/>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502" name="Google Shape;502;p23"/>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29</a:t>
            </a:fld>
            <a:endParaRPr/>
          </a:p>
        </p:txBody>
      </p:sp>
      <p:sp>
        <p:nvSpPr>
          <p:cNvPr id="503" name="Google Shape;503;p23"/>
          <p:cNvSpPr/>
          <p:nvPr/>
        </p:nvSpPr>
        <p:spPr>
          <a:xfrm>
            <a:off x="2165171" y="4464802"/>
            <a:ext cx="1850247" cy="69924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面談</a:t>
            </a:r>
            <a:endParaRPr sz="1800" b="1" i="0" u="none" strike="noStrike" cap="none">
              <a:solidFill>
                <a:schemeClr val="lt1"/>
              </a:solidFill>
              <a:latin typeface="Calibri"/>
              <a:ea typeface="Calibri"/>
              <a:cs typeface="Calibri"/>
              <a:sym typeface="Calibri"/>
            </a:endParaRPr>
          </a:p>
        </p:txBody>
      </p:sp>
      <p:sp>
        <p:nvSpPr>
          <p:cNvPr id="504" name="Google Shape;504;p23"/>
          <p:cNvSpPr/>
          <p:nvPr/>
        </p:nvSpPr>
        <p:spPr>
          <a:xfrm>
            <a:off x="6201144" y="3804563"/>
            <a:ext cx="1794047" cy="844706"/>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i="0" u="none" strike="noStrike" cap="none"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準備会</a:t>
            </a:r>
            <a:endParaRPr sz="1800" b="1" i="0" u="none" strike="noStrike" cap="none"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dirty="0">
                <a:solidFill>
                  <a:schemeClr val="lt1"/>
                </a:solidFill>
                <a:latin typeface="Calibri"/>
                <a:ea typeface="Calibri"/>
                <a:cs typeface="Calibri"/>
                <a:sym typeface="Calibri"/>
              </a:rPr>
              <a:t>（研修前準備）</a:t>
            </a:r>
            <a:endParaRPr sz="1800" b="1" i="0" u="none" strike="noStrike" cap="none" dirty="0">
              <a:solidFill>
                <a:schemeClr val="lt1"/>
              </a:solidFill>
              <a:latin typeface="Calibri"/>
              <a:ea typeface="Calibri"/>
              <a:cs typeface="Calibri"/>
              <a:sym typeface="Calibri"/>
            </a:endParaRPr>
          </a:p>
        </p:txBody>
      </p:sp>
      <p:sp>
        <p:nvSpPr>
          <p:cNvPr id="505" name="Google Shape;505;p23"/>
          <p:cNvSpPr/>
          <p:nvPr/>
        </p:nvSpPr>
        <p:spPr>
          <a:xfrm>
            <a:off x="6193447" y="4719043"/>
            <a:ext cx="1801744" cy="117471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研修開始</a:t>
            </a:r>
            <a:endParaRPr sz="1800" b="1" i="0" u="none" strike="noStrike" cap="none">
              <a:solidFill>
                <a:schemeClr val="lt1"/>
              </a:solidFill>
              <a:latin typeface="Calibri"/>
              <a:ea typeface="Calibri"/>
              <a:cs typeface="Calibri"/>
              <a:sym typeface="Calibri"/>
            </a:endParaRPr>
          </a:p>
        </p:txBody>
      </p:sp>
      <p:sp>
        <p:nvSpPr>
          <p:cNvPr id="506" name="Google Shape;506;p23"/>
          <p:cNvSpPr/>
          <p:nvPr/>
        </p:nvSpPr>
        <p:spPr>
          <a:xfrm>
            <a:off x="2165171" y="1517118"/>
            <a:ext cx="1850247" cy="1103350"/>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説明会</a:t>
            </a:r>
            <a:endParaRPr sz="1800" b="1" i="0" u="none" strike="noStrike" cap="none">
              <a:solidFill>
                <a:schemeClr val="lt1"/>
              </a:solidFill>
              <a:latin typeface="Calibri"/>
              <a:ea typeface="Calibri"/>
              <a:cs typeface="Calibri"/>
              <a:sym typeface="Calibri"/>
            </a:endParaRPr>
          </a:p>
        </p:txBody>
      </p:sp>
      <p:sp>
        <p:nvSpPr>
          <p:cNvPr id="507" name="Google Shape;507;p23"/>
          <p:cNvSpPr/>
          <p:nvPr/>
        </p:nvSpPr>
        <p:spPr>
          <a:xfrm>
            <a:off x="2165171" y="2718162"/>
            <a:ext cx="1850247" cy="1185184"/>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応 募</a:t>
            </a:r>
            <a:endParaRPr sz="1800" b="1" i="0" u="none" strike="noStrike" cap="none">
              <a:solidFill>
                <a:schemeClr val="lt1"/>
              </a:solidFill>
              <a:latin typeface="Calibri"/>
              <a:ea typeface="Calibri"/>
              <a:cs typeface="Calibri"/>
              <a:sym typeface="Calibri"/>
            </a:endParaRPr>
          </a:p>
        </p:txBody>
      </p:sp>
      <p:grpSp>
        <p:nvGrpSpPr>
          <p:cNvPr id="508" name="Google Shape;508;p23"/>
          <p:cNvGrpSpPr/>
          <p:nvPr/>
        </p:nvGrpSpPr>
        <p:grpSpPr>
          <a:xfrm>
            <a:off x="1296021" y="1388421"/>
            <a:ext cx="687852" cy="4547754"/>
            <a:chOff x="978724" y="1817501"/>
            <a:chExt cx="687852" cy="4547754"/>
          </a:xfrm>
        </p:grpSpPr>
        <p:cxnSp>
          <p:nvCxnSpPr>
            <p:cNvPr id="509" name="Google Shape;509;p23"/>
            <p:cNvCxnSpPr/>
            <p:nvPr/>
          </p:nvCxnSpPr>
          <p:spPr>
            <a:xfrm>
              <a:off x="1273046" y="2087501"/>
              <a:ext cx="0" cy="4277754"/>
            </a:xfrm>
            <a:prstGeom prst="straightConnector1">
              <a:avLst/>
            </a:prstGeom>
            <a:noFill/>
            <a:ln w="12700" cap="flat" cmpd="sng">
              <a:solidFill>
                <a:srgbClr val="FECE00"/>
              </a:solidFill>
              <a:prstDash val="solid"/>
              <a:miter lim="800000"/>
              <a:headEnd type="none" w="sm" len="sm"/>
              <a:tailEnd type="none" w="sm" len="sm"/>
            </a:ln>
          </p:spPr>
        </p:cxnSp>
        <p:sp>
          <p:nvSpPr>
            <p:cNvPr id="510" name="Google Shape;510;p23"/>
            <p:cNvSpPr/>
            <p:nvPr/>
          </p:nvSpPr>
          <p:spPr>
            <a:xfrm>
              <a:off x="1015371" y="497331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12" name="Google Shape;512;p23"/>
            <p:cNvSpPr/>
            <p:nvPr/>
          </p:nvSpPr>
          <p:spPr>
            <a:xfrm>
              <a:off x="1032027" y="390736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13" name="Google Shape;513;p23"/>
            <p:cNvSpPr/>
            <p:nvPr/>
          </p:nvSpPr>
          <p:spPr>
            <a:xfrm>
              <a:off x="1021086" y="2564525"/>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14" name="Google Shape;514;p23"/>
            <p:cNvSpPr/>
            <p:nvPr/>
          </p:nvSpPr>
          <p:spPr>
            <a:xfrm>
              <a:off x="1016427" y="181750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15" name="Google Shape;515;p23"/>
            <p:cNvSpPr txBox="1"/>
            <p:nvPr/>
          </p:nvSpPr>
          <p:spPr>
            <a:xfrm>
              <a:off x="1051624" y="1917822"/>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5</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516" name="Google Shape;516;p23"/>
            <p:cNvSpPr txBox="1"/>
            <p:nvPr/>
          </p:nvSpPr>
          <p:spPr>
            <a:xfrm>
              <a:off x="1074211" y="2668639"/>
              <a:ext cx="48122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7</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519" name="Google Shape;519;p23"/>
            <p:cNvSpPr txBox="1"/>
            <p:nvPr/>
          </p:nvSpPr>
          <p:spPr>
            <a:xfrm>
              <a:off x="978724" y="5062831"/>
              <a:ext cx="62388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dirty="0">
                  <a:solidFill>
                    <a:schemeClr val="lt1"/>
                  </a:solidFill>
                  <a:latin typeface="Poppins"/>
                  <a:ea typeface="Poppins"/>
                  <a:cs typeface="Poppins"/>
                  <a:sym typeface="Poppins"/>
                </a:rPr>
                <a:t>1</a:t>
              </a:r>
              <a:r>
                <a:rPr lang="en-US" altLang="ja-JP" sz="1800" b="0" i="0" u="none" strike="noStrike" cap="none" dirty="0">
                  <a:solidFill>
                    <a:schemeClr val="lt1"/>
                  </a:solidFill>
                  <a:latin typeface="Poppins"/>
                  <a:ea typeface="Poppins"/>
                  <a:cs typeface="Poppins"/>
                  <a:sym typeface="Poppins"/>
                </a:rPr>
                <a:t>0</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sp>
          <p:nvSpPr>
            <p:cNvPr id="2" name="Google Shape;518;p23">
              <a:extLst>
                <a:ext uri="{FF2B5EF4-FFF2-40B4-BE49-F238E27FC236}">
                  <a16:creationId xmlns:a16="http://schemas.microsoft.com/office/drawing/2014/main" id="{F0C763F6-8125-EE34-529F-7BFAC462E59A}"/>
                </a:ext>
              </a:extLst>
            </p:cNvPr>
            <p:cNvSpPr txBox="1"/>
            <p:nvPr/>
          </p:nvSpPr>
          <p:spPr>
            <a:xfrm>
              <a:off x="1042687" y="3993880"/>
              <a:ext cx="623889"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altLang="ja-JP" sz="1800" dirty="0">
                  <a:solidFill>
                    <a:schemeClr val="lt1"/>
                  </a:solidFill>
                  <a:latin typeface="Poppins"/>
                  <a:ea typeface="Calibri"/>
                  <a:cs typeface="Poppins"/>
                  <a:sym typeface="Poppins"/>
                </a:rPr>
                <a:t>9</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grpSp>
      <p:sp>
        <p:nvSpPr>
          <p:cNvPr id="520" name="Google Shape;520;p23"/>
          <p:cNvSpPr txBox="1"/>
          <p:nvPr/>
        </p:nvSpPr>
        <p:spPr>
          <a:xfrm>
            <a:off x="5515767" y="3758056"/>
            <a:ext cx="68537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6</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521" name="Google Shape;521;p23"/>
          <p:cNvSpPr txBox="1"/>
          <p:nvPr/>
        </p:nvSpPr>
        <p:spPr>
          <a:xfrm>
            <a:off x="408799" y="1461025"/>
            <a:ext cx="8871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2024</a:t>
            </a:r>
            <a:endParaRPr sz="2000" b="0" i="0" u="none" strike="noStrike" cap="none">
              <a:solidFill>
                <a:schemeClr val="dk1"/>
              </a:solidFill>
              <a:latin typeface="Poppins Medium"/>
              <a:ea typeface="Poppins Medium"/>
              <a:cs typeface="Poppins Medium"/>
              <a:sym typeface="Poppins Medium"/>
            </a:endParaRPr>
          </a:p>
        </p:txBody>
      </p:sp>
      <p:sp>
        <p:nvSpPr>
          <p:cNvPr id="522" name="Google Shape;522;p23"/>
          <p:cNvSpPr txBox="1"/>
          <p:nvPr/>
        </p:nvSpPr>
        <p:spPr>
          <a:xfrm>
            <a:off x="6494874" y="1815659"/>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マッチング</a:t>
            </a:r>
            <a:endParaRPr sz="1400" b="0" i="0" u="none" strike="noStrike" cap="none">
              <a:solidFill>
                <a:srgbClr val="000000"/>
              </a:solidFill>
              <a:latin typeface="Arial"/>
              <a:ea typeface="Arial"/>
              <a:cs typeface="Arial"/>
              <a:sym typeface="Arial"/>
            </a:endParaRPr>
          </a:p>
        </p:txBody>
      </p:sp>
      <p:sp>
        <p:nvSpPr>
          <p:cNvPr id="523" name="Google Shape;523;p23"/>
          <p:cNvSpPr txBox="1"/>
          <p:nvPr/>
        </p:nvSpPr>
        <p:spPr>
          <a:xfrm>
            <a:off x="6480262" y="2748707"/>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altLang="en-US" sz="1800" b="1" i="0" u="none" strike="noStrike" cap="none"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先決定</a:t>
            </a:r>
            <a:endParaRPr sz="1400" b="0" i="0" u="none" strike="noStrike" cap="none" dirty="0">
              <a:solidFill>
                <a:srgbClr val="000000"/>
              </a:solidFill>
              <a:latin typeface="Arial"/>
              <a:ea typeface="Arial"/>
              <a:cs typeface="Arial"/>
              <a:sym typeface="Arial"/>
            </a:endParaRPr>
          </a:p>
        </p:txBody>
      </p:sp>
      <p:sp>
        <p:nvSpPr>
          <p:cNvPr id="524" name="Google Shape;524;p23"/>
          <p:cNvSpPr/>
          <p:nvPr/>
        </p:nvSpPr>
        <p:spPr>
          <a:xfrm rot="10800000">
            <a:off x="7060928" y="2363030"/>
            <a:ext cx="177496" cy="16196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5" name="Google Shape;525;p23"/>
          <p:cNvSpPr txBox="1"/>
          <p:nvPr/>
        </p:nvSpPr>
        <p:spPr>
          <a:xfrm>
            <a:off x="4554727" y="1461025"/>
            <a:ext cx="8871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2025</a:t>
            </a:r>
            <a:endParaRPr sz="2000" b="0" i="0" u="none" strike="noStrike" cap="none">
              <a:solidFill>
                <a:schemeClr val="dk1"/>
              </a:solidFill>
              <a:latin typeface="Poppins Medium"/>
              <a:ea typeface="Poppins Medium"/>
              <a:cs typeface="Poppins Medium"/>
              <a:sym typeface="Poppins Medium"/>
            </a:endParaRPr>
          </a:p>
        </p:txBody>
      </p:sp>
      <p:sp>
        <p:nvSpPr>
          <p:cNvPr id="526" name="Google Shape;526;p23"/>
          <p:cNvSpPr txBox="1">
            <a:spLocks noGrp="1"/>
          </p:cNvSpPr>
          <p:nvPr>
            <p:ph type="title"/>
          </p:nvPr>
        </p:nvSpPr>
        <p:spPr>
          <a:xfrm>
            <a:off x="229651" y="0"/>
            <a:ext cx="80676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dirty="0"/>
              <a:t>応募から研修までの流れ</a:t>
            </a:r>
            <a:r>
              <a:rPr lang="en-US" altLang="ja-JP" dirty="0"/>
              <a:t> </a:t>
            </a:r>
            <a:r>
              <a:rPr lang="ja-JP" altLang="en-US" dirty="0"/>
              <a:t>　（</a:t>
            </a:r>
            <a:r>
              <a:rPr lang="en-US" altLang="ja-JP" dirty="0"/>
              <a:t>9</a:t>
            </a:r>
            <a:r>
              <a:rPr lang="ja-JP" altLang="en-US" dirty="0"/>
              <a:t>月応募の</a:t>
            </a:r>
            <a:r>
              <a:rPr lang="en-US" altLang="ja-JP" dirty="0"/>
              <a:t>Exchange Internship </a:t>
            </a:r>
            <a:r>
              <a:rPr lang="ja-JP" altLang="en-US" dirty="0"/>
              <a:t>の場合）</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grpSp>
        <p:nvGrpSpPr>
          <p:cNvPr id="531" name="Google Shape;531;p24"/>
          <p:cNvGrpSpPr/>
          <p:nvPr/>
        </p:nvGrpSpPr>
        <p:grpSpPr>
          <a:xfrm>
            <a:off x="5478955" y="1409529"/>
            <a:ext cx="612719" cy="4431979"/>
            <a:chOff x="4965737" y="1933276"/>
            <a:chExt cx="612719" cy="4431979"/>
          </a:xfrm>
        </p:grpSpPr>
        <p:cxnSp>
          <p:nvCxnSpPr>
            <p:cNvPr id="532" name="Google Shape;532;p24"/>
            <p:cNvCxnSpPr/>
            <p:nvPr/>
          </p:nvCxnSpPr>
          <p:spPr>
            <a:xfrm>
              <a:off x="5244495" y="2174171"/>
              <a:ext cx="0" cy="4191084"/>
            </a:xfrm>
            <a:prstGeom prst="straightConnector1">
              <a:avLst/>
            </a:prstGeom>
            <a:noFill/>
            <a:ln w="12700" cap="flat" cmpd="sng">
              <a:solidFill>
                <a:srgbClr val="FECE00"/>
              </a:solidFill>
              <a:prstDash val="solid"/>
              <a:miter lim="800000"/>
              <a:headEnd type="none" w="sm" len="sm"/>
              <a:tailEnd type="none" w="sm" len="sm"/>
            </a:ln>
          </p:spPr>
        </p:cxnSp>
        <p:sp>
          <p:nvSpPr>
            <p:cNvPr id="533" name="Google Shape;533;p24"/>
            <p:cNvSpPr/>
            <p:nvPr/>
          </p:nvSpPr>
          <p:spPr>
            <a:xfrm>
              <a:off x="4966628" y="418164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34" name="Google Shape;534;p24"/>
            <p:cNvSpPr/>
            <p:nvPr/>
          </p:nvSpPr>
          <p:spPr>
            <a:xfrm>
              <a:off x="4965737" y="193327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35" name="Google Shape;535;p24"/>
            <p:cNvSpPr txBox="1"/>
            <p:nvPr/>
          </p:nvSpPr>
          <p:spPr>
            <a:xfrm>
              <a:off x="5020290" y="2038968"/>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Poppins"/>
                  <a:ea typeface="Poppins"/>
                  <a:cs typeface="Poppins"/>
                  <a:sym typeface="Poppins"/>
                </a:rPr>
                <a:t>2</a:t>
              </a:r>
              <a:r>
                <a:rPr lang="ja-JP" sz="18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536" name="Google Shape;536;p24"/>
            <p:cNvSpPr/>
            <p:nvPr/>
          </p:nvSpPr>
          <p:spPr>
            <a:xfrm>
              <a:off x="4966628" y="3053407"/>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37" name="Google Shape;537;p24"/>
            <p:cNvSpPr txBox="1"/>
            <p:nvPr/>
          </p:nvSpPr>
          <p:spPr>
            <a:xfrm>
              <a:off x="4965737" y="3147242"/>
              <a:ext cx="60514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Poppins"/>
                  <a:ea typeface="Poppins"/>
                  <a:cs typeface="Poppins"/>
                  <a:sym typeface="Poppins"/>
                </a:rPr>
                <a:t>4</a:t>
              </a:r>
              <a:r>
                <a:rPr lang="ja-JP" sz="18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grpSp>
      <p:sp>
        <p:nvSpPr>
          <p:cNvPr id="538" name="Google Shape;538;p24"/>
          <p:cNvSpPr/>
          <p:nvPr/>
        </p:nvSpPr>
        <p:spPr>
          <a:xfrm>
            <a:off x="6201144" y="1474703"/>
            <a:ext cx="1845172" cy="1928572"/>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539" name="Google Shape;539;p24"/>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30</a:t>
            </a:fld>
            <a:endParaRPr/>
          </a:p>
        </p:txBody>
      </p:sp>
      <p:sp>
        <p:nvSpPr>
          <p:cNvPr id="540" name="Google Shape;540;p24"/>
          <p:cNvSpPr/>
          <p:nvPr/>
        </p:nvSpPr>
        <p:spPr>
          <a:xfrm>
            <a:off x="2165171" y="4464802"/>
            <a:ext cx="1850247" cy="69924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面談</a:t>
            </a:r>
            <a:endParaRPr sz="1400" b="0" i="0" u="none" strike="noStrike" cap="none">
              <a:solidFill>
                <a:srgbClr val="000000"/>
              </a:solidFill>
              <a:latin typeface="Arial"/>
              <a:ea typeface="Arial"/>
              <a:cs typeface="Arial"/>
              <a:sym typeface="Arial"/>
            </a:endParaRPr>
          </a:p>
        </p:txBody>
      </p:sp>
      <p:sp>
        <p:nvSpPr>
          <p:cNvPr id="542" name="Google Shape;542;p24"/>
          <p:cNvSpPr/>
          <p:nvPr/>
        </p:nvSpPr>
        <p:spPr>
          <a:xfrm>
            <a:off x="6201144" y="3804563"/>
            <a:ext cx="1794047" cy="844706"/>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i="0" u="none" strike="noStrike" cap="none"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準備会</a:t>
            </a:r>
            <a:endParaRPr sz="1800" b="1" i="0" u="none" strike="noStrike" cap="none"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dirty="0">
                <a:solidFill>
                  <a:schemeClr val="lt1"/>
                </a:solidFill>
                <a:latin typeface="Calibri"/>
                <a:ea typeface="Calibri"/>
                <a:cs typeface="Calibri"/>
                <a:sym typeface="Calibri"/>
              </a:rPr>
              <a:t>（研修前準備）</a:t>
            </a:r>
            <a:endParaRPr sz="1800" b="1" i="0" u="none" strike="noStrike" cap="none" dirty="0">
              <a:solidFill>
                <a:schemeClr val="lt1"/>
              </a:solidFill>
              <a:latin typeface="Calibri"/>
              <a:ea typeface="Calibri"/>
              <a:cs typeface="Calibri"/>
              <a:sym typeface="Calibri"/>
            </a:endParaRPr>
          </a:p>
        </p:txBody>
      </p:sp>
      <p:sp>
        <p:nvSpPr>
          <p:cNvPr id="543" name="Google Shape;543;p24"/>
          <p:cNvSpPr/>
          <p:nvPr/>
        </p:nvSpPr>
        <p:spPr>
          <a:xfrm>
            <a:off x="6193447" y="4719043"/>
            <a:ext cx="1801744" cy="117471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研修開始</a:t>
            </a:r>
            <a:endParaRPr sz="1800" b="1" i="0" u="none" strike="noStrike" cap="none">
              <a:solidFill>
                <a:schemeClr val="lt1"/>
              </a:solidFill>
              <a:latin typeface="Calibri"/>
              <a:ea typeface="Calibri"/>
              <a:cs typeface="Calibri"/>
              <a:sym typeface="Calibri"/>
            </a:endParaRPr>
          </a:p>
        </p:txBody>
      </p:sp>
      <p:sp>
        <p:nvSpPr>
          <p:cNvPr id="544" name="Google Shape;544;p24"/>
          <p:cNvSpPr/>
          <p:nvPr/>
        </p:nvSpPr>
        <p:spPr>
          <a:xfrm>
            <a:off x="2165171" y="1517118"/>
            <a:ext cx="1850247" cy="1103350"/>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説明会</a:t>
            </a:r>
            <a:endParaRPr sz="1800" b="1" i="0" u="none" strike="noStrike" cap="none">
              <a:solidFill>
                <a:schemeClr val="lt1"/>
              </a:solidFill>
              <a:latin typeface="Calibri"/>
              <a:ea typeface="Calibri"/>
              <a:cs typeface="Calibri"/>
              <a:sym typeface="Calibri"/>
            </a:endParaRPr>
          </a:p>
        </p:txBody>
      </p:sp>
      <p:sp>
        <p:nvSpPr>
          <p:cNvPr id="545" name="Google Shape;545;p24"/>
          <p:cNvSpPr/>
          <p:nvPr/>
        </p:nvSpPr>
        <p:spPr>
          <a:xfrm>
            <a:off x="2165171" y="2718162"/>
            <a:ext cx="1850247" cy="1185184"/>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応 募</a:t>
            </a:r>
            <a:endParaRPr sz="1800" b="1" i="0" u="none" strike="noStrike" cap="none">
              <a:solidFill>
                <a:schemeClr val="lt1"/>
              </a:solidFill>
              <a:latin typeface="Calibri"/>
              <a:ea typeface="Calibri"/>
              <a:cs typeface="Calibri"/>
              <a:sym typeface="Calibri"/>
            </a:endParaRPr>
          </a:p>
        </p:txBody>
      </p:sp>
      <p:sp>
        <p:nvSpPr>
          <p:cNvPr id="558" name="Google Shape;558;p24"/>
          <p:cNvSpPr txBox="1"/>
          <p:nvPr/>
        </p:nvSpPr>
        <p:spPr>
          <a:xfrm>
            <a:off x="5515767" y="3758056"/>
            <a:ext cx="68537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Poppins"/>
                <a:ea typeface="Poppins"/>
                <a:cs typeface="Poppins"/>
                <a:sym typeface="Poppins"/>
              </a:rPr>
              <a:t>6</a:t>
            </a:r>
            <a:r>
              <a:rPr lang="ja-JP" sz="18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560" name="Google Shape;560;p24"/>
          <p:cNvSpPr txBox="1"/>
          <p:nvPr/>
        </p:nvSpPr>
        <p:spPr>
          <a:xfrm>
            <a:off x="6494874" y="1815659"/>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マッチング</a:t>
            </a:r>
            <a:endParaRPr sz="1400" b="0" i="0" u="none" strike="noStrike" cap="none">
              <a:solidFill>
                <a:srgbClr val="000000"/>
              </a:solidFill>
              <a:latin typeface="Arial"/>
              <a:ea typeface="Arial"/>
              <a:cs typeface="Arial"/>
              <a:sym typeface="Arial"/>
            </a:endParaRPr>
          </a:p>
        </p:txBody>
      </p:sp>
      <p:sp>
        <p:nvSpPr>
          <p:cNvPr id="561" name="Google Shape;561;p24"/>
          <p:cNvSpPr txBox="1"/>
          <p:nvPr/>
        </p:nvSpPr>
        <p:spPr>
          <a:xfrm>
            <a:off x="6480262" y="2748707"/>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altLang="en-US" sz="1800" b="1" i="0" u="none" strike="noStrike" cap="none"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先決定</a:t>
            </a:r>
            <a:endParaRPr sz="1400" b="0" i="0" u="none" strike="noStrike" cap="none" dirty="0">
              <a:solidFill>
                <a:srgbClr val="000000"/>
              </a:solidFill>
              <a:latin typeface="Arial"/>
              <a:ea typeface="Arial"/>
              <a:cs typeface="Arial"/>
              <a:sym typeface="Arial"/>
            </a:endParaRPr>
          </a:p>
        </p:txBody>
      </p:sp>
      <p:sp>
        <p:nvSpPr>
          <p:cNvPr id="562" name="Google Shape;562;p24"/>
          <p:cNvSpPr/>
          <p:nvPr/>
        </p:nvSpPr>
        <p:spPr>
          <a:xfrm rot="10800000">
            <a:off x="7060928" y="2363030"/>
            <a:ext cx="177496" cy="16196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3" name="Google Shape;563;p24"/>
          <p:cNvSpPr txBox="1"/>
          <p:nvPr/>
        </p:nvSpPr>
        <p:spPr>
          <a:xfrm>
            <a:off x="4554727" y="1461025"/>
            <a:ext cx="8871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2025</a:t>
            </a:r>
            <a:endParaRPr sz="2000" b="0" i="0" u="none" strike="noStrike" cap="none">
              <a:solidFill>
                <a:schemeClr val="dk1"/>
              </a:solidFill>
              <a:latin typeface="Poppins Medium"/>
              <a:ea typeface="Poppins Medium"/>
              <a:cs typeface="Poppins Medium"/>
              <a:sym typeface="Poppins Medium"/>
            </a:endParaRPr>
          </a:p>
        </p:txBody>
      </p:sp>
      <p:sp>
        <p:nvSpPr>
          <p:cNvPr id="565" name="Google Shape;565;p24"/>
          <p:cNvSpPr/>
          <p:nvPr/>
        </p:nvSpPr>
        <p:spPr>
          <a:xfrm>
            <a:off x="2065542" y="1381803"/>
            <a:ext cx="2111540" cy="2753564"/>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7" name="Google Shape;567;p24"/>
          <p:cNvSpPr/>
          <p:nvPr/>
        </p:nvSpPr>
        <p:spPr>
          <a:xfrm>
            <a:off x="6137448" y="1404929"/>
            <a:ext cx="1967165" cy="4531246"/>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タイトル 2">
            <a:extLst>
              <a:ext uri="{FF2B5EF4-FFF2-40B4-BE49-F238E27FC236}">
                <a16:creationId xmlns:a16="http://schemas.microsoft.com/office/drawing/2014/main" id="{5116191E-9178-5307-1424-E1ECB88DF3E4}"/>
              </a:ext>
            </a:extLst>
          </p:cNvPr>
          <p:cNvSpPr>
            <a:spLocks noGrp="1"/>
          </p:cNvSpPr>
          <p:nvPr>
            <p:ph type="title"/>
          </p:nvPr>
        </p:nvSpPr>
        <p:spPr>
          <a:xfrm>
            <a:off x="229650" y="0"/>
            <a:ext cx="8101549" cy="609000"/>
          </a:xfrm>
        </p:spPr>
        <p:txBody>
          <a:bodyPr>
            <a:normAutofit/>
          </a:bodyPr>
          <a:lstStyle/>
          <a:p>
            <a:r>
              <a:rPr lang="ja-JP" altLang="en-US" dirty="0"/>
              <a:t>応募から研修までの流れ 　（</a:t>
            </a:r>
            <a:r>
              <a:rPr lang="en-US" altLang="ja-JP" dirty="0"/>
              <a:t>9</a:t>
            </a:r>
            <a:r>
              <a:rPr lang="ja-JP" altLang="en-US" dirty="0"/>
              <a:t>月応募の</a:t>
            </a:r>
            <a:r>
              <a:rPr lang="en-US" altLang="ja-JP" dirty="0"/>
              <a:t>Exchange Internship </a:t>
            </a:r>
            <a:r>
              <a:rPr lang="ja-JP" altLang="en-US" dirty="0"/>
              <a:t>の場合）</a:t>
            </a:r>
          </a:p>
        </p:txBody>
      </p:sp>
      <p:grpSp>
        <p:nvGrpSpPr>
          <p:cNvPr id="19" name="Google Shape;508;p23">
            <a:extLst>
              <a:ext uri="{FF2B5EF4-FFF2-40B4-BE49-F238E27FC236}">
                <a16:creationId xmlns:a16="http://schemas.microsoft.com/office/drawing/2014/main" id="{BB410D3A-5FF0-F1FF-DC2B-4F4353C76C83}"/>
              </a:ext>
            </a:extLst>
          </p:cNvPr>
          <p:cNvGrpSpPr/>
          <p:nvPr/>
        </p:nvGrpSpPr>
        <p:grpSpPr>
          <a:xfrm>
            <a:off x="1296021" y="1388421"/>
            <a:ext cx="687852" cy="4547754"/>
            <a:chOff x="978724" y="1817501"/>
            <a:chExt cx="687852" cy="4547754"/>
          </a:xfrm>
        </p:grpSpPr>
        <p:cxnSp>
          <p:nvCxnSpPr>
            <p:cNvPr id="20" name="Google Shape;509;p23">
              <a:extLst>
                <a:ext uri="{FF2B5EF4-FFF2-40B4-BE49-F238E27FC236}">
                  <a16:creationId xmlns:a16="http://schemas.microsoft.com/office/drawing/2014/main" id="{1B8A617F-74AD-DD48-87AA-A00777CA0686}"/>
                </a:ext>
              </a:extLst>
            </p:cNvPr>
            <p:cNvCxnSpPr/>
            <p:nvPr/>
          </p:nvCxnSpPr>
          <p:spPr>
            <a:xfrm>
              <a:off x="1273046" y="2087501"/>
              <a:ext cx="0" cy="4277754"/>
            </a:xfrm>
            <a:prstGeom prst="straightConnector1">
              <a:avLst/>
            </a:prstGeom>
            <a:noFill/>
            <a:ln w="12700" cap="flat" cmpd="sng">
              <a:solidFill>
                <a:srgbClr val="FECE00"/>
              </a:solidFill>
              <a:prstDash val="solid"/>
              <a:miter lim="800000"/>
              <a:headEnd type="none" w="sm" len="sm"/>
              <a:tailEnd type="none" w="sm" len="sm"/>
            </a:ln>
          </p:spPr>
        </p:cxnSp>
        <p:sp>
          <p:nvSpPr>
            <p:cNvPr id="21" name="Google Shape;510;p23">
              <a:extLst>
                <a:ext uri="{FF2B5EF4-FFF2-40B4-BE49-F238E27FC236}">
                  <a16:creationId xmlns:a16="http://schemas.microsoft.com/office/drawing/2014/main" id="{070DAA54-F9D2-EF97-BB99-40B4C95B6A6E}"/>
                </a:ext>
              </a:extLst>
            </p:cNvPr>
            <p:cNvSpPr/>
            <p:nvPr/>
          </p:nvSpPr>
          <p:spPr>
            <a:xfrm>
              <a:off x="1015371" y="497331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22" name="Google Shape;512;p23">
              <a:extLst>
                <a:ext uri="{FF2B5EF4-FFF2-40B4-BE49-F238E27FC236}">
                  <a16:creationId xmlns:a16="http://schemas.microsoft.com/office/drawing/2014/main" id="{59B871B0-DF14-71B1-D53F-C79E521F074E}"/>
                </a:ext>
              </a:extLst>
            </p:cNvPr>
            <p:cNvSpPr/>
            <p:nvPr/>
          </p:nvSpPr>
          <p:spPr>
            <a:xfrm>
              <a:off x="1032027" y="390736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23" name="Google Shape;513;p23">
              <a:extLst>
                <a:ext uri="{FF2B5EF4-FFF2-40B4-BE49-F238E27FC236}">
                  <a16:creationId xmlns:a16="http://schemas.microsoft.com/office/drawing/2014/main" id="{E397319C-2B95-2591-953D-FD70D1E79AF5}"/>
                </a:ext>
              </a:extLst>
            </p:cNvPr>
            <p:cNvSpPr/>
            <p:nvPr/>
          </p:nvSpPr>
          <p:spPr>
            <a:xfrm>
              <a:off x="1021086" y="2564525"/>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24" name="Google Shape;514;p23">
              <a:extLst>
                <a:ext uri="{FF2B5EF4-FFF2-40B4-BE49-F238E27FC236}">
                  <a16:creationId xmlns:a16="http://schemas.microsoft.com/office/drawing/2014/main" id="{ECBAD992-1015-3B0E-B42E-AF390DFD609A}"/>
                </a:ext>
              </a:extLst>
            </p:cNvPr>
            <p:cNvSpPr/>
            <p:nvPr/>
          </p:nvSpPr>
          <p:spPr>
            <a:xfrm>
              <a:off x="1016427" y="181750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25" name="Google Shape;515;p23">
              <a:extLst>
                <a:ext uri="{FF2B5EF4-FFF2-40B4-BE49-F238E27FC236}">
                  <a16:creationId xmlns:a16="http://schemas.microsoft.com/office/drawing/2014/main" id="{A0AAB5ED-9184-1A3A-A0CF-6B75B26B34EF}"/>
                </a:ext>
              </a:extLst>
            </p:cNvPr>
            <p:cNvSpPr txBox="1"/>
            <p:nvPr/>
          </p:nvSpPr>
          <p:spPr>
            <a:xfrm>
              <a:off x="1051624" y="1917822"/>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5</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26" name="Google Shape;516;p23">
              <a:extLst>
                <a:ext uri="{FF2B5EF4-FFF2-40B4-BE49-F238E27FC236}">
                  <a16:creationId xmlns:a16="http://schemas.microsoft.com/office/drawing/2014/main" id="{9055B1FE-E765-EF84-1802-8100830F421A}"/>
                </a:ext>
              </a:extLst>
            </p:cNvPr>
            <p:cNvSpPr txBox="1"/>
            <p:nvPr/>
          </p:nvSpPr>
          <p:spPr>
            <a:xfrm>
              <a:off x="1074211" y="2668639"/>
              <a:ext cx="48122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7</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27" name="Google Shape;519;p23">
              <a:extLst>
                <a:ext uri="{FF2B5EF4-FFF2-40B4-BE49-F238E27FC236}">
                  <a16:creationId xmlns:a16="http://schemas.microsoft.com/office/drawing/2014/main" id="{B339D2B4-6118-64D7-3090-3F4BC7443448}"/>
                </a:ext>
              </a:extLst>
            </p:cNvPr>
            <p:cNvSpPr txBox="1"/>
            <p:nvPr/>
          </p:nvSpPr>
          <p:spPr>
            <a:xfrm>
              <a:off x="978724" y="5062831"/>
              <a:ext cx="62388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dirty="0">
                  <a:solidFill>
                    <a:schemeClr val="lt1"/>
                  </a:solidFill>
                  <a:latin typeface="Poppins"/>
                  <a:ea typeface="Poppins"/>
                  <a:cs typeface="Poppins"/>
                  <a:sym typeface="Poppins"/>
                </a:rPr>
                <a:t>1</a:t>
              </a:r>
              <a:r>
                <a:rPr lang="en-US" altLang="ja-JP" sz="1800" b="0" i="0" u="none" strike="noStrike" cap="none" dirty="0">
                  <a:solidFill>
                    <a:schemeClr val="lt1"/>
                  </a:solidFill>
                  <a:latin typeface="Poppins"/>
                  <a:ea typeface="Poppins"/>
                  <a:cs typeface="Poppins"/>
                  <a:sym typeface="Poppins"/>
                </a:rPr>
                <a:t>0</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sp>
          <p:nvSpPr>
            <p:cNvPr id="28" name="Google Shape;518;p23">
              <a:extLst>
                <a:ext uri="{FF2B5EF4-FFF2-40B4-BE49-F238E27FC236}">
                  <a16:creationId xmlns:a16="http://schemas.microsoft.com/office/drawing/2014/main" id="{D0F6B50D-B825-B046-4CC3-F7BBD49EC29D}"/>
                </a:ext>
              </a:extLst>
            </p:cNvPr>
            <p:cNvSpPr txBox="1"/>
            <p:nvPr/>
          </p:nvSpPr>
          <p:spPr>
            <a:xfrm>
              <a:off x="1042687" y="3993880"/>
              <a:ext cx="623889"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altLang="ja-JP" sz="1800" dirty="0">
                  <a:solidFill>
                    <a:schemeClr val="lt1"/>
                  </a:solidFill>
                  <a:latin typeface="Poppins"/>
                  <a:ea typeface="Calibri"/>
                  <a:cs typeface="Poppins"/>
                  <a:sym typeface="Poppins"/>
                </a:rPr>
                <a:t>9</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grpSp>
      <p:sp>
        <p:nvSpPr>
          <p:cNvPr id="29" name="Google Shape;521;p23">
            <a:extLst>
              <a:ext uri="{FF2B5EF4-FFF2-40B4-BE49-F238E27FC236}">
                <a16:creationId xmlns:a16="http://schemas.microsoft.com/office/drawing/2014/main" id="{7AB5FB9E-D8FD-D877-024C-8F94A9A7EFC8}"/>
              </a:ext>
            </a:extLst>
          </p:cNvPr>
          <p:cNvSpPr txBox="1"/>
          <p:nvPr/>
        </p:nvSpPr>
        <p:spPr>
          <a:xfrm>
            <a:off x="408799" y="1461025"/>
            <a:ext cx="8871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2024</a:t>
            </a:r>
            <a:endParaRPr sz="2000" b="0" i="0" u="none" strike="noStrike" cap="none">
              <a:solidFill>
                <a:schemeClr val="dk1"/>
              </a:solidFill>
              <a:latin typeface="Poppins Medium"/>
              <a:ea typeface="Poppins Medium"/>
              <a:cs typeface="Poppins Medium"/>
              <a:sym typeface="Poppins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5"/>
          <p:cNvSpPr/>
          <p:nvPr/>
        </p:nvSpPr>
        <p:spPr>
          <a:xfrm>
            <a:off x="5065632" y="1496111"/>
            <a:ext cx="2513576" cy="3346352"/>
          </a:xfrm>
          <a:prstGeom prst="rect">
            <a:avLst/>
          </a:prstGeom>
          <a:gradFill>
            <a:gsLst>
              <a:gs pos="0">
                <a:srgbClr val="185FAE"/>
              </a:gs>
              <a:gs pos="50000">
                <a:srgbClr val="2498DA"/>
              </a:gs>
              <a:gs pos="100000">
                <a:srgbClr val="3EB4A8"/>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3" name="Google Shape;573;p25"/>
          <p:cNvSpPr/>
          <p:nvPr/>
        </p:nvSpPr>
        <p:spPr>
          <a:xfrm>
            <a:off x="1450557" y="1496111"/>
            <a:ext cx="2513576" cy="3346351"/>
          </a:xfrm>
          <a:prstGeom prst="rect">
            <a:avLst/>
          </a:prstGeom>
          <a:gradFill>
            <a:gsLst>
              <a:gs pos="0">
                <a:srgbClr val="185FAE"/>
              </a:gs>
              <a:gs pos="50000">
                <a:srgbClr val="2498DA"/>
              </a:gs>
              <a:gs pos="100000">
                <a:srgbClr val="3EB4A8"/>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74" name="Google Shape;574;p25"/>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31</a:t>
            </a:fld>
            <a:endParaRPr/>
          </a:p>
        </p:txBody>
      </p:sp>
      <p:sp>
        <p:nvSpPr>
          <p:cNvPr id="575" name="Google Shape;575;p25"/>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Poppins Medium"/>
              <a:buNone/>
            </a:pPr>
            <a:r>
              <a:rPr lang="ja-JP" sz="2000" b="0">
                <a:latin typeface="Poppins Medium"/>
                <a:ea typeface="Poppins Medium"/>
                <a:cs typeface="Poppins Medium"/>
                <a:sym typeface="Poppins Medium"/>
              </a:rPr>
              <a:t>1.面談</a:t>
            </a:r>
            <a:r>
              <a:rPr lang="ja-JP"/>
              <a:t>について</a:t>
            </a:r>
            <a:endParaRPr/>
          </a:p>
        </p:txBody>
      </p:sp>
      <p:grpSp>
        <p:nvGrpSpPr>
          <p:cNvPr id="576" name="Google Shape;576;p25"/>
          <p:cNvGrpSpPr/>
          <p:nvPr/>
        </p:nvGrpSpPr>
        <p:grpSpPr>
          <a:xfrm>
            <a:off x="4579632" y="1228748"/>
            <a:ext cx="972000" cy="972000"/>
            <a:chOff x="1281609" y="3796208"/>
            <a:chExt cx="972000" cy="972000"/>
          </a:xfrm>
        </p:grpSpPr>
        <p:sp>
          <p:nvSpPr>
            <p:cNvPr id="577" name="Google Shape;577;p25"/>
            <p:cNvSpPr/>
            <p:nvPr/>
          </p:nvSpPr>
          <p:spPr>
            <a:xfrm>
              <a:off x="1281609" y="3796208"/>
              <a:ext cx="972000" cy="972000"/>
            </a:xfrm>
            <a:prstGeom prst="ellipse">
              <a:avLst/>
            </a:prstGeom>
            <a:solidFill>
              <a:schemeClr val="lt1"/>
            </a:solidFill>
            <a:ln w="12700" cap="flat" cmpd="sng">
              <a:solidFill>
                <a:srgbClr val="2498D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78" name="Google Shape;578;p25"/>
            <p:cNvPicPr preferRelativeResize="0"/>
            <p:nvPr/>
          </p:nvPicPr>
          <p:blipFill rotWithShape="1">
            <a:blip r:embed="rId3">
              <a:alphaModFix/>
            </a:blip>
            <a:srcRect/>
            <a:stretch/>
          </p:blipFill>
          <p:spPr>
            <a:xfrm>
              <a:off x="1472662" y="3973406"/>
              <a:ext cx="589895" cy="589895"/>
            </a:xfrm>
            <a:prstGeom prst="rect">
              <a:avLst/>
            </a:prstGeom>
            <a:noFill/>
            <a:ln>
              <a:noFill/>
            </a:ln>
          </p:spPr>
        </p:pic>
      </p:grpSp>
      <p:grpSp>
        <p:nvGrpSpPr>
          <p:cNvPr id="579" name="Google Shape;579;p25"/>
          <p:cNvGrpSpPr/>
          <p:nvPr/>
        </p:nvGrpSpPr>
        <p:grpSpPr>
          <a:xfrm>
            <a:off x="964557" y="1228748"/>
            <a:ext cx="972000" cy="972000"/>
            <a:chOff x="1288473" y="2341418"/>
            <a:chExt cx="972000" cy="972000"/>
          </a:xfrm>
        </p:grpSpPr>
        <p:sp>
          <p:nvSpPr>
            <p:cNvPr id="580" name="Google Shape;580;p25"/>
            <p:cNvSpPr/>
            <p:nvPr/>
          </p:nvSpPr>
          <p:spPr>
            <a:xfrm>
              <a:off x="1288473" y="2341418"/>
              <a:ext cx="972000" cy="972000"/>
            </a:xfrm>
            <a:prstGeom prst="ellipse">
              <a:avLst/>
            </a:prstGeom>
            <a:solidFill>
              <a:schemeClr val="lt1"/>
            </a:solidFill>
            <a:ln w="12700" cap="flat" cmpd="sng">
              <a:solidFill>
                <a:srgbClr val="2498D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81" name="Google Shape;581;p25"/>
            <p:cNvPicPr preferRelativeResize="0"/>
            <p:nvPr/>
          </p:nvPicPr>
          <p:blipFill rotWithShape="1">
            <a:blip r:embed="rId4">
              <a:alphaModFix/>
            </a:blip>
            <a:srcRect/>
            <a:stretch/>
          </p:blipFill>
          <p:spPr>
            <a:xfrm>
              <a:off x="1491610" y="2544555"/>
              <a:ext cx="565727" cy="565727"/>
            </a:xfrm>
            <a:prstGeom prst="rect">
              <a:avLst/>
            </a:prstGeom>
            <a:noFill/>
            <a:ln>
              <a:noFill/>
            </a:ln>
          </p:spPr>
        </p:pic>
      </p:grpSp>
      <p:sp>
        <p:nvSpPr>
          <p:cNvPr id="582" name="Google Shape;582;p25"/>
          <p:cNvSpPr txBox="1"/>
          <p:nvPr/>
        </p:nvSpPr>
        <p:spPr>
          <a:xfrm>
            <a:off x="1876533" y="1810625"/>
            <a:ext cx="1739947"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Calibri"/>
                <a:ea typeface="Calibri"/>
                <a:cs typeface="Calibri"/>
                <a:sym typeface="Calibri"/>
              </a:rPr>
              <a:t>書類選考</a:t>
            </a:r>
            <a:endParaRPr sz="1400" b="0" i="0" u="none" strike="noStrike" cap="none">
              <a:solidFill>
                <a:srgbClr val="000000"/>
              </a:solidFill>
              <a:latin typeface="Arial"/>
              <a:ea typeface="Arial"/>
              <a:cs typeface="Arial"/>
              <a:sym typeface="Arial"/>
            </a:endParaRPr>
          </a:p>
        </p:txBody>
      </p:sp>
      <p:sp>
        <p:nvSpPr>
          <p:cNvPr id="583" name="Google Shape;583;p25"/>
          <p:cNvSpPr txBox="1"/>
          <p:nvPr/>
        </p:nvSpPr>
        <p:spPr>
          <a:xfrm>
            <a:off x="5452446" y="1810624"/>
            <a:ext cx="1739947"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ja-JP" sz="2400" b="1" i="0" u="none" strike="noStrike" cap="none">
                <a:solidFill>
                  <a:schemeClr val="lt1"/>
                </a:solidFill>
                <a:latin typeface="Calibri"/>
                <a:ea typeface="Calibri"/>
                <a:cs typeface="Calibri"/>
                <a:sym typeface="Calibri"/>
              </a:rPr>
              <a:t>面接</a:t>
            </a:r>
            <a:endParaRPr sz="1400" b="0" i="0" u="none" strike="noStrike" cap="none">
              <a:solidFill>
                <a:srgbClr val="000000"/>
              </a:solidFill>
              <a:latin typeface="Arial"/>
              <a:ea typeface="Arial"/>
              <a:cs typeface="Arial"/>
              <a:sym typeface="Arial"/>
            </a:endParaRPr>
          </a:p>
        </p:txBody>
      </p:sp>
      <p:sp>
        <p:nvSpPr>
          <p:cNvPr id="584" name="Google Shape;584;p25"/>
          <p:cNvSpPr txBox="1"/>
          <p:nvPr/>
        </p:nvSpPr>
        <p:spPr>
          <a:xfrm>
            <a:off x="1450557" y="2584113"/>
            <a:ext cx="2513576" cy="1299971"/>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志望理由書</a:t>
            </a:r>
            <a:endParaRPr sz="1800" b="0" i="0" u="none" strike="noStrike" cap="none">
              <a:solidFill>
                <a:schemeClr val="lt1"/>
              </a:solidFill>
              <a:latin typeface="Calibri"/>
              <a:ea typeface="Calibri"/>
              <a:cs typeface="Calibri"/>
              <a:sym typeface="Calibri"/>
            </a:endParaRPr>
          </a:p>
          <a:p>
            <a:pPr marL="0" marR="0" lvl="0" indent="0" algn="ctr" rtl="0">
              <a:lnSpc>
                <a:spcPct val="15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英語能力証明書</a:t>
            </a:r>
            <a:endParaRPr sz="1800" b="0" i="0" u="none" strike="noStrike" cap="none">
              <a:solidFill>
                <a:schemeClr val="lt1"/>
              </a:solidFill>
              <a:latin typeface="Calibri"/>
              <a:ea typeface="Calibri"/>
              <a:cs typeface="Calibri"/>
              <a:sym typeface="Calibri"/>
            </a:endParaRPr>
          </a:p>
          <a:p>
            <a:pPr marL="0" marR="0" lvl="0" indent="0" algn="ctr" rtl="0">
              <a:lnSpc>
                <a:spcPct val="15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CV (英文履歴書)</a:t>
            </a:r>
            <a:endParaRPr sz="1800" b="0" i="0" u="none" strike="noStrike" cap="none">
              <a:solidFill>
                <a:schemeClr val="lt1"/>
              </a:solidFill>
              <a:latin typeface="Calibri"/>
              <a:ea typeface="Calibri"/>
              <a:cs typeface="Calibri"/>
              <a:sym typeface="Calibri"/>
            </a:endParaRPr>
          </a:p>
        </p:txBody>
      </p:sp>
      <p:sp>
        <p:nvSpPr>
          <p:cNvPr id="585" name="Google Shape;585;p25"/>
          <p:cNvSpPr txBox="1"/>
          <p:nvPr/>
        </p:nvSpPr>
        <p:spPr>
          <a:xfrm>
            <a:off x="5065631" y="2503360"/>
            <a:ext cx="2513575" cy="23083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【会員校の学生】</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大学ごとに</a:t>
            </a:r>
            <a:endParaRPr sz="18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IAESTE担当教授と</a:t>
            </a:r>
            <a:endParaRPr sz="18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面接</a:t>
            </a:r>
            <a:endParaRPr sz="18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【非会員校の学生】</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選考委員の教授と</a:t>
            </a:r>
            <a:endParaRPr sz="18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Calibri"/>
                <a:ea typeface="Calibri"/>
                <a:cs typeface="Calibri"/>
                <a:sym typeface="Calibri"/>
              </a:rPr>
              <a:t>面接</a:t>
            </a:r>
            <a:endParaRPr sz="1800" b="0" i="0" u="none" strike="noStrike" cap="none">
              <a:solidFill>
                <a:schemeClr val="lt1"/>
              </a:solidFill>
              <a:latin typeface="Calibri"/>
              <a:ea typeface="Calibri"/>
              <a:cs typeface="Calibri"/>
              <a:sym typeface="Calibri"/>
            </a:endParaRPr>
          </a:p>
        </p:txBody>
      </p:sp>
      <p:cxnSp>
        <p:nvCxnSpPr>
          <p:cNvPr id="586" name="Google Shape;586;p25"/>
          <p:cNvCxnSpPr/>
          <p:nvPr/>
        </p:nvCxnSpPr>
        <p:spPr>
          <a:xfrm>
            <a:off x="2490198" y="2395854"/>
            <a:ext cx="512618" cy="0"/>
          </a:xfrm>
          <a:prstGeom prst="straightConnector1">
            <a:avLst/>
          </a:prstGeom>
          <a:noFill/>
          <a:ln w="9525" cap="flat" cmpd="sng">
            <a:solidFill>
              <a:schemeClr val="lt1"/>
            </a:solidFill>
            <a:prstDash val="solid"/>
            <a:miter lim="800000"/>
            <a:headEnd type="none" w="sm" len="sm"/>
            <a:tailEnd type="none" w="sm" len="sm"/>
          </a:ln>
        </p:spPr>
      </p:cxnSp>
      <p:cxnSp>
        <p:nvCxnSpPr>
          <p:cNvPr id="587" name="Google Shape;587;p25"/>
          <p:cNvCxnSpPr/>
          <p:nvPr/>
        </p:nvCxnSpPr>
        <p:spPr>
          <a:xfrm>
            <a:off x="6066110" y="2395854"/>
            <a:ext cx="512618" cy="0"/>
          </a:xfrm>
          <a:prstGeom prst="straightConnector1">
            <a:avLst/>
          </a:prstGeom>
          <a:noFill/>
          <a:ln w="9525" cap="flat" cmpd="sng">
            <a:solidFill>
              <a:schemeClr val="lt1"/>
            </a:solidFill>
            <a:prstDash val="solid"/>
            <a:miter lim="800000"/>
            <a:headEnd type="none" w="sm" len="sm"/>
            <a:tailEnd type="none" w="sm" len="sm"/>
          </a:ln>
        </p:spPr>
      </p:cxnSp>
      <p:sp>
        <p:nvSpPr>
          <p:cNvPr id="588" name="Google Shape;588;p25"/>
          <p:cNvSpPr/>
          <p:nvPr/>
        </p:nvSpPr>
        <p:spPr>
          <a:xfrm>
            <a:off x="1801922" y="5225827"/>
            <a:ext cx="5373445" cy="884473"/>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英語力，専門分野の習得度とともに</a:t>
            </a:r>
            <a:br>
              <a:rPr lang="ja-JP" sz="1800" b="0" i="0" u="none" strike="noStrike" cap="none">
                <a:solidFill>
                  <a:schemeClr val="dk1"/>
                </a:solidFill>
                <a:latin typeface="Calibri"/>
                <a:ea typeface="Calibri"/>
                <a:cs typeface="Calibri"/>
                <a:sym typeface="Calibri"/>
              </a:rPr>
            </a:br>
            <a:r>
              <a:rPr lang="ja-JP" sz="1800" b="0" i="0" u="none" strike="noStrike" cap="none">
                <a:solidFill>
                  <a:schemeClr val="dk1"/>
                </a:solidFill>
                <a:latin typeface="Calibri"/>
                <a:ea typeface="Calibri"/>
                <a:cs typeface="Calibri"/>
                <a:sym typeface="Calibri"/>
              </a:rPr>
              <a:t>IAESTE研修に対する意欲をはかるために行います</a:t>
            </a:r>
            <a:endParaRPr sz="1800" b="0" i="0" u="none" strike="noStrike" cap="none">
              <a:solidFill>
                <a:schemeClr val="dk1"/>
              </a:solidFill>
              <a:latin typeface="Calibri"/>
              <a:ea typeface="Calibri"/>
              <a:cs typeface="Calibri"/>
              <a:sym typeface="Calibri"/>
            </a:endParaRPr>
          </a:p>
        </p:txBody>
      </p:sp>
      <p:sp>
        <p:nvSpPr>
          <p:cNvPr id="589" name="Google Shape;589;p25"/>
          <p:cNvSpPr txBox="1"/>
          <p:nvPr/>
        </p:nvSpPr>
        <p:spPr>
          <a:xfrm>
            <a:off x="1733422" y="4199332"/>
            <a:ext cx="1883060" cy="432220"/>
          </a:xfrm>
          <a:prstGeom prst="rect">
            <a:avLst/>
          </a:prstGeom>
          <a:noFill/>
          <a:ln w="9525" cap="flat" cmpd="sng">
            <a:solidFill>
              <a:srgbClr val="FFC400"/>
            </a:solidFill>
            <a:prstDash val="solid"/>
            <a:round/>
            <a:headEnd type="none" w="sm" len="sm"/>
            <a:tailEnd type="none" w="sm" len="sm"/>
          </a:ln>
        </p:spPr>
        <p:txBody>
          <a:bodyPr spcFirstLastPara="1" wrap="square" lIns="91425" tIns="36000" rIns="91425" bIns="72000" anchor="t" anchorCtr="0">
            <a:spAutoFit/>
          </a:bodyPr>
          <a:lstStyle/>
          <a:p>
            <a:pPr marL="0" marR="0" lvl="0" indent="0" algn="ctr" rtl="0">
              <a:lnSpc>
                <a:spcPct val="150000"/>
              </a:lnSpc>
              <a:spcBef>
                <a:spcPts val="0"/>
              </a:spcBef>
              <a:spcAft>
                <a:spcPts val="0"/>
              </a:spcAft>
              <a:buClr>
                <a:srgbClr val="000000"/>
              </a:buClr>
              <a:buSzPts val="1400"/>
              <a:buFont typeface="Arial"/>
              <a:buNone/>
            </a:pPr>
            <a:r>
              <a:rPr lang="ja-JP" altLang="en-US" b="1" dirty="0">
                <a:solidFill>
                  <a:srgbClr val="FFC400"/>
                </a:solidFill>
                <a:latin typeface="Calibri"/>
                <a:ea typeface="Calibri"/>
                <a:cs typeface="Calibri"/>
                <a:sym typeface="Calibri"/>
              </a:rPr>
              <a:t>９</a:t>
            </a:r>
            <a:r>
              <a:rPr lang="ja-JP" sz="1400" b="1" i="0" u="none" strike="noStrike" cap="none" dirty="0">
                <a:solidFill>
                  <a:srgbClr val="FFC400"/>
                </a:solidFill>
                <a:latin typeface="Calibri"/>
                <a:ea typeface="Calibri"/>
                <a:cs typeface="Calibri"/>
                <a:sym typeface="Calibri"/>
              </a:rPr>
              <a:t>/</a:t>
            </a:r>
            <a:r>
              <a:rPr lang="ja-JP" altLang="en-US" sz="1400" b="1" i="0" u="none" strike="noStrike" cap="none" dirty="0">
                <a:solidFill>
                  <a:srgbClr val="FFC400"/>
                </a:solidFill>
                <a:latin typeface="Calibri"/>
                <a:ea typeface="Calibri"/>
                <a:cs typeface="Calibri"/>
                <a:sym typeface="Calibri"/>
              </a:rPr>
              <a:t>２０</a:t>
            </a:r>
            <a:r>
              <a:rPr lang="ja-JP" sz="1400" b="1" i="0" u="none" strike="noStrike" cap="none" dirty="0">
                <a:solidFill>
                  <a:srgbClr val="FFC400"/>
                </a:solidFill>
                <a:latin typeface="Calibri"/>
                <a:ea typeface="Calibri"/>
                <a:cs typeface="Calibri"/>
                <a:sym typeface="Calibri"/>
              </a:rPr>
              <a:t>までに提出</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26"/>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Poppins Medium"/>
              <a:buNone/>
            </a:pPr>
            <a:r>
              <a:rPr lang="ja-JP" sz="2000" b="0">
                <a:latin typeface="Poppins Medium"/>
                <a:ea typeface="Poppins Medium"/>
                <a:cs typeface="Poppins Medium"/>
                <a:sym typeface="Poppins Medium"/>
              </a:rPr>
              <a:t>1.</a:t>
            </a:r>
            <a:r>
              <a:rPr lang="ja-JP" b="0">
                <a:latin typeface="Poppins Medium"/>
                <a:ea typeface="Poppins Medium"/>
                <a:cs typeface="Poppins Medium"/>
                <a:sym typeface="Poppins Medium"/>
              </a:rPr>
              <a:t>面接</a:t>
            </a:r>
            <a:r>
              <a:rPr lang="ja-JP"/>
              <a:t>について</a:t>
            </a:r>
            <a:endParaRPr/>
          </a:p>
        </p:txBody>
      </p:sp>
      <p:sp>
        <p:nvSpPr>
          <p:cNvPr id="596" name="Google Shape;596;p26"/>
          <p:cNvSpPr txBox="1"/>
          <p:nvPr/>
        </p:nvSpPr>
        <p:spPr>
          <a:xfrm>
            <a:off x="951276" y="1205050"/>
            <a:ext cx="2437349" cy="609047"/>
          </a:xfrm>
          <a:prstGeom prst="rect">
            <a:avLst/>
          </a:prstGeom>
          <a:noFill/>
          <a:ln>
            <a:noFill/>
          </a:ln>
        </p:spPr>
        <p:txBody>
          <a:bodyPr spcFirstLastPara="1" wrap="square" lIns="91425" tIns="72000" rIns="91425" bIns="45700" anchor="ctr" anchorCtr="0">
            <a:noAutofit/>
          </a:bodyPr>
          <a:lstStyle/>
          <a:p>
            <a:pPr marL="0" marR="0" lvl="0" indent="0" algn="l" rtl="0">
              <a:lnSpc>
                <a:spcPct val="90000"/>
              </a:lnSpc>
              <a:spcBef>
                <a:spcPts val="0"/>
              </a:spcBef>
              <a:spcAft>
                <a:spcPts val="0"/>
              </a:spcAft>
              <a:buClr>
                <a:srgbClr val="2F6192"/>
              </a:buClr>
              <a:buSzPts val="2200"/>
              <a:buFont typeface="Calibri"/>
              <a:buNone/>
            </a:pPr>
            <a:r>
              <a:rPr lang="ja-JP" sz="2200" b="1" i="0" u="none" strike="noStrike" cap="none">
                <a:solidFill>
                  <a:srgbClr val="2F6192"/>
                </a:solidFill>
                <a:latin typeface="Calibri"/>
                <a:ea typeface="Calibri"/>
                <a:cs typeface="Calibri"/>
                <a:sym typeface="Calibri"/>
              </a:rPr>
              <a:t>日にち</a:t>
            </a:r>
            <a:endParaRPr sz="1400" b="0" i="0" u="none" strike="noStrike" cap="none">
              <a:solidFill>
                <a:srgbClr val="000000"/>
              </a:solidFill>
              <a:latin typeface="Arial"/>
              <a:ea typeface="Arial"/>
              <a:cs typeface="Arial"/>
              <a:sym typeface="Arial"/>
            </a:endParaRPr>
          </a:p>
        </p:txBody>
      </p:sp>
      <p:sp>
        <p:nvSpPr>
          <p:cNvPr id="597" name="Google Shape;597;p26"/>
          <p:cNvSpPr txBox="1"/>
          <p:nvPr/>
        </p:nvSpPr>
        <p:spPr>
          <a:xfrm>
            <a:off x="951276" y="2467113"/>
            <a:ext cx="2437349" cy="609047"/>
          </a:xfrm>
          <a:prstGeom prst="rect">
            <a:avLst/>
          </a:prstGeom>
          <a:noFill/>
          <a:ln>
            <a:noFill/>
          </a:ln>
        </p:spPr>
        <p:txBody>
          <a:bodyPr spcFirstLastPara="1" wrap="square" lIns="91425" tIns="72000" rIns="91425" bIns="45700" anchor="ctr" anchorCtr="0">
            <a:noAutofit/>
          </a:bodyPr>
          <a:lstStyle/>
          <a:p>
            <a:pPr marL="0" marR="0" lvl="0" indent="0" algn="l" rtl="0">
              <a:lnSpc>
                <a:spcPct val="90000"/>
              </a:lnSpc>
              <a:spcBef>
                <a:spcPts val="0"/>
              </a:spcBef>
              <a:spcAft>
                <a:spcPts val="0"/>
              </a:spcAft>
              <a:buClr>
                <a:srgbClr val="2F6192"/>
              </a:buClr>
              <a:buSzPts val="2200"/>
              <a:buFont typeface="Calibri"/>
              <a:buNone/>
            </a:pPr>
            <a:r>
              <a:rPr lang="ja-JP" sz="2200" b="1" i="0" u="none" strike="noStrike" cap="none">
                <a:solidFill>
                  <a:srgbClr val="2F6192"/>
                </a:solidFill>
                <a:latin typeface="Calibri"/>
                <a:ea typeface="Calibri"/>
                <a:cs typeface="Calibri"/>
                <a:sym typeface="Calibri"/>
              </a:rPr>
              <a:t>場所</a:t>
            </a:r>
            <a:endParaRPr sz="1400" b="0" i="0" u="none" strike="noStrike" cap="none">
              <a:solidFill>
                <a:srgbClr val="000000"/>
              </a:solidFill>
              <a:latin typeface="Arial"/>
              <a:ea typeface="Arial"/>
              <a:cs typeface="Arial"/>
              <a:sym typeface="Arial"/>
            </a:endParaRPr>
          </a:p>
        </p:txBody>
      </p:sp>
      <p:sp>
        <p:nvSpPr>
          <p:cNvPr id="598" name="Google Shape;598;p26"/>
          <p:cNvSpPr txBox="1"/>
          <p:nvPr/>
        </p:nvSpPr>
        <p:spPr>
          <a:xfrm>
            <a:off x="951276" y="3729176"/>
            <a:ext cx="2437349" cy="609047"/>
          </a:xfrm>
          <a:prstGeom prst="rect">
            <a:avLst/>
          </a:prstGeom>
          <a:noFill/>
          <a:ln>
            <a:noFill/>
          </a:ln>
        </p:spPr>
        <p:txBody>
          <a:bodyPr spcFirstLastPara="1" wrap="square" lIns="91425" tIns="72000" rIns="91425" bIns="45700" anchor="ctr" anchorCtr="0">
            <a:noAutofit/>
          </a:bodyPr>
          <a:lstStyle/>
          <a:p>
            <a:pPr marL="0" marR="0" lvl="0" indent="0" algn="l" rtl="0">
              <a:lnSpc>
                <a:spcPct val="90000"/>
              </a:lnSpc>
              <a:spcBef>
                <a:spcPts val="0"/>
              </a:spcBef>
              <a:spcAft>
                <a:spcPts val="0"/>
              </a:spcAft>
              <a:buClr>
                <a:srgbClr val="2F6192"/>
              </a:buClr>
              <a:buSzPts val="2200"/>
              <a:buFont typeface="Calibri"/>
              <a:buNone/>
            </a:pPr>
            <a:r>
              <a:rPr lang="ja-JP" sz="2200" b="1" i="0" u="none" strike="noStrike" cap="none">
                <a:solidFill>
                  <a:srgbClr val="2F6192"/>
                </a:solidFill>
                <a:latin typeface="Calibri"/>
                <a:ea typeface="Calibri"/>
                <a:cs typeface="Calibri"/>
                <a:sym typeface="Calibri"/>
              </a:rPr>
              <a:t>申込期限</a:t>
            </a:r>
            <a:endParaRPr sz="1400" b="0" i="0" u="none" strike="noStrike" cap="none">
              <a:solidFill>
                <a:srgbClr val="000000"/>
              </a:solidFill>
              <a:latin typeface="Arial"/>
              <a:ea typeface="Arial"/>
              <a:cs typeface="Arial"/>
              <a:sym typeface="Arial"/>
            </a:endParaRPr>
          </a:p>
        </p:txBody>
      </p:sp>
      <p:sp>
        <p:nvSpPr>
          <p:cNvPr id="599" name="Google Shape;599;p26"/>
          <p:cNvSpPr txBox="1"/>
          <p:nvPr/>
        </p:nvSpPr>
        <p:spPr>
          <a:xfrm>
            <a:off x="951276" y="4991238"/>
            <a:ext cx="2437349" cy="609047"/>
          </a:xfrm>
          <a:prstGeom prst="rect">
            <a:avLst/>
          </a:prstGeom>
          <a:noFill/>
          <a:ln>
            <a:noFill/>
          </a:ln>
        </p:spPr>
        <p:txBody>
          <a:bodyPr spcFirstLastPara="1" wrap="square" lIns="91425" tIns="72000" rIns="91425" bIns="45700" anchor="ctr" anchorCtr="0">
            <a:noAutofit/>
          </a:bodyPr>
          <a:lstStyle/>
          <a:p>
            <a:pPr marL="0" marR="0" lvl="0" indent="0" algn="l" rtl="0">
              <a:lnSpc>
                <a:spcPct val="90000"/>
              </a:lnSpc>
              <a:spcBef>
                <a:spcPts val="0"/>
              </a:spcBef>
              <a:spcAft>
                <a:spcPts val="0"/>
              </a:spcAft>
              <a:buClr>
                <a:srgbClr val="2F6192"/>
              </a:buClr>
              <a:buSzPts val="2200"/>
              <a:buFont typeface="Poppins Medium"/>
              <a:buNone/>
            </a:pPr>
            <a:r>
              <a:rPr lang="ja-JP" sz="2200" b="1" i="0" u="none" strike="noStrike" cap="none">
                <a:solidFill>
                  <a:srgbClr val="2F6192"/>
                </a:solidFill>
                <a:latin typeface="Poppins Medium"/>
                <a:ea typeface="Poppins Medium"/>
                <a:cs typeface="Poppins Medium"/>
                <a:sym typeface="Poppins Medium"/>
              </a:rPr>
              <a:t>面接結果</a:t>
            </a:r>
            <a:endParaRPr sz="2200" b="1" i="0" u="none" strike="noStrike" cap="none">
              <a:solidFill>
                <a:srgbClr val="2F6192"/>
              </a:solidFill>
              <a:latin typeface="Calibri"/>
              <a:ea typeface="Calibri"/>
              <a:cs typeface="Calibri"/>
              <a:sym typeface="Calibri"/>
            </a:endParaRPr>
          </a:p>
        </p:txBody>
      </p:sp>
      <p:sp>
        <p:nvSpPr>
          <p:cNvPr id="600" name="Google Shape;600;p26"/>
          <p:cNvSpPr txBox="1"/>
          <p:nvPr/>
        </p:nvSpPr>
        <p:spPr>
          <a:xfrm>
            <a:off x="2695570" y="1205049"/>
            <a:ext cx="4268457" cy="609047"/>
          </a:xfrm>
          <a:prstGeom prst="rect">
            <a:avLst/>
          </a:prstGeom>
          <a:noFill/>
          <a:ln>
            <a:noFill/>
          </a:ln>
        </p:spPr>
        <p:txBody>
          <a:bodyPr spcFirstLastPara="1" wrap="square" lIns="91425" tIns="72000" rIns="91425" bIns="45700" anchor="ctr" anchorCtr="0">
            <a:noAutofit/>
          </a:bodyPr>
          <a:lstStyle/>
          <a:p>
            <a:pPr marL="0" marR="0" lvl="0" indent="0" algn="l" rtl="0">
              <a:lnSpc>
                <a:spcPct val="90000"/>
              </a:lnSpc>
              <a:spcBef>
                <a:spcPts val="0"/>
              </a:spcBef>
              <a:spcAft>
                <a:spcPts val="0"/>
              </a:spcAft>
              <a:buClr>
                <a:schemeClr val="dk1"/>
              </a:buClr>
              <a:buSzPts val="2800"/>
              <a:buFont typeface="Calibri"/>
              <a:buNone/>
            </a:pPr>
            <a:r>
              <a:rPr lang="ja-JP" sz="2800" b="1" i="0" u="none" strike="noStrike" cap="none">
                <a:solidFill>
                  <a:schemeClr val="dk1"/>
                </a:solidFill>
                <a:latin typeface="Calibri"/>
                <a:ea typeface="Calibri"/>
                <a:cs typeface="Calibri"/>
                <a:sym typeface="Calibri"/>
              </a:rPr>
              <a:t>2024</a:t>
            </a:r>
            <a:r>
              <a:rPr lang="ja-JP" sz="2400" b="1" i="0" u="none" strike="noStrike" cap="none">
                <a:solidFill>
                  <a:schemeClr val="dk1"/>
                </a:solidFill>
                <a:latin typeface="Calibri"/>
                <a:ea typeface="Calibri"/>
                <a:cs typeface="Calibri"/>
                <a:sym typeface="Calibri"/>
              </a:rPr>
              <a:t>年</a:t>
            </a:r>
            <a:r>
              <a:rPr lang="ja-JP" sz="2800" b="1" i="0" u="none" strike="noStrike" cap="none">
                <a:solidFill>
                  <a:schemeClr val="dk1"/>
                </a:solidFill>
                <a:latin typeface="Calibri"/>
                <a:ea typeface="Calibri"/>
                <a:cs typeface="Calibri"/>
                <a:sym typeface="Calibri"/>
              </a:rPr>
              <a:t>10</a:t>
            </a:r>
            <a:r>
              <a:rPr lang="ja-JP" sz="2400" b="1" i="0" u="none" strike="noStrike" cap="none">
                <a:solidFill>
                  <a:schemeClr val="dk1"/>
                </a:solidFill>
                <a:latin typeface="Calibri"/>
                <a:ea typeface="Calibri"/>
                <a:cs typeface="Calibri"/>
                <a:sym typeface="Calibri"/>
              </a:rPr>
              <a:t>月中</a:t>
            </a:r>
            <a:endParaRPr sz="1400" b="0" i="0" u="none" strike="noStrike" cap="none">
              <a:solidFill>
                <a:srgbClr val="000000"/>
              </a:solidFill>
              <a:latin typeface="Arial"/>
              <a:ea typeface="Arial"/>
              <a:cs typeface="Arial"/>
              <a:sym typeface="Arial"/>
            </a:endParaRPr>
          </a:p>
        </p:txBody>
      </p:sp>
      <p:sp>
        <p:nvSpPr>
          <p:cNvPr id="601" name="Google Shape;601;p26"/>
          <p:cNvSpPr txBox="1"/>
          <p:nvPr/>
        </p:nvSpPr>
        <p:spPr>
          <a:xfrm>
            <a:off x="2695571" y="2467112"/>
            <a:ext cx="4268457" cy="609047"/>
          </a:xfrm>
          <a:prstGeom prst="rect">
            <a:avLst/>
          </a:prstGeom>
          <a:noFill/>
          <a:ln>
            <a:noFill/>
          </a:ln>
        </p:spPr>
        <p:txBody>
          <a:bodyPr spcFirstLastPara="1" wrap="square" lIns="91425" tIns="72000" rIns="91425" bIns="45700" anchor="ctr" anchorCtr="0">
            <a:noAutofit/>
          </a:bodyPr>
          <a:lstStyle/>
          <a:p>
            <a:pPr marL="0" marR="0" lvl="0" indent="0" algn="l" rtl="0">
              <a:lnSpc>
                <a:spcPct val="90000"/>
              </a:lnSpc>
              <a:spcBef>
                <a:spcPts val="0"/>
              </a:spcBef>
              <a:spcAft>
                <a:spcPts val="0"/>
              </a:spcAft>
              <a:buClr>
                <a:schemeClr val="dk1"/>
              </a:buClr>
              <a:buSzPts val="2400"/>
              <a:buFont typeface="Calibri"/>
              <a:buNone/>
            </a:pPr>
            <a:r>
              <a:rPr lang="ja-JP" sz="2400" b="1" i="0" u="none" strike="noStrike" cap="none">
                <a:solidFill>
                  <a:schemeClr val="dk1"/>
                </a:solidFill>
                <a:latin typeface="Calibri"/>
                <a:ea typeface="Calibri"/>
                <a:cs typeface="Calibri"/>
                <a:sym typeface="Calibri"/>
              </a:rPr>
              <a:t>大学の指定された場所・WEB</a:t>
            </a:r>
            <a:endParaRPr sz="2400" b="1" i="0" u="none" strike="noStrike" cap="none">
              <a:solidFill>
                <a:schemeClr val="dk1"/>
              </a:solidFill>
              <a:latin typeface="Calibri"/>
              <a:ea typeface="Calibri"/>
              <a:cs typeface="Calibri"/>
              <a:sym typeface="Calibri"/>
            </a:endParaRPr>
          </a:p>
        </p:txBody>
      </p:sp>
      <p:sp>
        <p:nvSpPr>
          <p:cNvPr id="602" name="Google Shape;602;p26"/>
          <p:cNvSpPr txBox="1"/>
          <p:nvPr/>
        </p:nvSpPr>
        <p:spPr>
          <a:xfrm>
            <a:off x="2695571" y="3729175"/>
            <a:ext cx="4268457" cy="609047"/>
          </a:xfrm>
          <a:prstGeom prst="rect">
            <a:avLst/>
          </a:prstGeom>
          <a:noFill/>
          <a:ln>
            <a:noFill/>
          </a:ln>
        </p:spPr>
        <p:txBody>
          <a:bodyPr spcFirstLastPara="1" wrap="square" lIns="91425" tIns="72000" rIns="91425" bIns="45700" anchor="ctr" anchorCtr="0">
            <a:noAutofit/>
          </a:bodyPr>
          <a:lstStyle/>
          <a:p>
            <a:pPr marL="0" marR="0" lvl="0" indent="0" algn="l" rtl="0">
              <a:lnSpc>
                <a:spcPct val="90000"/>
              </a:lnSpc>
              <a:spcBef>
                <a:spcPts val="0"/>
              </a:spcBef>
              <a:spcAft>
                <a:spcPts val="0"/>
              </a:spcAft>
              <a:buClr>
                <a:schemeClr val="dk1"/>
              </a:buClr>
              <a:buSzPts val="2800"/>
              <a:buFont typeface="Calibri"/>
              <a:buNone/>
            </a:pPr>
            <a:r>
              <a:rPr lang="ja-JP" sz="2800" b="1" i="0" u="none" strike="noStrike" cap="none">
                <a:solidFill>
                  <a:schemeClr val="dk1"/>
                </a:solidFill>
                <a:latin typeface="Calibri"/>
                <a:ea typeface="Calibri"/>
                <a:cs typeface="Calibri"/>
                <a:sym typeface="Calibri"/>
              </a:rPr>
              <a:t>9</a:t>
            </a:r>
            <a:r>
              <a:rPr lang="ja-JP" sz="2400" b="1" i="0" u="none" strike="noStrike" cap="none">
                <a:solidFill>
                  <a:schemeClr val="dk1"/>
                </a:solidFill>
                <a:latin typeface="Calibri"/>
                <a:ea typeface="Calibri"/>
                <a:cs typeface="Calibri"/>
                <a:sym typeface="Calibri"/>
              </a:rPr>
              <a:t>月</a:t>
            </a:r>
            <a:r>
              <a:rPr lang="ja-JP" sz="2400" b="1">
                <a:solidFill>
                  <a:schemeClr val="dk1"/>
                </a:solidFill>
                <a:latin typeface="Calibri"/>
                <a:ea typeface="Calibri"/>
                <a:cs typeface="Calibri"/>
                <a:sym typeface="Calibri"/>
              </a:rPr>
              <a:t>2</a:t>
            </a:r>
            <a:r>
              <a:rPr lang="ja-JP" sz="2400" b="1" i="0" u="none" strike="noStrike" cap="none">
                <a:solidFill>
                  <a:schemeClr val="dk1"/>
                </a:solidFill>
                <a:latin typeface="Calibri"/>
                <a:ea typeface="Calibri"/>
                <a:cs typeface="Calibri"/>
                <a:sym typeface="Calibri"/>
              </a:rPr>
              <a:t>0日 (予定) メール必着</a:t>
            </a:r>
            <a:endParaRPr sz="1400" b="0" i="0" u="none" strike="noStrike" cap="none">
              <a:solidFill>
                <a:srgbClr val="000000"/>
              </a:solidFill>
              <a:latin typeface="Arial"/>
              <a:ea typeface="Arial"/>
              <a:cs typeface="Arial"/>
              <a:sym typeface="Arial"/>
            </a:endParaRPr>
          </a:p>
        </p:txBody>
      </p:sp>
      <p:sp>
        <p:nvSpPr>
          <p:cNvPr id="603" name="Google Shape;603;p26"/>
          <p:cNvSpPr txBox="1"/>
          <p:nvPr/>
        </p:nvSpPr>
        <p:spPr>
          <a:xfrm>
            <a:off x="2695570" y="4991237"/>
            <a:ext cx="4268457" cy="609047"/>
          </a:xfrm>
          <a:prstGeom prst="rect">
            <a:avLst/>
          </a:prstGeom>
          <a:noFill/>
          <a:ln>
            <a:noFill/>
          </a:ln>
        </p:spPr>
        <p:txBody>
          <a:bodyPr spcFirstLastPara="1" wrap="square" lIns="91425" tIns="72000" rIns="91425" bIns="45700" anchor="ctr" anchorCtr="0">
            <a:noAutofit/>
          </a:bodyPr>
          <a:lstStyle/>
          <a:p>
            <a:pPr marL="0" marR="0" lvl="0" indent="0" algn="l" rtl="0">
              <a:lnSpc>
                <a:spcPct val="90000"/>
              </a:lnSpc>
              <a:spcBef>
                <a:spcPts val="0"/>
              </a:spcBef>
              <a:spcAft>
                <a:spcPts val="0"/>
              </a:spcAft>
              <a:buClr>
                <a:schemeClr val="dk1"/>
              </a:buClr>
              <a:buSzPts val="2400"/>
              <a:buFont typeface="Calibri"/>
              <a:buNone/>
            </a:pPr>
            <a:r>
              <a:rPr lang="ja-JP" sz="2400" b="1" i="0" u="none" strike="noStrike" cap="none">
                <a:solidFill>
                  <a:schemeClr val="dk1"/>
                </a:solidFill>
                <a:latin typeface="Calibri"/>
                <a:ea typeface="Calibri"/>
                <a:cs typeface="Calibri"/>
                <a:sym typeface="Calibri"/>
              </a:rPr>
              <a:t>個々にメールで通知予定</a:t>
            </a:r>
            <a:endParaRPr sz="1400" b="0" i="0" u="none" strike="noStrike" cap="none">
              <a:solidFill>
                <a:srgbClr val="000000"/>
              </a:solidFill>
              <a:latin typeface="Arial"/>
              <a:ea typeface="Arial"/>
              <a:cs typeface="Arial"/>
              <a:sym typeface="Arial"/>
            </a:endParaRPr>
          </a:p>
        </p:txBody>
      </p:sp>
      <p:sp>
        <p:nvSpPr>
          <p:cNvPr id="604" name="Google Shape;604;p26"/>
          <p:cNvSpPr txBox="1"/>
          <p:nvPr/>
        </p:nvSpPr>
        <p:spPr>
          <a:xfrm>
            <a:off x="783724" y="5470895"/>
            <a:ext cx="7576552" cy="609047"/>
          </a:xfrm>
          <a:prstGeom prst="rect">
            <a:avLst/>
          </a:prstGeom>
          <a:noFill/>
          <a:ln>
            <a:noFill/>
          </a:ln>
        </p:spPr>
        <p:txBody>
          <a:bodyPr spcFirstLastPara="1" wrap="square" lIns="91425" tIns="72000" rIns="91425" bIns="45700" anchor="ctr" anchorCtr="0">
            <a:noAutofit/>
          </a:bodyPr>
          <a:lstStyle/>
          <a:p>
            <a:pPr marL="0" marR="0" lvl="0" indent="0" algn="ctr" rtl="0">
              <a:lnSpc>
                <a:spcPct val="90000"/>
              </a:lnSpc>
              <a:spcBef>
                <a:spcPts val="0"/>
              </a:spcBef>
              <a:spcAft>
                <a:spcPts val="0"/>
              </a:spcAft>
              <a:buClr>
                <a:srgbClr val="7F7F7F"/>
              </a:buClr>
              <a:buSzPts val="1400"/>
              <a:buFont typeface="Calibri"/>
              <a:buNone/>
            </a:pPr>
            <a:r>
              <a:rPr lang="ja-JP" sz="1400" b="1" i="0" u="none" strike="noStrike" cap="none" dirty="0">
                <a:solidFill>
                  <a:srgbClr val="7F7F7F"/>
                </a:solidFill>
                <a:latin typeface="Calibri"/>
                <a:ea typeface="Calibri"/>
                <a:cs typeface="Calibri"/>
                <a:sym typeface="Calibri"/>
              </a:rPr>
              <a:t>詳細については</a:t>
            </a:r>
            <a:r>
              <a:rPr lang="ja-JP" altLang="en-US" sz="1400" b="1" i="0" u="none" strike="noStrike" cap="none" dirty="0">
                <a:solidFill>
                  <a:srgbClr val="7F7F7F"/>
                </a:solidFill>
                <a:latin typeface="Calibri"/>
                <a:ea typeface="Calibri"/>
                <a:cs typeface="Calibri"/>
                <a:sym typeface="Calibri"/>
              </a:rPr>
              <a:t>応募要項</a:t>
            </a:r>
            <a:r>
              <a:rPr lang="ja-JP" sz="1400" b="1" i="0" u="none" strike="noStrike" cap="none" dirty="0">
                <a:solidFill>
                  <a:srgbClr val="7F7F7F"/>
                </a:solidFill>
                <a:latin typeface="Calibri"/>
                <a:ea typeface="Calibri"/>
                <a:cs typeface="Calibri"/>
                <a:sym typeface="Calibri"/>
              </a:rPr>
              <a:t>及びIAESTE JapanのWebサイト</a:t>
            </a:r>
            <a:r>
              <a:rPr lang="ja-JP" sz="1400" b="0" i="0" u="none" strike="noStrike" cap="none" dirty="0">
                <a:solidFill>
                  <a:srgbClr val="7F7F7F"/>
                </a:solidFill>
                <a:latin typeface="Calibri"/>
                <a:ea typeface="Calibri"/>
                <a:cs typeface="Calibri"/>
                <a:sym typeface="Calibri"/>
              </a:rPr>
              <a:t>(www.iaeste.or.jp)</a:t>
            </a:r>
            <a:r>
              <a:rPr lang="ja-JP" sz="1400" b="1" i="0" u="none" strike="noStrike" cap="none" dirty="0">
                <a:solidFill>
                  <a:srgbClr val="7F7F7F"/>
                </a:solidFill>
                <a:latin typeface="Calibri"/>
                <a:ea typeface="Calibri"/>
                <a:cs typeface="Calibri"/>
                <a:sym typeface="Calibri"/>
              </a:rPr>
              <a:t>をご覧ください</a:t>
            </a:r>
            <a:endParaRPr sz="1400" b="0" i="0" u="none" strike="noStrike" cap="none" dirty="0">
              <a:solidFill>
                <a:srgbClr val="000000"/>
              </a:solidFill>
              <a:latin typeface="Arial"/>
              <a:ea typeface="Arial"/>
              <a:cs typeface="Arial"/>
              <a:sym typeface="Arial"/>
            </a:endParaRPr>
          </a:p>
        </p:txBody>
      </p:sp>
      <p:sp>
        <p:nvSpPr>
          <p:cNvPr id="605" name="Google Shape;605;p26"/>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27"/>
          <p:cNvSpPr/>
          <p:nvPr/>
        </p:nvSpPr>
        <p:spPr>
          <a:xfrm>
            <a:off x="1440000" y="1917000"/>
            <a:ext cx="6264000" cy="470123"/>
          </a:xfrm>
          <a:prstGeom prst="rect">
            <a:avLst/>
          </a:prstGeom>
          <a:gradFill>
            <a:gsLst>
              <a:gs pos="0">
                <a:srgbClr val="185FAE"/>
              </a:gs>
              <a:gs pos="52999">
                <a:srgbClr val="2498DA"/>
              </a:gs>
              <a:gs pos="99000">
                <a:srgbClr val="3EB4A8"/>
              </a:gs>
              <a:gs pos="100000">
                <a:srgbClr val="3EB4A8"/>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27"/>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33</a:t>
            </a:fld>
            <a:endParaRPr/>
          </a:p>
        </p:txBody>
      </p:sp>
      <p:sp>
        <p:nvSpPr>
          <p:cNvPr id="612" name="Google Shape;612;p27"/>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dirty="0"/>
              <a:t>語学試験について（Exchage Internship</a:t>
            </a:r>
            <a:r>
              <a:rPr lang="ja-JP" altLang="en-US" dirty="0"/>
              <a:t>の場合</a:t>
            </a:r>
            <a:r>
              <a:rPr lang="ja-JP" dirty="0"/>
              <a:t>）</a:t>
            </a:r>
            <a:endParaRPr dirty="0"/>
          </a:p>
        </p:txBody>
      </p:sp>
      <p:graphicFrame>
        <p:nvGraphicFramePr>
          <p:cNvPr id="613" name="Google Shape;613;p27"/>
          <p:cNvGraphicFramePr/>
          <p:nvPr/>
        </p:nvGraphicFramePr>
        <p:xfrm>
          <a:off x="1440000" y="1917000"/>
          <a:ext cx="6264000" cy="3528000"/>
        </p:xfrm>
        <a:graphic>
          <a:graphicData uri="http://schemas.openxmlformats.org/drawingml/2006/table">
            <a:tbl>
              <a:tblPr firstRow="1" bandRow="1">
                <a:noFill/>
                <a:tableStyleId>{02FEB39E-33E0-4033-A97A-97D64E5FD191}</a:tableStyleId>
              </a:tblPr>
              <a:tblGrid>
                <a:gridCol w="2088000">
                  <a:extLst>
                    <a:ext uri="{9D8B030D-6E8A-4147-A177-3AD203B41FA5}">
                      <a16:colId xmlns:a16="http://schemas.microsoft.com/office/drawing/2014/main" val="20000"/>
                    </a:ext>
                  </a:extLst>
                </a:gridCol>
                <a:gridCol w="2088000">
                  <a:extLst>
                    <a:ext uri="{9D8B030D-6E8A-4147-A177-3AD203B41FA5}">
                      <a16:colId xmlns:a16="http://schemas.microsoft.com/office/drawing/2014/main" val="20001"/>
                    </a:ext>
                  </a:extLst>
                </a:gridCol>
                <a:gridCol w="2088000">
                  <a:extLst>
                    <a:ext uri="{9D8B030D-6E8A-4147-A177-3AD203B41FA5}">
                      <a16:colId xmlns:a16="http://schemas.microsoft.com/office/drawing/2014/main" val="20002"/>
                    </a:ext>
                  </a:extLst>
                </a:gridCol>
              </a:tblGrid>
              <a:tr h="504000">
                <a:tc>
                  <a:txBody>
                    <a:bodyPr/>
                    <a:lstStyle/>
                    <a:p>
                      <a:pPr marL="0" marR="0" lvl="0" indent="0" algn="r" rtl="0">
                        <a:lnSpc>
                          <a:spcPct val="100000"/>
                        </a:lnSpc>
                        <a:spcBef>
                          <a:spcPts val="0"/>
                        </a:spcBef>
                        <a:spcAft>
                          <a:spcPts val="0"/>
                        </a:spcAft>
                        <a:buClr>
                          <a:schemeClr val="dk1"/>
                        </a:buClr>
                        <a:buSzPts val="1800"/>
                        <a:buFont typeface="Calibri"/>
                        <a:buNone/>
                      </a:pPr>
                      <a:endParaRPr sz="1800" b="0" i="0" u="none" strike="noStrike" cap="none">
                        <a:solidFill>
                          <a:srgbClr val="478EB4"/>
                        </a:solidFill>
                        <a:latin typeface="Helvetica Neue Light"/>
                        <a:ea typeface="Helvetica Neue Light"/>
                        <a:cs typeface="Helvetica Neue Light"/>
                        <a:sym typeface="Helvetica Neue Light"/>
                      </a:endParaRPr>
                    </a:p>
                  </a:txBody>
                  <a:tcPr marL="91450" marR="91450" marT="45725" marB="45725">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スコア</a:t>
                      </a:r>
                      <a:endParaRPr sz="1400" u="none" strike="noStrike" cap="none"/>
                    </a:p>
                  </a:txBody>
                  <a:tcPr marL="91450" marR="91450" marT="90000"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有効期限</a:t>
                      </a:r>
                      <a:endParaRPr sz="1400" u="none" strike="noStrike" cap="none"/>
                    </a:p>
                  </a:txBody>
                  <a:tcPr marL="91450" marR="91450" marT="90000" marB="45725">
                    <a:lnL w="9525" cap="flat" cmpd="sng">
                      <a:solidFill>
                        <a:srgbClr val="000000">
                          <a:alpha val="0"/>
                        </a:srgbClr>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04000">
                <a:tc>
                  <a:txBody>
                    <a:bodyPr/>
                    <a:lstStyle/>
                    <a:p>
                      <a:pPr marL="0" marR="0" lvl="0" indent="0" algn="r" rtl="0">
                        <a:lnSpc>
                          <a:spcPct val="100000"/>
                        </a:lnSpc>
                        <a:spcBef>
                          <a:spcPts val="0"/>
                        </a:spcBef>
                        <a:spcAft>
                          <a:spcPts val="0"/>
                        </a:spcAft>
                        <a:buClr>
                          <a:srgbClr val="2498DA"/>
                        </a:buClr>
                        <a:buSzPts val="1800"/>
                        <a:buFont typeface="Poppins Medium"/>
                        <a:buNone/>
                      </a:pPr>
                      <a:r>
                        <a:rPr lang="ja-JP" sz="1800" b="0" i="0" u="none" strike="noStrike" cap="none">
                          <a:solidFill>
                            <a:srgbClr val="2498DA"/>
                          </a:solidFill>
                          <a:latin typeface="Poppins Medium"/>
                          <a:ea typeface="Poppins Medium"/>
                          <a:cs typeface="Poppins Medium"/>
                          <a:sym typeface="Poppins Medium"/>
                        </a:rPr>
                        <a:t>TOEIC SW</a:t>
                      </a:r>
                      <a:endParaRPr sz="18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000000">
                          <a:alpha val="0"/>
                        </a:srgbClr>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ja-JP" sz="1600" b="0" i="0" u="none" strike="noStrike" cap="none">
                          <a:solidFill>
                            <a:schemeClr val="dk1"/>
                          </a:solidFill>
                          <a:latin typeface="Calibri"/>
                          <a:ea typeface="Calibri"/>
                          <a:cs typeface="Calibri"/>
                          <a:sym typeface="Calibri"/>
                        </a:rPr>
                        <a:t>240点以上</a:t>
                      </a:r>
                      <a:endParaRPr sz="1400" u="none" strike="noStrike" cap="none"/>
                    </a:p>
                  </a:txBody>
                  <a:tcPr marL="91450" marR="91450" marT="108000" marB="45725">
                    <a:lnT w="9525" cap="flat" cmpd="sng">
                      <a:solidFill>
                        <a:srgbClr val="000000">
                          <a:alpha val="0"/>
                        </a:srgbClr>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なし</a:t>
                      </a:r>
                      <a:endParaRPr sz="1400" u="none" strike="noStrike" cap="none"/>
                    </a:p>
                  </a:txBody>
                  <a:tcPr marL="91450" marR="91450" marT="108000" marB="45725">
                    <a:lnT w="9525" cap="flat" cmpd="sng">
                      <a:solidFill>
                        <a:srgbClr val="000000">
                          <a:alpha val="0"/>
                        </a:srgbClr>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504000">
                <a:tc>
                  <a:txBody>
                    <a:bodyPr/>
                    <a:lstStyle/>
                    <a:p>
                      <a:pPr marL="0" marR="0" lvl="0" indent="0" algn="r" rtl="0">
                        <a:lnSpc>
                          <a:spcPct val="100000"/>
                        </a:lnSpc>
                        <a:spcBef>
                          <a:spcPts val="0"/>
                        </a:spcBef>
                        <a:spcAft>
                          <a:spcPts val="0"/>
                        </a:spcAft>
                        <a:buClr>
                          <a:srgbClr val="2498DA"/>
                        </a:buClr>
                        <a:buSzPts val="1800"/>
                        <a:buFont typeface="Poppins Medium"/>
                        <a:buNone/>
                      </a:pPr>
                      <a:r>
                        <a:rPr lang="ja-JP" sz="1800" b="0" i="0" u="none" strike="noStrike" cap="none">
                          <a:solidFill>
                            <a:srgbClr val="2498DA"/>
                          </a:solidFill>
                          <a:latin typeface="Poppins Medium"/>
                          <a:ea typeface="Poppins Medium"/>
                          <a:cs typeface="Poppins Medium"/>
                          <a:sym typeface="Poppins Medium"/>
                        </a:rPr>
                        <a:t>TOEIC LR</a:t>
                      </a:r>
                      <a:endParaRPr sz="18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ja-JP" sz="1600" b="0" i="0" u="none" strike="noStrike" cap="none">
                          <a:solidFill>
                            <a:schemeClr val="dk1"/>
                          </a:solidFill>
                          <a:latin typeface="Calibri"/>
                          <a:ea typeface="Calibri"/>
                          <a:cs typeface="Calibri"/>
                          <a:sym typeface="Calibri"/>
                        </a:rPr>
                        <a:t>600点以上</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なし</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0" i="0" u="none" strike="noStrike" cap="none">
                          <a:solidFill>
                            <a:srgbClr val="2498DA"/>
                          </a:solidFill>
                          <a:latin typeface="Poppins Medium"/>
                          <a:ea typeface="Poppins Medium"/>
                          <a:cs typeface="Poppins Medium"/>
                          <a:sym typeface="Poppins Medium"/>
                        </a:rPr>
                        <a:t>TOEFL iBT</a:t>
                      </a:r>
                      <a:endParaRPr sz="18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62</a:t>
                      </a:r>
                      <a:r>
                        <a:rPr lang="ja-JP" sz="1600" b="0" i="0" u="none" strike="noStrike" cap="none">
                          <a:solidFill>
                            <a:schemeClr val="dk1"/>
                          </a:solidFill>
                          <a:latin typeface="Calibri"/>
                          <a:ea typeface="Calibri"/>
                          <a:cs typeface="Calibri"/>
                          <a:sym typeface="Calibri"/>
                        </a:rPr>
                        <a:t>点以上</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受験日から2年</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04000">
                <a:tc>
                  <a:txBody>
                    <a:bodyPr/>
                    <a:lstStyle/>
                    <a:p>
                      <a:pPr marL="0" marR="0" lvl="0" indent="0" algn="r" rtl="0">
                        <a:lnSpc>
                          <a:spcPct val="100000"/>
                        </a:lnSpc>
                        <a:spcBef>
                          <a:spcPts val="0"/>
                        </a:spcBef>
                        <a:spcAft>
                          <a:spcPts val="0"/>
                        </a:spcAft>
                        <a:buClr>
                          <a:srgbClr val="2498DA"/>
                        </a:buClr>
                        <a:buSzPts val="1800"/>
                        <a:buFont typeface="Poppins Medium"/>
                        <a:buNone/>
                      </a:pPr>
                      <a:r>
                        <a:rPr lang="ja-JP" sz="1800" b="0" i="0" u="none" strike="noStrike" cap="none">
                          <a:solidFill>
                            <a:srgbClr val="2498DA"/>
                          </a:solidFill>
                          <a:latin typeface="Poppins Medium"/>
                          <a:ea typeface="Poppins Medium"/>
                          <a:cs typeface="Poppins Medium"/>
                          <a:sym typeface="Poppins Medium"/>
                        </a:rPr>
                        <a:t>TOEFL ITP</a:t>
                      </a:r>
                      <a:endParaRPr sz="14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503</a:t>
                      </a:r>
                      <a:r>
                        <a:rPr lang="ja-JP" sz="1600" b="0" i="0" u="none" strike="noStrike" cap="none">
                          <a:solidFill>
                            <a:schemeClr val="dk1"/>
                          </a:solidFill>
                          <a:latin typeface="Calibri"/>
                          <a:ea typeface="Calibri"/>
                          <a:cs typeface="Calibri"/>
                          <a:sym typeface="Calibri"/>
                        </a:rPr>
                        <a:t>点以上</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受験日から2年</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504000">
                <a:tc>
                  <a:txBody>
                    <a:bodyPr/>
                    <a:lstStyle/>
                    <a:p>
                      <a:pPr marL="0" marR="0" lvl="0" indent="0" algn="r" rtl="0">
                        <a:lnSpc>
                          <a:spcPct val="100000"/>
                        </a:lnSpc>
                        <a:spcBef>
                          <a:spcPts val="0"/>
                        </a:spcBef>
                        <a:spcAft>
                          <a:spcPts val="0"/>
                        </a:spcAft>
                        <a:buClr>
                          <a:srgbClr val="2498DA"/>
                        </a:buClr>
                        <a:buSzPts val="2000"/>
                        <a:buFont typeface="Poppins Medium"/>
                        <a:buNone/>
                      </a:pPr>
                      <a:r>
                        <a:rPr lang="ja-JP" sz="2000" b="0" i="0" u="none" strike="noStrike" cap="none">
                          <a:solidFill>
                            <a:srgbClr val="2498DA"/>
                          </a:solidFill>
                          <a:latin typeface="Poppins Medium"/>
                          <a:ea typeface="Poppins Medium"/>
                          <a:cs typeface="Poppins Medium"/>
                          <a:sym typeface="Poppins Medium"/>
                        </a:rPr>
                        <a:t>IELTS</a:t>
                      </a:r>
                      <a:endParaRPr sz="14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5.5</a:t>
                      </a:r>
                      <a:r>
                        <a:rPr lang="ja-JP" sz="1600" b="0" i="0" u="none" strike="noStrike" cap="none">
                          <a:solidFill>
                            <a:schemeClr val="dk1"/>
                          </a:solidFill>
                          <a:latin typeface="Calibri"/>
                          <a:ea typeface="Calibri"/>
                          <a:cs typeface="Calibri"/>
                          <a:sym typeface="Calibri"/>
                        </a:rPr>
                        <a:t>点以上</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受験日から2年</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1" i="0" u="none" strike="noStrike" cap="none" dirty="0">
                          <a:solidFill>
                            <a:srgbClr val="2498DA"/>
                          </a:solidFill>
                          <a:latin typeface="Calibri"/>
                          <a:ea typeface="Calibri"/>
                          <a:cs typeface="Calibri"/>
                          <a:sym typeface="Calibri"/>
                        </a:rPr>
                        <a:t>英検</a:t>
                      </a:r>
                      <a:endParaRPr sz="1400" u="none" strike="noStrike" cap="none" dirty="0"/>
                    </a:p>
                  </a:txBody>
                  <a:tcPr marL="91450" marR="216000" marT="108000" marB="45725">
                    <a:lnT w="9525"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dirty="0">
                          <a:solidFill>
                            <a:schemeClr val="dk1"/>
                          </a:solidFill>
                          <a:latin typeface="Calibri"/>
                          <a:ea typeface="Calibri"/>
                          <a:cs typeface="Calibri"/>
                          <a:sym typeface="Calibri"/>
                        </a:rPr>
                        <a:t>準1級</a:t>
                      </a:r>
                      <a:r>
                        <a:rPr lang="ja-JP" sz="1600" b="0" i="0" u="none" strike="noStrike" cap="none" dirty="0">
                          <a:solidFill>
                            <a:schemeClr val="dk1"/>
                          </a:solidFill>
                          <a:latin typeface="Calibri"/>
                          <a:ea typeface="Calibri"/>
                          <a:cs typeface="Calibri"/>
                          <a:sym typeface="Calibri"/>
                        </a:rPr>
                        <a:t>以上</a:t>
                      </a:r>
                      <a:endParaRPr sz="1400" u="none" strike="noStrike" cap="none" dirty="0"/>
                    </a:p>
                  </a:txBody>
                  <a:tcPr marL="91450" marR="91450" marT="108000" marB="45725">
                    <a:lnT w="9525"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Calibri"/>
                        <a:buNone/>
                      </a:pPr>
                      <a:r>
                        <a:rPr lang="ja-JP" sz="1800" b="0" i="0" u="none" strike="noStrike" cap="none" dirty="0">
                          <a:solidFill>
                            <a:schemeClr val="dk1"/>
                          </a:solidFill>
                          <a:latin typeface="Calibri"/>
                          <a:ea typeface="Calibri"/>
                          <a:cs typeface="Calibri"/>
                          <a:sym typeface="Calibri"/>
                        </a:rPr>
                        <a:t>なし</a:t>
                      </a:r>
                      <a:endParaRPr sz="1400" u="none" strike="noStrike" cap="none" dirty="0"/>
                    </a:p>
                  </a:txBody>
                  <a:tcPr marL="91450" marR="91450" marT="108000" marB="45725">
                    <a:lnT w="9525"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614" name="Google Shape;614;p27"/>
          <p:cNvSpPr txBox="1"/>
          <p:nvPr/>
        </p:nvSpPr>
        <p:spPr>
          <a:xfrm>
            <a:off x="3551336" y="5763813"/>
            <a:ext cx="4275529" cy="26161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ja-JP" sz="1100" b="1" i="0" u="none" strike="noStrike" cap="none">
                <a:solidFill>
                  <a:srgbClr val="A5A5A5"/>
                </a:solidFill>
                <a:latin typeface="Calibri"/>
                <a:ea typeface="Calibri"/>
                <a:cs typeface="Calibri"/>
                <a:sym typeface="Calibri"/>
              </a:rPr>
              <a:t>研修分野によっては他のスキルも必要とされる場合があります</a:t>
            </a:r>
            <a:endParaRPr sz="1100" b="0" i="0" u="none" strike="noStrike" cap="none">
              <a:solidFill>
                <a:srgbClr val="A5A5A5"/>
              </a:solidFill>
              <a:latin typeface="Calibri"/>
              <a:ea typeface="Calibri"/>
              <a:cs typeface="Calibri"/>
              <a:sym typeface="Calibri"/>
            </a:endParaRPr>
          </a:p>
        </p:txBody>
      </p:sp>
      <p:sp>
        <p:nvSpPr>
          <p:cNvPr id="615" name="Google Shape;615;p27"/>
          <p:cNvSpPr txBox="1"/>
          <p:nvPr/>
        </p:nvSpPr>
        <p:spPr>
          <a:xfrm>
            <a:off x="3833462" y="5526917"/>
            <a:ext cx="3993402" cy="26161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ja-JP" sz="1100" b="1" i="0" u="none" strike="noStrike" cap="none">
                <a:solidFill>
                  <a:srgbClr val="A5A5A5"/>
                </a:solidFill>
                <a:latin typeface="Calibri"/>
                <a:ea typeface="Calibri"/>
                <a:cs typeface="Calibri"/>
                <a:sym typeface="Calibri"/>
              </a:rPr>
              <a:t>以上のいずれかの試験に達していることが必要となります</a:t>
            </a:r>
            <a:endParaRPr sz="1100" b="0" i="0" u="none" strike="noStrike" cap="none">
              <a:solidFill>
                <a:srgbClr val="A5A5A5"/>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g212f2384a0d_0_0"/>
          <p:cNvSpPr/>
          <p:nvPr/>
        </p:nvSpPr>
        <p:spPr>
          <a:xfrm>
            <a:off x="1440000" y="1917000"/>
            <a:ext cx="6264000" cy="470100"/>
          </a:xfrm>
          <a:prstGeom prst="rect">
            <a:avLst/>
          </a:prstGeom>
          <a:gradFill>
            <a:gsLst>
              <a:gs pos="0">
                <a:srgbClr val="185FAE"/>
              </a:gs>
              <a:gs pos="52999">
                <a:srgbClr val="2498DA"/>
              </a:gs>
              <a:gs pos="99000">
                <a:srgbClr val="3EB4A8"/>
              </a:gs>
              <a:gs pos="100000">
                <a:srgbClr val="3EB4A8"/>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g212f2384a0d_0_0"/>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34</a:t>
            </a:fld>
            <a:endParaRPr/>
          </a:p>
        </p:txBody>
      </p:sp>
      <p:sp>
        <p:nvSpPr>
          <p:cNvPr id="622" name="Google Shape;622;g212f2384a0d_0_0"/>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dirty="0"/>
              <a:t>語学試験について（Global Internship</a:t>
            </a:r>
            <a:r>
              <a:rPr lang="ja-JP" altLang="en-US" dirty="0"/>
              <a:t>の場合</a:t>
            </a:r>
            <a:r>
              <a:rPr lang="ja-JP" dirty="0"/>
              <a:t>）</a:t>
            </a:r>
            <a:endParaRPr dirty="0"/>
          </a:p>
        </p:txBody>
      </p:sp>
      <p:graphicFrame>
        <p:nvGraphicFramePr>
          <p:cNvPr id="623" name="Google Shape;623;g212f2384a0d_0_0"/>
          <p:cNvGraphicFramePr/>
          <p:nvPr/>
        </p:nvGraphicFramePr>
        <p:xfrm>
          <a:off x="1440000" y="1917000"/>
          <a:ext cx="6264000" cy="3528000"/>
        </p:xfrm>
        <a:graphic>
          <a:graphicData uri="http://schemas.openxmlformats.org/drawingml/2006/table">
            <a:tbl>
              <a:tblPr firstRow="1" bandRow="1">
                <a:noFill/>
                <a:tableStyleId>{02FEB39E-33E0-4033-A97A-97D64E5FD191}</a:tableStyleId>
              </a:tblPr>
              <a:tblGrid>
                <a:gridCol w="2088000">
                  <a:extLst>
                    <a:ext uri="{9D8B030D-6E8A-4147-A177-3AD203B41FA5}">
                      <a16:colId xmlns:a16="http://schemas.microsoft.com/office/drawing/2014/main" val="20000"/>
                    </a:ext>
                  </a:extLst>
                </a:gridCol>
                <a:gridCol w="2088000">
                  <a:extLst>
                    <a:ext uri="{9D8B030D-6E8A-4147-A177-3AD203B41FA5}">
                      <a16:colId xmlns:a16="http://schemas.microsoft.com/office/drawing/2014/main" val="20001"/>
                    </a:ext>
                  </a:extLst>
                </a:gridCol>
                <a:gridCol w="2088000">
                  <a:extLst>
                    <a:ext uri="{9D8B030D-6E8A-4147-A177-3AD203B41FA5}">
                      <a16:colId xmlns:a16="http://schemas.microsoft.com/office/drawing/2014/main" val="20002"/>
                    </a:ext>
                  </a:extLst>
                </a:gridCol>
              </a:tblGrid>
              <a:tr h="504000">
                <a:tc>
                  <a:txBody>
                    <a:bodyPr/>
                    <a:lstStyle/>
                    <a:p>
                      <a:pPr marL="0" marR="0" lvl="0" indent="0" algn="r" rtl="0">
                        <a:lnSpc>
                          <a:spcPct val="100000"/>
                        </a:lnSpc>
                        <a:spcBef>
                          <a:spcPts val="0"/>
                        </a:spcBef>
                        <a:spcAft>
                          <a:spcPts val="0"/>
                        </a:spcAft>
                        <a:buClr>
                          <a:schemeClr val="dk1"/>
                        </a:buClr>
                        <a:buSzPts val="1800"/>
                        <a:buFont typeface="Calibri"/>
                        <a:buNone/>
                      </a:pPr>
                      <a:endParaRPr sz="1800" b="0" i="0" u="none" strike="noStrike" cap="none">
                        <a:solidFill>
                          <a:srgbClr val="478EB4"/>
                        </a:solidFill>
                        <a:latin typeface="Helvetica Neue Light"/>
                        <a:ea typeface="Helvetica Neue Light"/>
                        <a:cs typeface="Helvetica Neue Light"/>
                        <a:sym typeface="Helvetica Neue Light"/>
                      </a:endParaRPr>
                    </a:p>
                  </a:txBody>
                  <a:tcPr marL="91450" marR="91450" marT="45725" marB="45725">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スコア</a:t>
                      </a:r>
                      <a:endParaRPr sz="1400" u="none" strike="noStrike" cap="none"/>
                    </a:p>
                  </a:txBody>
                  <a:tcPr marL="91450" marR="91450" marT="90000"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有効期限</a:t>
                      </a:r>
                      <a:endParaRPr sz="1400" u="none" strike="noStrike" cap="none"/>
                    </a:p>
                  </a:txBody>
                  <a:tcPr marL="91450" marR="91450" marT="90000" marB="45725">
                    <a:lnL w="9525" cap="flat" cmpd="sng">
                      <a:solidFill>
                        <a:srgbClr val="000000">
                          <a:alpha val="0"/>
                        </a:srgbClr>
                      </a:solidFill>
                      <a:prstDash val="solid"/>
                      <a:round/>
                      <a:headEnd type="none" w="sm" len="sm"/>
                      <a:tailEnd type="none" w="sm" len="sm"/>
                    </a:lnL>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04000">
                <a:tc>
                  <a:txBody>
                    <a:bodyPr/>
                    <a:lstStyle/>
                    <a:p>
                      <a:pPr marL="0" marR="0" lvl="0" indent="0" algn="r" rtl="0">
                        <a:lnSpc>
                          <a:spcPct val="100000"/>
                        </a:lnSpc>
                        <a:spcBef>
                          <a:spcPts val="0"/>
                        </a:spcBef>
                        <a:spcAft>
                          <a:spcPts val="0"/>
                        </a:spcAft>
                        <a:buClr>
                          <a:srgbClr val="2498DA"/>
                        </a:buClr>
                        <a:buSzPts val="1800"/>
                        <a:buFont typeface="Poppins Medium"/>
                        <a:buNone/>
                      </a:pPr>
                      <a:r>
                        <a:rPr lang="ja-JP" sz="1800" b="0" i="0" u="none" strike="noStrike" cap="none">
                          <a:solidFill>
                            <a:srgbClr val="2498DA"/>
                          </a:solidFill>
                          <a:latin typeface="Poppins Medium"/>
                          <a:ea typeface="Poppins Medium"/>
                          <a:cs typeface="Poppins Medium"/>
                          <a:sym typeface="Poppins Medium"/>
                        </a:rPr>
                        <a:t>TOEIC SW</a:t>
                      </a:r>
                      <a:endParaRPr sz="18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000000">
                          <a:alpha val="0"/>
                        </a:srgbClr>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ja-JP" sz="1600" u="none" strike="noStrike" cap="none"/>
                        <a:t>300</a:t>
                      </a:r>
                      <a:r>
                        <a:rPr lang="ja-JP" sz="1600" b="0" i="0" u="none" strike="noStrike" cap="none">
                          <a:solidFill>
                            <a:schemeClr val="dk1"/>
                          </a:solidFill>
                          <a:latin typeface="Calibri"/>
                          <a:ea typeface="Calibri"/>
                          <a:cs typeface="Calibri"/>
                          <a:sym typeface="Calibri"/>
                        </a:rPr>
                        <a:t>点以上</a:t>
                      </a:r>
                      <a:endParaRPr sz="1400" u="none" strike="noStrike" cap="none"/>
                    </a:p>
                  </a:txBody>
                  <a:tcPr marL="91450" marR="91450" marT="108000" marB="45725">
                    <a:lnT w="9525" cap="flat" cmpd="sng">
                      <a:solidFill>
                        <a:srgbClr val="000000">
                          <a:alpha val="0"/>
                        </a:srgbClr>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なし</a:t>
                      </a:r>
                      <a:endParaRPr sz="1400" u="none" strike="noStrike" cap="none"/>
                    </a:p>
                  </a:txBody>
                  <a:tcPr marL="91450" marR="91450" marT="108000" marB="45725">
                    <a:lnT w="9525" cap="flat" cmpd="sng">
                      <a:solidFill>
                        <a:srgbClr val="000000">
                          <a:alpha val="0"/>
                        </a:srgbClr>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504000">
                <a:tc>
                  <a:txBody>
                    <a:bodyPr/>
                    <a:lstStyle/>
                    <a:p>
                      <a:pPr marL="0" marR="0" lvl="0" indent="0" algn="r" rtl="0">
                        <a:lnSpc>
                          <a:spcPct val="100000"/>
                        </a:lnSpc>
                        <a:spcBef>
                          <a:spcPts val="0"/>
                        </a:spcBef>
                        <a:spcAft>
                          <a:spcPts val="0"/>
                        </a:spcAft>
                        <a:buClr>
                          <a:srgbClr val="2498DA"/>
                        </a:buClr>
                        <a:buSzPts val="1800"/>
                        <a:buFont typeface="Poppins Medium"/>
                        <a:buNone/>
                      </a:pPr>
                      <a:r>
                        <a:rPr lang="ja-JP" sz="1800" b="0" i="0" u="none" strike="noStrike" cap="none">
                          <a:solidFill>
                            <a:srgbClr val="2498DA"/>
                          </a:solidFill>
                          <a:latin typeface="Poppins Medium"/>
                          <a:ea typeface="Poppins Medium"/>
                          <a:cs typeface="Poppins Medium"/>
                          <a:sym typeface="Poppins Medium"/>
                        </a:rPr>
                        <a:t>TOEIC LR</a:t>
                      </a:r>
                      <a:endParaRPr sz="18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ja-JP" sz="1600" u="none" strike="noStrike" cap="none"/>
                        <a:t>800</a:t>
                      </a:r>
                      <a:r>
                        <a:rPr lang="ja-JP" sz="1600" b="0" i="0" u="none" strike="noStrike" cap="none">
                          <a:solidFill>
                            <a:schemeClr val="dk1"/>
                          </a:solidFill>
                          <a:latin typeface="Calibri"/>
                          <a:ea typeface="Calibri"/>
                          <a:cs typeface="Calibri"/>
                          <a:sym typeface="Calibri"/>
                        </a:rPr>
                        <a:t>点以上</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なし</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0" i="0" u="none" strike="noStrike" cap="none">
                          <a:solidFill>
                            <a:srgbClr val="2498DA"/>
                          </a:solidFill>
                          <a:latin typeface="Poppins Medium"/>
                          <a:ea typeface="Poppins Medium"/>
                          <a:cs typeface="Poppins Medium"/>
                          <a:sym typeface="Poppins Medium"/>
                        </a:rPr>
                        <a:t>TOEFL iBT</a:t>
                      </a:r>
                      <a:endParaRPr sz="18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u="none" strike="noStrike" cap="none"/>
                        <a:t>88</a:t>
                      </a:r>
                      <a:r>
                        <a:rPr lang="ja-JP" sz="1600" b="0" i="0" u="none" strike="noStrike" cap="none">
                          <a:solidFill>
                            <a:schemeClr val="dk1"/>
                          </a:solidFill>
                          <a:latin typeface="Calibri"/>
                          <a:ea typeface="Calibri"/>
                          <a:cs typeface="Calibri"/>
                          <a:sym typeface="Calibri"/>
                        </a:rPr>
                        <a:t>点以上</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受験日から2年</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04000">
                <a:tc>
                  <a:txBody>
                    <a:bodyPr/>
                    <a:lstStyle/>
                    <a:p>
                      <a:pPr marL="0" marR="0" lvl="0" indent="0" algn="r" rtl="0">
                        <a:lnSpc>
                          <a:spcPct val="100000"/>
                        </a:lnSpc>
                        <a:spcBef>
                          <a:spcPts val="0"/>
                        </a:spcBef>
                        <a:spcAft>
                          <a:spcPts val="0"/>
                        </a:spcAft>
                        <a:buClr>
                          <a:srgbClr val="2498DA"/>
                        </a:buClr>
                        <a:buSzPts val="1800"/>
                        <a:buFont typeface="Poppins Medium"/>
                        <a:buNone/>
                      </a:pPr>
                      <a:r>
                        <a:rPr lang="ja-JP" sz="1800" b="0" i="0" u="none" strike="noStrike" cap="none">
                          <a:solidFill>
                            <a:srgbClr val="2498DA"/>
                          </a:solidFill>
                          <a:latin typeface="Poppins Medium"/>
                          <a:ea typeface="Poppins Medium"/>
                          <a:cs typeface="Poppins Medium"/>
                          <a:sym typeface="Poppins Medium"/>
                        </a:rPr>
                        <a:t>TOEFL ITP</a:t>
                      </a:r>
                      <a:endParaRPr sz="14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5</a:t>
                      </a:r>
                      <a:r>
                        <a:rPr lang="ja-JP" sz="1800" u="none" strike="noStrike" cap="none"/>
                        <a:t>70</a:t>
                      </a:r>
                      <a:r>
                        <a:rPr lang="ja-JP" sz="1600" b="0" i="0" u="none" strike="noStrike" cap="none">
                          <a:solidFill>
                            <a:schemeClr val="dk1"/>
                          </a:solidFill>
                          <a:latin typeface="Calibri"/>
                          <a:ea typeface="Calibri"/>
                          <a:cs typeface="Calibri"/>
                          <a:sym typeface="Calibri"/>
                        </a:rPr>
                        <a:t>点以上</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受験日から2年</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504000">
                <a:tc>
                  <a:txBody>
                    <a:bodyPr/>
                    <a:lstStyle/>
                    <a:p>
                      <a:pPr marL="0" marR="0" lvl="0" indent="0" algn="r" rtl="0">
                        <a:lnSpc>
                          <a:spcPct val="100000"/>
                        </a:lnSpc>
                        <a:spcBef>
                          <a:spcPts val="0"/>
                        </a:spcBef>
                        <a:spcAft>
                          <a:spcPts val="0"/>
                        </a:spcAft>
                        <a:buClr>
                          <a:srgbClr val="2498DA"/>
                        </a:buClr>
                        <a:buSzPts val="2000"/>
                        <a:buFont typeface="Poppins Medium"/>
                        <a:buNone/>
                      </a:pPr>
                      <a:r>
                        <a:rPr lang="ja-JP" sz="2000" b="0" i="0" u="none" strike="noStrike" cap="none">
                          <a:solidFill>
                            <a:srgbClr val="2498DA"/>
                          </a:solidFill>
                          <a:latin typeface="Poppins Medium"/>
                          <a:ea typeface="Poppins Medium"/>
                          <a:cs typeface="Poppins Medium"/>
                          <a:sym typeface="Poppins Medium"/>
                        </a:rPr>
                        <a:t>IELTS</a:t>
                      </a:r>
                      <a:endParaRPr sz="1400" b="0" i="0" u="none" strike="noStrike" cap="none">
                        <a:solidFill>
                          <a:srgbClr val="2498DA"/>
                        </a:solidFill>
                        <a:latin typeface="Poppins Medium"/>
                        <a:ea typeface="Poppins Medium"/>
                        <a:cs typeface="Poppins Medium"/>
                        <a:sym typeface="Poppins Medium"/>
                      </a:endParaRPr>
                    </a:p>
                  </a:txBody>
                  <a:tcPr marL="91450" marR="21600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u="none" strike="noStrike" cap="none"/>
                        <a:t>6.5</a:t>
                      </a:r>
                      <a:r>
                        <a:rPr lang="ja-JP" sz="1600" b="0" i="0" u="none" strike="noStrike" cap="none">
                          <a:solidFill>
                            <a:schemeClr val="dk1"/>
                          </a:solidFill>
                          <a:latin typeface="Calibri"/>
                          <a:ea typeface="Calibri"/>
                          <a:cs typeface="Calibri"/>
                          <a:sym typeface="Calibri"/>
                        </a:rPr>
                        <a:t>点以上</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受験日から2年</a:t>
                      </a:r>
                      <a:endParaRPr sz="1400" u="none" strike="noStrike" cap="none"/>
                    </a:p>
                  </a:txBody>
                  <a:tcPr marL="91450" marR="91450" marT="108000" marB="45725">
                    <a:lnT w="9525" cap="flat" cmpd="sng">
                      <a:solidFill>
                        <a:srgbClr val="2498DA"/>
                      </a:solidFill>
                      <a:prstDash val="solid"/>
                      <a:round/>
                      <a:headEnd type="none" w="sm" len="sm"/>
                      <a:tailEnd type="none" w="sm" len="sm"/>
                    </a:lnT>
                    <a:lnB w="9525"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504000">
                <a:tc>
                  <a:txBody>
                    <a:bodyPr/>
                    <a:lstStyle/>
                    <a:p>
                      <a:pPr marL="0" marR="0" lvl="0" indent="0" algn="r" rtl="0">
                        <a:lnSpc>
                          <a:spcPct val="100000"/>
                        </a:lnSpc>
                        <a:spcBef>
                          <a:spcPts val="0"/>
                        </a:spcBef>
                        <a:spcAft>
                          <a:spcPts val="0"/>
                        </a:spcAft>
                        <a:buClr>
                          <a:srgbClr val="000000"/>
                        </a:buClr>
                        <a:buSzPts val="1800"/>
                        <a:buFont typeface="Arial"/>
                        <a:buNone/>
                      </a:pPr>
                      <a:r>
                        <a:rPr lang="ja-JP" sz="1800" b="1" i="0" u="none" strike="noStrike" cap="none">
                          <a:solidFill>
                            <a:srgbClr val="2498DA"/>
                          </a:solidFill>
                          <a:latin typeface="Calibri"/>
                          <a:ea typeface="Calibri"/>
                          <a:cs typeface="Calibri"/>
                          <a:sym typeface="Calibri"/>
                        </a:rPr>
                        <a:t>英検</a:t>
                      </a:r>
                      <a:endParaRPr sz="1400" u="none" strike="noStrike" cap="none"/>
                    </a:p>
                  </a:txBody>
                  <a:tcPr marL="91450" marR="216000" marT="108000" marB="45725">
                    <a:lnT w="9525"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sz="1800" b="0" i="0" u="none" strike="noStrike" cap="none">
                          <a:solidFill>
                            <a:schemeClr val="dk1"/>
                          </a:solidFill>
                          <a:latin typeface="Calibri"/>
                          <a:ea typeface="Calibri"/>
                          <a:cs typeface="Calibri"/>
                          <a:sym typeface="Calibri"/>
                        </a:rPr>
                        <a:t>準1級</a:t>
                      </a:r>
                      <a:r>
                        <a:rPr lang="ja-JP" sz="1600" b="0" i="0" u="none" strike="noStrike" cap="none">
                          <a:solidFill>
                            <a:schemeClr val="dk1"/>
                          </a:solidFill>
                          <a:latin typeface="Calibri"/>
                          <a:ea typeface="Calibri"/>
                          <a:cs typeface="Calibri"/>
                          <a:sym typeface="Calibri"/>
                        </a:rPr>
                        <a:t>以上</a:t>
                      </a:r>
                      <a:endParaRPr sz="1400" u="none" strike="noStrike" cap="none"/>
                    </a:p>
                  </a:txBody>
                  <a:tcPr marL="91450" marR="91450" marT="108000" marB="45725">
                    <a:lnT w="9525"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800"/>
                        <a:buFont typeface="Calibri"/>
                        <a:buNone/>
                      </a:pPr>
                      <a:r>
                        <a:rPr lang="ja-JP" sz="1800" b="0" i="0" u="none" strike="noStrike" cap="none" dirty="0">
                          <a:solidFill>
                            <a:schemeClr val="dk1"/>
                          </a:solidFill>
                          <a:latin typeface="Calibri"/>
                          <a:ea typeface="Calibri"/>
                          <a:cs typeface="Calibri"/>
                          <a:sym typeface="Calibri"/>
                        </a:rPr>
                        <a:t>なし</a:t>
                      </a:r>
                      <a:endParaRPr sz="1400" u="none" strike="noStrike" cap="none" dirty="0"/>
                    </a:p>
                  </a:txBody>
                  <a:tcPr marL="91450" marR="91450" marT="108000" marB="45725">
                    <a:lnT w="9525" cap="flat" cmpd="sng">
                      <a:solidFill>
                        <a:srgbClr val="2498DA"/>
                      </a:solidFill>
                      <a:prstDash val="solid"/>
                      <a:round/>
                      <a:headEnd type="none" w="sm" len="sm"/>
                      <a:tailEnd type="none" w="sm" len="sm"/>
                    </a:lnT>
                    <a:lnB w="19050" cap="flat" cmpd="sng">
                      <a:solidFill>
                        <a:srgbClr val="2498DA"/>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624" name="Google Shape;624;g212f2384a0d_0_0"/>
          <p:cNvSpPr txBox="1"/>
          <p:nvPr/>
        </p:nvSpPr>
        <p:spPr>
          <a:xfrm>
            <a:off x="3551336" y="5763813"/>
            <a:ext cx="4275600" cy="261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ja-JP" sz="1100" b="1" i="0" u="none" strike="noStrike" cap="none">
                <a:solidFill>
                  <a:srgbClr val="A5A5A5"/>
                </a:solidFill>
                <a:latin typeface="Calibri"/>
                <a:ea typeface="Calibri"/>
                <a:cs typeface="Calibri"/>
                <a:sym typeface="Calibri"/>
              </a:rPr>
              <a:t>研修分野によっては他のスキルも必要とされる場合があります</a:t>
            </a:r>
            <a:endParaRPr sz="1100" b="0" i="0" u="none" strike="noStrike" cap="none">
              <a:solidFill>
                <a:srgbClr val="A5A5A5"/>
              </a:solidFill>
              <a:latin typeface="Calibri"/>
              <a:ea typeface="Calibri"/>
              <a:cs typeface="Calibri"/>
              <a:sym typeface="Calibri"/>
            </a:endParaRPr>
          </a:p>
        </p:txBody>
      </p:sp>
      <p:sp>
        <p:nvSpPr>
          <p:cNvPr id="625" name="Google Shape;625;g212f2384a0d_0_0"/>
          <p:cNvSpPr txBox="1"/>
          <p:nvPr/>
        </p:nvSpPr>
        <p:spPr>
          <a:xfrm>
            <a:off x="3833462" y="5526917"/>
            <a:ext cx="3993300" cy="2616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100"/>
              <a:buFont typeface="Arial"/>
              <a:buNone/>
            </a:pPr>
            <a:r>
              <a:rPr lang="ja-JP" sz="1100" b="1" i="0" u="none" strike="noStrike" cap="none">
                <a:solidFill>
                  <a:srgbClr val="A5A5A5"/>
                </a:solidFill>
                <a:latin typeface="Calibri"/>
                <a:ea typeface="Calibri"/>
                <a:cs typeface="Calibri"/>
                <a:sym typeface="Calibri"/>
              </a:rPr>
              <a:t>以上のいずれかの試験に達していることが必要となります</a:t>
            </a:r>
            <a:endParaRPr sz="1100" b="0" i="0" u="none" strike="noStrike" cap="none">
              <a:solidFill>
                <a:srgbClr val="A5A5A5"/>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grpSp>
        <p:nvGrpSpPr>
          <p:cNvPr id="630" name="Google Shape;630;p28"/>
          <p:cNvGrpSpPr/>
          <p:nvPr/>
        </p:nvGrpSpPr>
        <p:grpSpPr>
          <a:xfrm>
            <a:off x="5478955" y="1409529"/>
            <a:ext cx="612719" cy="4431979"/>
            <a:chOff x="4965737" y="1933276"/>
            <a:chExt cx="612719" cy="4431979"/>
          </a:xfrm>
        </p:grpSpPr>
        <p:cxnSp>
          <p:nvCxnSpPr>
            <p:cNvPr id="631" name="Google Shape;631;p28"/>
            <p:cNvCxnSpPr/>
            <p:nvPr/>
          </p:nvCxnSpPr>
          <p:spPr>
            <a:xfrm>
              <a:off x="5244495" y="2174171"/>
              <a:ext cx="0" cy="4191084"/>
            </a:xfrm>
            <a:prstGeom prst="straightConnector1">
              <a:avLst/>
            </a:prstGeom>
            <a:noFill/>
            <a:ln w="12700" cap="flat" cmpd="sng">
              <a:solidFill>
                <a:srgbClr val="FECE00"/>
              </a:solidFill>
              <a:prstDash val="solid"/>
              <a:miter lim="800000"/>
              <a:headEnd type="none" w="sm" len="sm"/>
              <a:tailEnd type="none" w="sm" len="sm"/>
            </a:ln>
          </p:spPr>
        </p:cxnSp>
        <p:sp>
          <p:nvSpPr>
            <p:cNvPr id="632" name="Google Shape;632;p28"/>
            <p:cNvSpPr/>
            <p:nvPr/>
          </p:nvSpPr>
          <p:spPr>
            <a:xfrm>
              <a:off x="4966628" y="418164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633" name="Google Shape;633;p28"/>
            <p:cNvSpPr/>
            <p:nvPr/>
          </p:nvSpPr>
          <p:spPr>
            <a:xfrm>
              <a:off x="4965737" y="193327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634" name="Google Shape;634;p28"/>
            <p:cNvSpPr txBox="1"/>
            <p:nvPr/>
          </p:nvSpPr>
          <p:spPr>
            <a:xfrm>
              <a:off x="5020290" y="2038968"/>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Poppins"/>
                  <a:ea typeface="Poppins"/>
                  <a:cs typeface="Poppins"/>
                  <a:sym typeface="Poppins"/>
                </a:rPr>
                <a:t>2</a:t>
              </a:r>
              <a:r>
                <a:rPr lang="ja-JP" sz="18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635" name="Google Shape;635;p28"/>
            <p:cNvSpPr/>
            <p:nvPr/>
          </p:nvSpPr>
          <p:spPr>
            <a:xfrm>
              <a:off x="4966628" y="3053407"/>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636" name="Google Shape;636;p28"/>
            <p:cNvSpPr txBox="1"/>
            <p:nvPr/>
          </p:nvSpPr>
          <p:spPr>
            <a:xfrm>
              <a:off x="5012718" y="3147242"/>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4月</a:t>
              </a:r>
              <a:endParaRPr sz="1400" b="0" i="0" u="none" strike="noStrike" cap="none">
                <a:solidFill>
                  <a:srgbClr val="000000"/>
                </a:solidFill>
                <a:latin typeface="Arial"/>
                <a:ea typeface="Arial"/>
                <a:cs typeface="Arial"/>
                <a:sym typeface="Arial"/>
              </a:endParaRPr>
            </a:p>
          </p:txBody>
        </p:sp>
      </p:grpSp>
      <p:sp>
        <p:nvSpPr>
          <p:cNvPr id="637" name="Google Shape;637;p28"/>
          <p:cNvSpPr/>
          <p:nvPr/>
        </p:nvSpPr>
        <p:spPr>
          <a:xfrm>
            <a:off x="6201144" y="1474703"/>
            <a:ext cx="1845172" cy="1928572"/>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638" name="Google Shape;638;p28"/>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35</a:t>
            </a:fld>
            <a:endParaRPr/>
          </a:p>
        </p:txBody>
      </p:sp>
      <p:sp>
        <p:nvSpPr>
          <p:cNvPr id="640" name="Google Shape;640;p28"/>
          <p:cNvSpPr/>
          <p:nvPr/>
        </p:nvSpPr>
        <p:spPr>
          <a:xfrm>
            <a:off x="6201144" y="3804563"/>
            <a:ext cx="1794047" cy="844706"/>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i="0" u="none" strike="noStrike" cap="none"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準備会</a:t>
            </a:r>
            <a:endParaRPr sz="1800" b="1" i="0" u="none" strike="noStrike" cap="none"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dirty="0">
                <a:solidFill>
                  <a:schemeClr val="lt1"/>
                </a:solidFill>
                <a:latin typeface="Calibri"/>
                <a:ea typeface="Calibri"/>
                <a:cs typeface="Calibri"/>
                <a:sym typeface="Calibri"/>
              </a:rPr>
              <a:t>（研修前準備）</a:t>
            </a:r>
            <a:endParaRPr sz="1800" b="1" i="0" u="none" strike="noStrike" cap="none" dirty="0">
              <a:solidFill>
                <a:schemeClr val="lt1"/>
              </a:solidFill>
              <a:latin typeface="Calibri"/>
              <a:ea typeface="Calibri"/>
              <a:cs typeface="Calibri"/>
              <a:sym typeface="Calibri"/>
            </a:endParaRPr>
          </a:p>
        </p:txBody>
      </p:sp>
      <p:sp>
        <p:nvSpPr>
          <p:cNvPr id="641" name="Google Shape;641;p28"/>
          <p:cNvSpPr/>
          <p:nvPr/>
        </p:nvSpPr>
        <p:spPr>
          <a:xfrm>
            <a:off x="6193447" y="4719043"/>
            <a:ext cx="1801744" cy="117471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研修開始</a:t>
            </a:r>
            <a:endParaRPr sz="1800" b="1" i="0" u="none" strike="noStrike" cap="none">
              <a:solidFill>
                <a:schemeClr val="lt1"/>
              </a:solidFill>
              <a:latin typeface="Calibri"/>
              <a:ea typeface="Calibri"/>
              <a:cs typeface="Calibri"/>
              <a:sym typeface="Calibri"/>
            </a:endParaRPr>
          </a:p>
        </p:txBody>
      </p:sp>
      <p:sp>
        <p:nvSpPr>
          <p:cNvPr id="656" name="Google Shape;656;p28"/>
          <p:cNvSpPr txBox="1"/>
          <p:nvPr/>
        </p:nvSpPr>
        <p:spPr>
          <a:xfrm>
            <a:off x="5515767" y="3758056"/>
            <a:ext cx="685377"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1" i="0" u="none" strike="noStrike" cap="none">
                <a:solidFill>
                  <a:schemeClr val="lt1"/>
                </a:solidFill>
                <a:latin typeface="Poppins"/>
                <a:ea typeface="Poppins"/>
                <a:cs typeface="Poppins"/>
                <a:sym typeface="Poppins"/>
              </a:rPr>
              <a:t>６</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658" name="Google Shape;658;p28"/>
          <p:cNvSpPr txBox="1"/>
          <p:nvPr/>
        </p:nvSpPr>
        <p:spPr>
          <a:xfrm>
            <a:off x="6494874" y="1815659"/>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マッチング</a:t>
            </a:r>
            <a:endParaRPr sz="1400" b="0" i="0" u="none" strike="noStrike" cap="none">
              <a:solidFill>
                <a:srgbClr val="000000"/>
              </a:solidFill>
              <a:latin typeface="Arial"/>
              <a:ea typeface="Arial"/>
              <a:cs typeface="Arial"/>
              <a:sym typeface="Arial"/>
            </a:endParaRPr>
          </a:p>
        </p:txBody>
      </p:sp>
      <p:sp>
        <p:nvSpPr>
          <p:cNvPr id="659" name="Google Shape;659;p28"/>
          <p:cNvSpPr txBox="1"/>
          <p:nvPr/>
        </p:nvSpPr>
        <p:spPr>
          <a:xfrm>
            <a:off x="6480262" y="2748707"/>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altLang="en-US" sz="1800" b="1" i="0" u="none" strike="noStrike" cap="none"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先決定</a:t>
            </a:r>
            <a:endParaRPr sz="1400" b="0" i="0" u="none" strike="noStrike" cap="none" dirty="0">
              <a:solidFill>
                <a:srgbClr val="000000"/>
              </a:solidFill>
              <a:latin typeface="Arial"/>
              <a:ea typeface="Arial"/>
              <a:cs typeface="Arial"/>
              <a:sym typeface="Arial"/>
            </a:endParaRPr>
          </a:p>
        </p:txBody>
      </p:sp>
      <p:sp>
        <p:nvSpPr>
          <p:cNvPr id="660" name="Google Shape;660;p28"/>
          <p:cNvSpPr/>
          <p:nvPr/>
        </p:nvSpPr>
        <p:spPr>
          <a:xfrm rot="10800000">
            <a:off x="7060928" y="2363030"/>
            <a:ext cx="177496" cy="16196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28"/>
          <p:cNvSpPr txBox="1"/>
          <p:nvPr/>
        </p:nvSpPr>
        <p:spPr>
          <a:xfrm>
            <a:off x="4554727" y="1461025"/>
            <a:ext cx="8148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a:t>
            </a:r>
            <a:r>
              <a:rPr lang="ja-JP" sz="2000">
                <a:solidFill>
                  <a:schemeClr val="dk1"/>
                </a:solidFill>
                <a:latin typeface="Poppins Medium"/>
                <a:ea typeface="Poppins Medium"/>
                <a:cs typeface="Poppins Medium"/>
                <a:sym typeface="Poppins Medium"/>
              </a:rPr>
              <a:t>5</a:t>
            </a:r>
            <a:endParaRPr sz="2000" b="0" i="0" u="none" strike="noStrike" cap="none">
              <a:solidFill>
                <a:schemeClr val="dk1"/>
              </a:solidFill>
              <a:latin typeface="Poppins Medium"/>
              <a:ea typeface="Poppins Medium"/>
              <a:cs typeface="Poppins Medium"/>
              <a:sym typeface="Poppins Medium"/>
            </a:endParaRPr>
          </a:p>
        </p:txBody>
      </p:sp>
      <p:sp>
        <p:nvSpPr>
          <p:cNvPr id="662" name="Google Shape;662;p28"/>
          <p:cNvSpPr txBox="1">
            <a:spLocks noGrp="1"/>
          </p:cNvSpPr>
          <p:nvPr>
            <p:ph type="title"/>
          </p:nvPr>
        </p:nvSpPr>
        <p:spPr>
          <a:xfrm>
            <a:off x="229650" y="0"/>
            <a:ext cx="7949149"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ltLang="en-US" dirty="0"/>
              <a:t>応募から研修までの流れ 　（</a:t>
            </a:r>
            <a:r>
              <a:rPr lang="en-US" altLang="ja-JP" dirty="0"/>
              <a:t>9</a:t>
            </a:r>
            <a:r>
              <a:rPr lang="ja-JP" altLang="en-US" dirty="0"/>
              <a:t>月応募の</a:t>
            </a:r>
            <a:r>
              <a:rPr lang="en-US" altLang="ja-JP" dirty="0"/>
              <a:t>Exchange Internship </a:t>
            </a:r>
            <a:r>
              <a:rPr lang="ja-JP" altLang="en-US" dirty="0"/>
              <a:t>の場合）</a:t>
            </a:r>
            <a:endParaRPr dirty="0"/>
          </a:p>
        </p:txBody>
      </p:sp>
      <p:sp>
        <p:nvSpPr>
          <p:cNvPr id="663" name="Google Shape;663;p28"/>
          <p:cNvSpPr/>
          <p:nvPr/>
        </p:nvSpPr>
        <p:spPr>
          <a:xfrm>
            <a:off x="6137448" y="3581313"/>
            <a:ext cx="1967165" cy="2354861"/>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 name="Google Shape;508;p23">
            <a:extLst>
              <a:ext uri="{FF2B5EF4-FFF2-40B4-BE49-F238E27FC236}">
                <a16:creationId xmlns:a16="http://schemas.microsoft.com/office/drawing/2014/main" id="{A4087C81-87B2-F7A3-5484-76975B440706}"/>
              </a:ext>
            </a:extLst>
          </p:cNvPr>
          <p:cNvGrpSpPr/>
          <p:nvPr/>
        </p:nvGrpSpPr>
        <p:grpSpPr>
          <a:xfrm>
            <a:off x="1296021" y="1388421"/>
            <a:ext cx="687852" cy="4547754"/>
            <a:chOff x="978724" y="1817501"/>
            <a:chExt cx="687852" cy="4547754"/>
          </a:xfrm>
        </p:grpSpPr>
        <p:cxnSp>
          <p:nvCxnSpPr>
            <p:cNvPr id="3" name="Google Shape;509;p23">
              <a:extLst>
                <a:ext uri="{FF2B5EF4-FFF2-40B4-BE49-F238E27FC236}">
                  <a16:creationId xmlns:a16="http://schemas.microsoft.com/office/drawing/2014/main" id="{7145EBD2-1C17-792C-8CEF-77A538AE57C1}"/>
                </a:ext>
              </a:extLst>
            </p:cNvPr>
            <p:cNvCxnSpPr/>
            <p:nvPr/>
          </p:nvCxnSpPr>
          <p:spPr>
            <a:xfrm>
              <a:off x="1273046" y="2087501"/>
              <a:ext cx="0" cy="4277754"/>
            </a:xfrm>
            <a:prstGeom prst="straightConnector1">
              <a:avLst/>
            </a:prstGeom>
            <a:noFill/>
            <a:ln w="12700" cap="flat" cmpd="sng">
              <a:solidFill>
                <a:srgbClr val="FECE00"/>
              </a:solidFill>
              <a:prstDash val="solid"/>
              <a:miter lim="800000"/>
              <a:headEnd type="none" w="sm" len="sm"/>
              <a:tailEnd type="none" w="sm" len="sm"/>
            </a:ln>
          </p:spPr>
        </p:cxnSp>
        <p:sp>
          <p:nvSpPr>
            <p:cNvPr id="4" name="Google Shape;510;p23">
              <a:extLst>
                <a:ext uri="{FF2B5EF4-FFF2-40B4-BE49-F238E27FC236}">
                  <a16:creationId xmlns:a16="http://schemas.microsoft.com/office/drawing/2014/main" id="{4D41AA2F-AD04-8FC4-027A-11D72F22E6C9}"/>
                </a:ext>
              </a:extLst>
            </p:cNvPr>
            <p:cNvSpPr/>
            <p:nvPr/>
          </p:nvSpPr>
          <p:spPr>
            <a:xfrm>
              <a:off x="1015371" y="497331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 name="Google Shape;512;p23">
              <a:extLst>
                <a:ext uri="{FF2B5EF4-FFF2-40B4-BE49-F238E27FC236}">
                  <a16:creationId xmlns:a16="http://schemas.microsoft.com/office/drawing/2014/main" id="{C13D7E46-BA40-BE1E-F17A-ED3C9E1C770E}"/>
                </a:ext>
              </a:extLst>
            </p:cNvPr>
            <p:cNvSpPr/>
            <p:nvPr/>
          </p:nvSpPr>
          <p:spPr>
            <a:xfrm>
              <a:off x="1032027" y="390736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6" name="Google Shape;513;p23">
              <a:extLst>
                <a:ext uri="{FF2B5EF4-FFF2-40B4-BE49-F238E27FC236}">
                  <a16:creationId xmlns:a16="http://schemas.microsoft.com/office/drawing/2014/main" id="{99E43404-E982-27D0-59C5-D46983051E8A}"/>
                </a:ext>
              </a:extLst>
            </p:cNvPr>
            <p:cNvSpPr/>
            <p:nvPr/>
          </p:nvSpPr>
          <p:spPr>
            <a:xfrm>
              <a:off x="1021086" y="2564525"/>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7" name="Google Shape;514;p23">
              <a:extLst>
                <a:ext uri="{FF2B5EF4-FFF2-40B4-BE49-F238E27FC236}">
                  <a16:creationId xmlns:a16="http://schemas.microsoft.com/office/drawing/2014/main" id="{82211AC2-D639-B72C-56A9-6A2B0E1E2BEE}"/>
                </a:ext>
              </a:extLst>
            </p:cNvPr>
            <p:cNvSpPr/>
            <p:nvPr/>
          </p:nvSpPr>
          <p:spPr>
            <a:xfrm>
              <a:off x="1016427" y="181750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8" name="Google Shape;515;p23">
              <a:extLst>
                <a:ext uri="{FF2B5EF4-FFF2-40B4-BE49-F238E27FC236}">
                  <a16:creationId xmlns:a16="http://schemas.microsoft.com/office/drawing/2014/main" id="{3A3C9683-8660-81EC-7DC8-B192412F7B15}"/>
                </a:ext>
              </a:extLst>
            </p:cNvPr>
            <p:cNvSpPr txBox="1"/>
            <p:nvPr/>
          </p:nvSpPr>
          <p:spPr>
            <a:xfrm>
              <a:off x="1051624" y="1917822"/>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5</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9" name="Google Shape;516;p23">
              <a:extLst>
                <a:ext uri="{FF2B5EF4-FFF2-40B4-BE49-F238E27FC236}">
                  <a16:creationId xmlns:a16="http://schemas.microsoft.com/office/drawing/2014/main" id="{3500F11C-AE87-EF8D-9392-6C0F467D2564}"/>
                </a:ext>
              </a:extLst>
            </p:cNvPr>
            <p:cNvSpPr txBox="1"/>
            <p:nvPr/>
          </p:nvSpPr>
          <p:spPr>
            <a:xfrm>
              <a:off x="1074211" y="2668639"/>
              <a:ext cx="48122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7</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10" name="Google Shape;519;p23">
              <a:extLst>
                <a:ext uri="{FF2B5EF4-FFF2-40B4-BE49-F238E27FC236}">
                  <a16:creationId xmlns:a16="http://schemas.microsoft.com/office/drawing/2014/main" id="{5F603168-1F3E-2C64-D2A1-ED16FB68483B}"/>
                </a:ext>
              </a:extLst>
            </p:cNvPr>
            <p:cNvSpPr txBox="1"/>
            <p:nvPr/>
          </p:nvSpPr>
          <p:spPr>
            <a:xfrm>
              <a:off x="978724" y="5062831"/>
              <a:ext cx="62388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dirty="0">
                  <a:solidFill>
                    <a:schemeClr val="lt1"/>
                  </a:solidFill>
                  <a:latin typeface="Poppins"/>
                  <a:ea typeface="Poppins"/>
                  <a:cs typeface="Poppins"/>
                  <a:sym typeface="Poppins"/>
                </a:rPr>
                <a:t>1</a:t>
              </a:r>
              <a:r>
                <a:rPr lang="en-US" altLang="ja-JP" sz="1800" b="0" i="0" u="none" strike="noStrike" cap="none" dirty="0">
                  <a:solidFill>
                    <a:schemeClr val="lt1"/>
                  </a:solidFill>
                  <a:latin typeface="Poppins"/>
                  <a:ea typeface="Poppins"/>
                  <a:cs typeface="Poppins"/>
                  <a:sym typeface="Poppins"/>
                </a:rPr>
                <a:t>0</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sp>
          <p:nvSpPr>
            <p:cNvPr id="11" name="Google Shape;518;p23">
              <a:extLst>
                <a:ext uri="{FF2B5EF4-FFF2-40B4-BE49-F238E27FC236}">
                  <a16:creationId xmlns:a16="http://schemas.microsoft.com/office/drawing/2014/main" id="{072F3E76-A6AA-9D3D-1B00-96E0979E1B60}"/>
                </a:ext>
              </a:extLst>
            </p:cNvPr>
            <p:cNvSpPr txBox="1"/>
            <p:nvPr/>
          </p:nvSpPr>
          <p:spPr>
            <a:xfrm>
              <a:off x="1042687" y="3993880"/>
              <a:ext cx="623889"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altLang="ja-JP" sz="1800" dirty="0">
                  <a:solidFill>
                    <a:schemeClr val="lt1"/>
                  </a:solidFill>
                  <a:latin typeface="Poppins"/>
                  <a:ea typeface="Calibri"/>
                  <a:cs typeface="Poppins"/>
                  <a:sym typeface="Poppins"/>
                </a:rPr>
                <a:t>9</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grpSp>
      <p:sp>
        <p:nvSpPr>
          <p:cNvPr id="12" name="Google Shape;521;p23">
            <a:extLst>
              <a:ext uri="{FF2B5EF4-FFF2-40B4-BE49-F238E27FC236}">
                <a16:creationId xmlns:a16="http://schemas.microsoft.com/office/drawing/2014/main" id="{6AF9F2A1-0747-B245-4C7A-B9E465CA14BB}"/>
              </a:ext>
            </a:extLst>
          </p:cNvPr>
          <p:cNvSpPr txBox="1"/>
          <p:nvPr/>
        </p:nvSpPr>
        <p:spPr>
          <a:xfrm>
            <a:off x="408799" y="1461025"/>
            <a:ext cx="8871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2024</a:t>
            </a:r>
            <a:endParaRPr sz="2000" b="0" i="0" u="none" strike="noStrike" cap="none">
              <a:solidFill>
                <a:schemeClr val="dk1"/>
              </a:solidFill>
              <a:latin typeface="Poppins Medium"/>
              <a:ea typeface="Poppins Medium"/>
              <a:cs typeface="Poppins Medium"/>
              <a:sym typeface="Poppins Medium"/>
            </a:endParaRPr>
          </a:p>
        </p:txBody>
      </p:sp>
      <p:sp>
        <p:nvSpPr>
          <p:cNvPr id="14" name="Google Shape;702;p30">
            <a:extLst>
              <a:ext uri="{FF2B5EF4-FFF2-40B4-BE49-F238E27FC236}">
                <a16:creationId xmlns:a16="http://schemas.microsoft.com/office/drawing/2014/main" id="{7ADA8C1B-F42B-8534-24D8-87DDC185A283}"/>
              </a:ext>
            </a:extLst>
          </p:cNvPr>
          <p:cNvSpPr/>
          <p:nvPr/>
        </p:nvSpPr>
        <p:spPr>
          <a:xfrm>
            <a:off x="2165171" y="4464802"/>
            <a:ext cx="1850247" cy="69924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面談</a:t>
            </a:r>
            <a:endParaRPr sz="1400" b="0" i="0" u="none" strike="noStrike" cap="none">
              <a:solidFill>
                <a:srgbClr val="000000"/>
              </a:solidFill>
              <a:latin typeface="Arial"/>
              <a:ea typeface="Arial"/>
              <a:cs typeface="Arial"/>
              <a:sym typeface="Arial"/>
            </a:endParaRPr>
          </a:p>
        </p:txBody>
      </p:sp>
      <p:sp>
        <p:nvSpPr>
          <p:cNvPr id="16" name="Google Shape;706;p30">
            <a:extLst>
              <a:ext uri="{FF2B5EF4-FFF2-40B4-BE49-F238E27FC236}">
                <a16:creationId xmlns:a16="http://schemas.microsoft.com/office/drawing/2014/main" id="{16D87857-832C-B74B-7832-06AAA83B7710}"/>
              </a:ext>
            </a:extLst>
          </p:cNvPr>
          <p:cNvSpPr/>
          <p:nvPr/>
        </p:nvSpPr>
        <p:spPr>
          <a:xfrm>
            <a:off x="2165171" y="1517118"/>
            <a:ext cx="1850247" cy="1103350"/>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説明会</a:t>
            </a:r>
            <a:endParaRPr sz="1800" b="1" i="0" u="none" strike="noStrike" cap="none">
              <a:solidFill>
                <a:schemeClr val="lt1"/>
              </a:solidFill>
              <a:latin typeface="Calibri"/>
              <a:ea typeface="Calibri"/>
              <a:cs typeface="Calibri"/>
              <a:sym typeface="Calibri"/>
            </a:endParaRPr>
          </a:p>
        </p:txBody>
      </p:sp>
      <p:sp>
        <p:nvSpPr>
          <p:cNvPr id="17" name="Google Shape;707;p30">
            <a:extLst>
              <a:ext uri="{FF2B5EF4-FFF2-40B4-BE49-F238E27FC236}">
                <a16:creationId xmlns:a16="http://schemas.microsoft.com/office/drawing/2014/main" id="{06D0EDC3-8756-F1C5-DB35-FFEB5D914875}"/>
              </a:ext>
            </a:extLst>
          </p:cNvPr>
          <p:cNvSpPr/>
          <p:nvPr/>
        </p:nvSpPr>
        <p:spPr>
          <a:xfrm>
            <a:off x="2165171" y="2718162"/>
            <a:ext cx="1850247" cy="1185184"/>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応 募</a:t>
            </a:r>
            <a:endParaRPr sz="1800" b="1" i="0" u="none" strike="noStrike" cap="none">
              <a:solidFill>
                <a:schemeClr val="lt1"/>
              </a:solidFill>
              <a:latin typeface="Calibri"/>
              <a:ea typeface="Calibri"/>
              <a:cs typeface="Calibri"/>
              <a:sym typeface="Calibri"/>
            </a:endParaRPr>
          </a:p>
        </p:txBody>
      </p:sp>
      <p:sp>
        <p:nvSpPr>
          <p:cNvPr id="18" name="Google Shape;729;p30">
            <a:extLst>
              <a:ext uri="{FF2B5EF4-FFF2-40B4-BE49-F238E27FC236}">
                <a16:creationId xmlns:a16="http://schemas.microsoft.com/office/drawing/2014/main" id="{112C9DCA-DA66-8D31-5449-18FE6B83AE6A}"/>
              </a:ext>
            </a:extLst>
          </p:cNvPr>
          <p:cNvSpPr/>
          <p:nvPr/>
        </p:nvSpPr>
        <p:spPr>
          <a:xfrm>
            <a:off x="2081040" y="1433376"/>
            <a:ext cx="1983575" cy="4507877"/>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29"/>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36</a:t>
            </a:fld>
            <a:endParaRPr/>
          </a:p>
        </p:txBody>
      </p:sp>
      <p:sp>
        <p:nvSpPr>
          <p:cNvPr id="670" name="Google Shape;670;p29"/>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Poppins Medium"/>
              <a:buNone/>
            </a:pPr>
            <a:r>
              <a:rPr lang="ja-JP" sz="2000" b="0">
                <a:latin typeface="Poppins Medium"/>
                <a:ea typeface="Poppins Medium"/>
                <a:cs typeface="Poppins Medium"/>
                <a:sym typeface="Poppins Medium"/>
              </a:rPr>
              <a:t>2. </a:t>
            </a:r>
            <a:r>
              <a:rPr lang="ja-JP"/>
              <a:t>マッチング</a:t>
            </a:r>
            <a:endParaRPr/>
          </a:p>
        </p:txBody>
      </p:sp>
      <p:pic>
        <p:nvPicPr>
          <p:cNvPr id="671" name="Google Shape;671;p29"/>
          <p:cNvPicPr preferRelativeResize="0"/>
          <p:nvPr/>
        </p:nvPicPr>
        <p:blipFill rotWithShape="1">
          <a:blip r:embed="rId3">
            <a:alphaModFix amt="76000"/>
          </a:blip>
          <a:srcRect/>
          <a:stretch/>
        </p:blipFill>
        <p:spPr>
          <a:xfrm>
            <a:off x="6225372" y="2729443"/>
            <a:ext cx="1960461" cy="1905276"/>
          </a:xfrm>
          <a:prstGeom prst="rect">
            <a:avLst/>
          </a:prstGeom>
          <a:noFill/>
          <a:ln>
            <a:noFill/>
          </a:ln>
        </p:spPr>
      </p:pic>
      <p:pic>
        <p:nvPicPr>
          <p:cNvPr id="672" name="Google Shape;672;p29"/>
          <p:cNvPicPr preferRelativeResize="0"/>
          <p:nvPr/>
        </p:nvPicPr>
        <p:blipFill rotWithShape="1">
          <a:blip r:embed="rId4">
            <a:alphaModFix amt="73000"/>
          </a:blip>
          <a:srcRect/>
          <a:stretch/>
        </p:blipFill>
        <p:spPr>
          <a:xfrm>
            <a:off x="488259" y="2908516"/>
            <a:ext cx="1806763" cy="1806763"/>
          </a:xfrm>
          <a:prstGeom prst="rect">
            <a:avLst/>
          </a:prstGeom>
          <a:noFill/>
          <a:ln>
            <a:noFill/>
          </a:ln>
        </p:spPr>
      </p:pic>
      <p:pic>
        <p:nvPicPr>
          <p:cNvPr id="673" name="Google Shape;673;p29"/>
          <p:cNvPicPr preferRelativeResize="0"/>
          <p:nvPr/>
        </p:nvPicPr>
        <p:blipFill rotWithShape="1">
          <a:blip r:embed="rId5">
            <a:alphaModFix amt="77000"/>
          </a:blip>
          <a:srcRect/>
          <a:stretch/>
        </p:blipFill>
        <p:spPr>
          <a:xfrm>
            <a:off x="1305819" y="2813852"/>
            <a:ext cx="1786811" cy="1786811"/>
          </a:xfrm>
          <a:prstGeom prst="rect">
            <a:avLst/>
          </a:prstGeom>
          <a:noFill/>
          <a:ln>
            <a:noFill/>
          </a:ln>
        </p:spPr>
      </p:pic>
      <p:pic>
        <p:nvPicPr>
          <p:cNvPr id="674" name="Google Shape;674;p29"/>
          <p:cNvPicPr preferRelativeResize="0"/>
          <p:nvPr/>
        </p:nvPicPr>
        <p:blipFill rotWithShape="1">
          <a:blip r:embed="rId6">
            <a:alphaModFix/>
          </a:blip>
          <a:srcRect r="67197" b="9457"/>
          <a:stretch/>
        </p:blipFill>
        <p:spPr>
          <a:xfrm>
            <a:off x="3369061" y="3074323"/>
            <a:ext cx="1102143" cy="1109267"/>
          </a:xfrm>
          <a:prstGeom prst="ellipse">
            <a:avLst/>
          </a:prstGeom>
          <a:noFill/>
          <a:ln>
            <a:noFill/>
          </a:ln>
        </p:spPr>
      </p:pic>
      <p:sp>
        <p:nvSpPr>
          <p:cNvPr id="675" name="Google Shape;675;p29"/>
          <p:cNvSpPr txBox="1"/>
          <p:nvPr/>
        </p:nvSpPr>
        <p:spPr>
          <a:xfrm>
            <a:off x="990220" y="1839636"/>
            <a:ext cx="1487606"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Calibri"/>
                <a:ea typeface="Calibri"/>
                <a:cs typeface="Calibri"/>
                <a:sym typeface="Calibri"/>
              </a:rPr>
              <a:t>受入先</a:t>
            </a:r>
            <a:endParaRPr sz="1400" b="0" i="0" u="none" strike="noStrike" cap="none">
              <a:solidFill>
                <a:srgbClr val="000000"/>
              </a:solidFill>
              <a:latin typeface="Arial"/>
              <a:ea typeface="Arial"/>
              <a:cs typeface="Arial"/>
              <a:sym typeface="Arial"/>
            </a:endParaRPr>
          </a:p>
        </p:txBody>
      </p:sp>
      <p:sp>
        <p:nvSpPr>
          <p:cNvPr id="676" name="Google Shape;676;p29"/>
          <p:cNvSpPr txBox="1"/>
          <p:nvPr/>
        </p:nvSpPr>
        <p:spPr>
          <a:xfrm>
            <a:off x="6475446" y="1839636"/>
            <a:ext cx="1487606"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ja-JP" altLang="en-US" sz="2000" b="0" i="0" u="none" strike="noStrike" cap="none" dirty="0">
                <a:solidFill>
                  <a:schemeClr val="dk1"/>
                </a:solidFill>
                <a:latin typeface="Calibri"/>
                <a:ea typeface="Calibri"/>
                <a:cs typeface="Calibri"/>
                <a:sym typeface="Calibri"/>
              </a:rPr>
              <a:t>研修</a:t>
            </a:r>
            <a:r>
              <a:rPr lang="ja-JP" sz="2000" b="0" i="0" u="none" strike="noStrike" cap="none" dirty="0">
                <a:solidFill>
                  <a:schemeClr val="dk1"/>
                </a:solidFill>
                <a:latin typeface="Calibri"/>
                <a:ea typeface="Calibri"/>
                <a:cs typeface="Calibri"/>
                <a:sym typeface="Calibri"/>
              </a:rPr>
              <a:t>生</a:t>
            </a:r>
            <a:endParaRPr sz="2000" b="0" i="0" u="none" strike="noStrike" cap="none" dirty="0">
              <a:solidFill>
                <a:schemeClr val="dk1"/>
              </a:solidFill>
              <a:latin typeface="Calibri"/>
              <a:ea typeface="Calibri"/>
              <a:cs typeface="Calibri"/>
              <a:sym typeface="Calibri"/>
            </a:endParaRPr>
          </a:p>
        </p:txBody>
      </p:sp>
      <p:sp>
        <p:nvSpPr>
          <p:cNvPr id="677" name="Google Shape;677;p29"/>
          <p:cNvSpPr/>
          <p:nvPr/>
        </p:nvSpPr>
        <p:spPr>
          <a:xfrm rot="-9173509" flipH="1">
            <a:off x="2892183" y="1992345"/>
            <a:ext cx="3240000" cy="3240000"/>
          </a:xfrm>
          <a:prstGeom prst="arc">
            <a:avLst>
              <a:gd name="adj1" fmla="val 14260881"/>
              <a:gd name="adj2" fmla="val 0"/>
            </a:avLst>
          </a:prstGeom>
          <a:noFill/>
          <a:ln w="190500" cap="rnd" cmpd="sng">
            <a:solidFill>
              <a:srgbClr val="FFC400"/>
            </a:solidFill>
            <a:prstDash val="solid"/>
            <a:miter lim="800000"/>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C400"/>
              </a:solidFill>
              <a:latin typeface="Calibri"/>
              <a:ea typeface="Calibri"/>
              <a:cs typeface="Calibri"/>
              <a:sym typeface="Calibri"/>
            </a:endParaRPr>
          </a:p>
        </p:txBody>
      </p:sp>
      <p:grpSp>
        <p:nvGrpSpPr>
          <p:cNvPr id="678" name="Google Shape;678;p29"/>
          <p:cNvGrpSpPr/>
          <p:nvPr/>
        </p:nvGrpSpPr>
        <p:grpSpPr>
          <a:xfrm>
            <a:off x="4129176" y="4680604"/>
            <a:ext cx="884478" cy="996433"/>
            <a:chOff x="4265747" y="4680604"/>
            <a:chExt cx="884478" cy="996433"/>
          </a:xfrm>
        </p:grpSpPr>
        <p:sp>
          <p:nvSpPr>
            <p:cNvPr id="679" name="Google Shape;679;p29"/>
            <p:cNvSpPr/>
            <p:nvPr/>
          </p:nvSpPr>
          <p:spPr>
            <a:xfrm>
              <a:off x="4334400" y="4680604"/>
              <a:ext cx="732773" cy="99643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0" name="Google Shape;680;p29"/>
            <p:cNvPicPr preferRelativeResize="0"/>
            <p:nvPr/>
          </p:nvPicPr>
          <p:blipFill rotWithShape="1">
            <a:blip r:embed="rId7">
              <a:alphaModFix amt="79000"/>
            </a:blip>
            <a:srcRect/>
            <a:stretch/>
          </p:blipFill>
          <p:spPr>
            <a:xfrm>
              <a:off x="4265747" y="4736581"/>
              <a:ext cx="884478" cy="884478"/>
            </a:xfrm>
            <a:prstGeom prst="rect">
              <a:avLst/>
            </a:prstGeom>
            <a:noFill/>
            <a:ln>
              <a:noFill/>
            </a:ln>
          </p:spPr>
        </p:pic>
      </p:grpSp>
      <p:sp>
        <p:nvSpPr>
          <p:cNvPr id="681" name="Google Shape;681;p29"/>
          <p:cNvSpPr txBox="1"/>
          <p:nvPr/>
        </p:nvSpPr>
        <p:spPr>
          <a:xfrm>
            <a:off x="3353152" y="5724801"/>
            <a:ext cx="2380984"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ja-JP" sz="2000" b="1" i="0" u="none" strike="noStrike" cap="none">
                <a:solidFill>
                  <a:srgbClr val="FFC400"/>
                </a:solidFill>
                <a:latin typeface="Calibri"/>
                <a:ea typeface="Calibri"/>
                <a:cs typeface="Calibri"/>
                <a:sym typeface="Calibri"/>
              </a:rPr>
              <a:t>受入先が</a:t>
            </a:r>
            <a:endParaRPr sz="2000" b="1" i="0" u="none" strike="noStrike" cap="none">
              <a:solidFill>
                <a:srgbClr val="FFC4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ja-JP" sz="2000" b="1" i="0" u="none" strike="noStrike" cap="none">
                <a:solidFill>
                  <a:srgbClr val="FFC400"/>
                </a:solidFill>
                <a:latin typeface="Calibri"/>
                <a:ea typeface="Calibri"/>
                <a:cs typeface="Calibri"/>
                <a:sym typeface="Calibri"/>
              </a:rPr>
              <a:t>提示する条件</a:t>
            </a:r>
            <a:endParaRPr sz="2000" b="1" i="0" u="none" strike="noStrike" cap="none">
              <a:solidFill>
                <a:srgbClr val="FFC400"/>
              </a:solidFill>
              <a:latin typeface="Calibri"/>
              <a:ea typeface="Calibri"/>
              <a:cs typeface="Calibri"/>
              <a:sym typeface="Calibri"/>
            </a:endParaRPr>
          </a:p>
        </p:txBody>
      </p:sp>
      <p:sp>
        <p:nvSpPr>
          <p:cNvPr id="682" name="Google Shape;682;p29"/>
          <p:cNvSpPr txBox="1"/>
          <p:nvPr/>
        </p:nvSpPr>
        <p:spPr>
          <a:xfrm>
            <a:off x="3353152" y="747279"/>
            <a:ext cx="5790900" cy="1040400"/>
          </a:xfrm>
          <a:prstGeom prst="rect">
            <a:avLst/>
          </a:prstGeom>
          <a:noFill/>
          <a:ln>
            <a:noFill/>
          </a:ln>
        </p:spPr>
        <p:txBody>
          <a:bodyPr spcFirstLastPara="1" wrap="square" lIns="91425" tIns="45700" rIns="91425" bIns="45700" anchor="t" anchorCtr="0">
            <a:spAutoFit/>
          </a:bodyPr>
          <a:lstStyle/>
          <a:p>
            <a:pPr marL="342900" marR="0" lvl="0" indent="-198900" algn="l" rtl="0">
              <a:lnSpc>
                <a:spcPct val="100000"/>
              </a:lnSpc>
              <a:spcBef>
                <a:spcPts val="0"/>
              </a:spcBef>
              <a:spcAft>
                <a:spcPts val="0"/>
              </a:spcAft>
              <a:buClr>
                <a:srgbClr val="2498DA"/>
              </a:buClr>
              <a:buSzPts val="1980"/>
              <a:buFont typeface="Arial"/>
              <a:buChar char="•"/>
            </a:pPr>
            <a:r>
              <a:rPr lang="ja-JP" sz="1800" b="0" i="0" u="none" strike="noStrike" cap="none">
                <a:solidFill>
                  <a:srgbClr val="2498DA"/>
                </a:solidFill>
                <a:latin typeface="Poppins Medium"/>
                <a:ea typeface="Poppins Medium"/>
                <a:cs typeface="Poppins Medium"/>
                <a:sym typeface="Poppins Medium"/>
              </a:rPr>
              <a:t>CV, Cover Letter,英文成績証明書,英文在学証明書</a:t>
            </a:r>
            <a:endParaRPr sz="1800" b="0" i="0" u="none" strike="noStrike" cap="none">
              <a:solidFill>
                <a:srgbClr val="2498DA"/>
              </a:solidFill>
              <a:latin typeface="Poppins Medium"/>
              <a:ea typeface="Poppins Medium"/>
              <a:cs typeface="Poppins Medium"/>
              <a:sym typeface="Poppins Medium"/>
            </a:endParaRPr>
          </a:p>
          <a:p>
            <a:pPr marL="342900" marR="0" lvl="0" indent="-198900" algn="l" rtl="0">
              <a:lnSpc>
                <a:spcPct val="100000"/>
              </a:lnSpc>
              <a:spcBef>
                <a:spcPts val="0"/>
              </a:spcBef>
              <a:spcAft>
                <a:spcPts val="0"/>
              </a:spcAft>
              <a:buClr>
                <a:srgbClr val="2498DA"/>
              </a:buClr>
              <a:buSzPts val="1980"/>
              <a:buFont typeface="Arial"/>
              <a:buChar char="•"/>
            </a:pPr>
            <a:r>
              <a:rPr lang="ja-JP" sz="1800" b="0" i="0" u="none" strike="noStrike" cap="none">
                <a:solidFill>
                  <a:srgbClr val="2498DA"/>
                </a:solidFill>
                <a:latin typeface="Poppins Medium"/>
                <a:ea typeface="Poppins Medium"/>
                <a:cs typeface="Poppins Medium"/>
                <a:sym typeface="Poppins Medium"/>
              </a:rPr>
              <a:t>英語能力スコア証明書</a:t>
            </a:r>
            <a:endParaRPr sz="1800" b="0" i="0" u="none" strike="noStrike" cap="none">
              <a:solidFill>
                <a:srgbClr val="2498DA"/>
              </a:solidFill>
              <a:latin typeface="Poppins Medium"/>
              <a:ea typeface="Poppins Medium"/>
              <a:cs typeface="Poppins Medium"/>
              <a:sym typeface="Poppins Medium"/>
            </a:endParaRPr>
          </a:p>
          <a:p>
            <a:pPr marL="342900" marR="0" lvl="0" indent="-198900" algn="l" rtl="0">
              <a:lnSpc>
                <a:spcPct val="100000"/>
              </a:lnSpc>
              <a:spcBef>
                <a:spcPts val="0"/>
              </a:spcBef>
              <a:spcAft>
                <a:spcPts val="0"/>
              </a:spcAft>
              <a:buClr>
                <a:srgbClr val="2498DA"/>
              </a:buClr>
              <a:buSzPts val="2200"/>
              <a:buFont typeface="Arial"/>
              <a:buChar char="•"/>
            </a:pPr>
            <a:r>
              <a:rPr lang="ja-JP" sz="2000" b="1" i="0" u="none" strike="noStrike" cap="none">
                <a:solidFill>
                  <a:srgbClr val="2498DA"/>
                </a:solidFill>
                <a:latin typeface="Calibri"/>
                <a:ea typeface="Calibri"/>
                <a:cs typeface="Calibri"/>
                <a:sym typeface="Calibri"/>
              </a:rPr>
              <a:t>本人の専攻</a:t>
            </a:r>
            <a:endParaRPr sz="2000" b="1" i="0" u="none" strike="noStrike" cap="none">
              <a:solidFill>
                <a:srgbClr val="2498DA"/>
              </a:solidFill>
              <a:latin typeface="Calibri"/>
              <a:ea typeface="Calibri"/>
              <a:cs typeface="Calibri"/>
              <a:sym typeface="Calibri"/>
            </a:endParaRPr>
          </a:p>
        </p:txBody>
      </p:sp>
      <p:sp>
        <p:nvSpPr>
          <p:cNvPr id="683" name="Google Shape;683;p29"/>
          <p:cNvSpPr/>
          <p:nvPr/>
        </p:nvSpPr>
        <p:spPr>
          <a:xfrm rot="1626491" flipH="1">
            <a:off x="2903334" y="2129182"/>
            <a:ext cx="3240000" cy="3240000"/>
          </a:xfrm>
          <a:prstGeom prst="arc">
            <a:avLst>
              <a:gd name="adj1" fmla="val 14260881"/>
              <a:gd name="adj2" fmla="val 0"/>
            </a:avLst>
          </a:prstGeom>
          <a:noFill/>
          <a:ln w="190500" cap="rnd" cmpd="sng">
            <a:solidFill>
              <a:srgbClr val="2498DA"/>
            </a:solidFill>
            <a:prstDash val="solid"/>
            <a:miter lim="800000"/>
            <a:headEnd type="none" w="sm" len="sm"/>
            <a:tailEnd type="triangle" w="med" len="med"/>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4" name="Google Shape;684;p29"/>
          <p:cNvSpPr txBox="1"/>
          <p:nvPr/>
        </p:nvSpPr>
        <p:spPr>
          <a:xfrm>
            <a:off x="4543644" y="3330744"/>
            <a:ext cx="159003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rgbClr val="093D59"/>
                </a:solidFill>
                <a:latin typeface="Calibri"/>
                <a:ea typeface="Calibri"/>
                <a:cs typeface="Calibri"/>
                <a:sym typeface="Calibri"/>
              </a:rPr>
              <a:t>総合的に</a:t>
            </a:r>
            <a:endParaRPr sz="1800" b="0" i="0" u="none" strike="noStrike" cap="none">
              <a:solidFill>
                <a:srgbClr val="093D59"/>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rgbClr val="093D59"/>
                </a:solidFill>
                <a:latin typeface="Calibri"/>
                <a:ea typeface="Calibri"/>
                <a:cs typeface="Calibri"/>
                <a:sym typeface="Calibri"/>
              </a:rPr>
              <a:t>判断・推薦</a:t>
            </a:r>
            <a:endParaRPr sz="1400" b="0" i="0" u="none" strike="noStrike" cap="none">
              <a:solidFill>
                <a:srgbClr val="000000"/>
              </a:solidFill>
              <a:latin typeface="Arial"/>
              <a:ea typeface="Arial"/>
              <a:cs typeface="Arial"/>
              <a:sym typeface="Arial"/>
            </a:endParaRPr>
          </a:p>
        </p:txBody>
      </p:sp>
      <p:grpSp>
        <p:nvGrpSpPr>
          <p:cNvPr id="685" name="Google Shape;685;p29"/>
          <p:cNvGrpSpPr/>
          <p:nvPr/>
        </p:nvGrpSpPr>
        <p:grpSpPr>
          <a:xfrm>
            <a:off x="4129176" y="1711711"/>
            <a:ext cx="884478" cy="996433"/>
            <a:chOff x="4265747" y="4680604"/>
            <a:chExt cx="884478" cy="996433"/>
          </a:xfrm>
        </p:grpSpPr>
        <p:sp>
          <p:nvSpPr>
            <p:cNvPr id="686" name="Google Shape;686;p29"/>
            <p:cNvSpPr/>
            <p:nvPr/>
          </p:nvSpPr>
          <p:spPr>
            <a:xfrm>
              <a:off x="4334400" y="4680604"/>
              <a:ext cx="732773" cy="99643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87" name="Google Shape;687;p29"/>
            <p:cNvPicPr preferRelativeResize="0"/>
            <p:nvPr/>
          </p:nvPicPr>
          <p:blipFill rotWithShape="1">
            <a:blip r:embed="rId7">
              <a:alphaModFix amt="79000"/>
            </a:blip>
            <a:srcRect/>
            <a:stretch/>
          </p:blipFill>
          <p:spPr>
            <a:xfrm>
              <a:off x="4265747" y="4736581"/>
              <a:ext cx="884478" cy="884478"/>
            </a:xfrm>
            <a:prstGeom prst="rect">
              <a:avLst/>
            </a:prstGeom>
            <a:noFill/>
            <a:ln>
              <a:noFill/>
            </a:ln>
          </p:spPr>
        </p:pic>
      </p:grpSp>
      <p:sp>
        <p:nvSpPr>
          <p:cNvPr id="688" name="Google Shape;688;p29"/>
          <p:cNvSpPr txBox="1"/>
          <p:nvPr/>
        </p:nvSpPr>
        <p:spPr>
          <a:xfrm>
            <a:off x="2192215" y="108793"/>
            <a:ext cx="1278446" cy="338554"/>
          </a:xfrm>
          <a:prstGeom prst="rect">
            <a:avLst/>
          </a:prstGeom>
          <a:noFill/>
          <a:ln w="9525" cap="flat" cmpd="sng">
            <a:solidFill>
              <a:srgbClr val="FCD600"/>
            </a:solidFill>
            <a:prstDash val="solid"/>
            <a:round/>
            <a:headEnd type="none" w="sm" len="sm"/>
            <a:tailEnd type="none" w="sm" len="sm"/>
          </a:ln>
        </p:spPr>
        <p:txBody>
          <a:bodyPr spcFirstLastPara="1" wrap="square" lIns="91425" tIns="0" rIns="91425" bIns="45700" anchor="t" anchorCtr="0">
            <a:spAutoFit/>
          </a:bodyPr>
          <a:lstStyle/>
          <a:p>
            <a:pPr marL="0" marR="0" lvl="0" indent="0" algn="ctr" rtl="0">
              <a:lnSpc>
                <a:spcPct val="150000"/>
              </a:lnSpc>
              <a:spcBef>
                <a:spcPts val="0"/>
              </a:spcBef>
              <a:spcAft>
                <a:spcPts val="0"/>
              </a:spcAft>
              <a:buClr>
                <a:srgbClr val="000000"/>
              </a:buClr>
              <a:buSzPts val="1400"/>
              <a:buFont typeface="Arial"/>
              <a:buNone/>
            </a:pPr>
            <a:r>
              <a:rPr lang="ja-JP" sz="1400" b="1" i="0" u="none" strike="noStrike" cap="none">
                <a:solidFill>
                  <a:srgbClr val="FCD600"/>
                </a:solidFill>
                <a:latin typeface="Calibri"/>
                <a:ea typeface="Calibri"/>
                <a:cs typeface="Calibri"/>
                <a:sym typeface="Calibri"/>
              </a:rPr>
              <a:t>翌年2月</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grpSp>
        <p:nvGrpSpPr>
          <p:cNvPr id="693" name="Google Shape;693;p30"/>
          <p:cNvGrpSpPr/>
          <p:nvPr/>
        </p:nvGrpSpPr>
        <p:grpSpPr>
          <a:xfrm>
            <a:off x="5478955" y="1409529"/>
            <a:ext cx="612719" cy="4431979"/>
            <a:chOff x="4965737" y="1933276"/>
            <a:chExt cx="612719" cy="4431979"/>
          </a:xfrm>
        </p:grpSpPr>
        <p:cxnSp>
          <p:nvCxnSpPr>
            <p:cNvPr id="694" name="Google Shape;694;p30"/>
            <p:cNvCxnSpPr/>
            <p:nvPr/>
          </p:nvCxnSpPr>
          <p:spPr>
            <a:xfrm>
              <a:off x="5244495" y="2174171"/>
              <a:ext cx="0" cy="4191084"/>
            </a:xfrm>
            <a:prstGeom prst="straightConnector1">
              <a:avLst/>
            </a:prstGeom>
            <a:noFill/>
            <a:ln w="12700" cap="flat" cmpd="sng">
              <a:solidFill>
                <a:srgbClr val="FECE00"/>
              </a:solidFill>
              <a:prstDash val="solid"/>
              <a:miter lim="800000"/>
              <a:headEnd type="none" w="sm" len="sm"/>
              <a:tailEnd type="none" w="sm" len="sm"/>
            </a:ln>
          </p:spPr>
        </p:cxnSp>
        <p:sp>
          <p:nvSpPr>
            <p:cNvPr id="695" name="Google Shape;695;p30"/>
            <p:cNvSpPr/>
            <p:nvPr/>
          </p:nvSpPr>
          <p:spPr>
            <a:xfrm>
              <a:off x="4966628" y="418164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696" name="Google Shape;696;p30"/>
            <p:cNvSpPr/>
            <p:nvPr/>
          </p:nvSpPr>
          <p:spPr>
            <a:xfrm>
              <a:off x="4965737" y="193327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697" name="Google Shape;697;p30"/>
            <p:cNvSpPr txBox="1"/>
            <p:nvPr/>
          </p:nvSpPr>
          <p:spPr>
            <a:xfrm>
              <a:off x="5020290" y="2038968"/>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Poppins"/>
                  <a:ea typeface="Poppins"/>
                  <a:cs typeface="Poppins"/>
                  <a:sym typeface="Poppins"/>
                </a:rPr>
                <a:t>2</a:t>
              </a:r>
              <a:r>
                <a:rPr lang="ja-JP" sz="18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698" name="Google Shape;698;p30"/>
            <p:cNvSpPr/>
            <p:nvPr/>
          </p:nvSpPr>
          <p:spPr>
            <a:xfrm>
              <a:off x="4966628" y="3053407"/>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699" name="Google Shape;699;p30"/>
            <p:cNvSpPr txBox="1"/>
            <p:nvPr/>
          </p:nvSpPr>
          <p:spPr>
            <a:xfrm>
              <a:off x="5002411" y="3147242"/>
              <a:ext cx="56847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Poppins"/>
                  <a:ea typeface="Poppins"/>
                  <a:cs typeface="Poppins"/>
                  <a:sym typeface="Poppins"/>
                </a:rPr>
                <a:t>4</a:t>
              </a:r>
              <a:r>
                <a:rPr lang="ja-JP" sz="18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grpSp>
      <p:sp>
        <p:nvSpPr>
          <p:cNvPr id="700" name="Google Shape;700;p30"/>
          <p:cNvSpPr/>
          <p:nvPr/>
        </p:nvSpPr>
        <p:spPr>
          <a:xfrm>
            <a:off x="6201144" y="1474703"/>
            <a:ext cx="1845172" cy="1928572"/>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701" name="Google Shape;701;p30"/>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37</a:t>
            </a:fld>
            <a:endParaRPr/>
          </a:p>
        </p:txBody>
      </p:sp>
      <p:sp>
        <p:nvSpPr>
          <p:cNvPr id="702" name="Google Shape;702;p30"/>
          <p:cNvSpPr/>
          <p:nvPr/>
        </p:nvSpPr>
        <p:spPr>
          <a:xfrm>
            <a:off x="2165171" y="4464802"/>
            <a:ext cx="1850247" cy="69924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面談</a:t>
            </a:r>
            <a:endParaRPr sz="1400" b="0" i="0" u="none" strike="noStrike" cap="none">
              <a:solidFill>
                <a:srgbClr val="000000"/>
              </a:solidFill>
              <a:latin typeface="Arial"/>
              <a:ea typeface="Arial"/>
              <a:cs typeface="Arial"/>
              <a:sym typeface="Arial"/>
            </a:endParaRPr>
          </a:p>
        </p:txBody>
      </p:sp>
      <p:sp>
        <p:nvSpPr>
          <p:cNvPr id="704" name="Google Shape;704;p30"/>
          <p:cNvSpPr/>
          <p:nvPr/>
        </p:nvSpPr>
        <p:spPr>
          <a:xfrm>
            <a:off x="6201144" y="3804563"/>
            <a:ext cx="1794047" cy="844706"/>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準備会</a:t>
            </a:r>
            <a:endParaRPr sz="1800" b="1" i="0" u="none" strike="noStrike" cap="none"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dirty="0">
                <a:solidFill>
                  <a:schemeClr val="lt1"/>
                </a:solidFill>
                <a:latin typeface="Calibri"/>
                <a:ea typeface="Calibri"/>
                <a:cs typeface="Calibri"/>
                <a:sym typeface="Calibri"/>
              </a:rPr>
              <a:t>（研修前準備）</a:t>
            </a:r>
            <a:endParaRPr sz="1800" b="1" i="0" u="none" strike="noStrike" cap="none" dirty="0">
              <a:solidFill>
                <a:schemeClr val="lt1"/>
              </a:solidFill>
              <a:latin typeface="Calibri"/>
              <a:ea typeface="Calibri"/>
              <a:cs typeface="Calibri"/>
              <a:sym typeface="Calibri"/>
            </a:endParaRPr>
          </a:p>
        </p:txBody>
      </p:sp>
      <p:sp>
        <p:nvSpPr>
          <p:cNvPr id="705" name="Google Shape;705;p30"/>
          <p:cNvSpPr/>
          <p:nvPr/>
        </p:nvSpPr>
        <p:spPr>
          <a:xfrm>
            <a:off x="6193447" y="4719043"/>
            <a:ext cx="1801744" cy="117471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研修開始</a:t>
            </a:r>
            <a:endParaRPr sz="1800" b="1" i="0" u="none" strike="noStrike" cap="none">
              <a:solidFill>
                <a:schemeClr val="lt1"/>
              </a:solidFill>
              <a:latin typeface="Calibri"/>
              <a:ea typeface="Calibri"/>
              <a:cs typeface="Calibri"/>
              <a:sym typeface="Calibri"/>
            </a:endParaRPr>
          </a:p>
        </p:txBody>
      </p:sp>
      <p:sp>
        <p:nvSpPr>
          <p:cNvPr id="706" name="Google Shape;706;p30"/>
          <p:cNvSpPr/>
          <p:nvPr/>
        </p:nvSpPr>
        <p:spPr>
          <a:xfrm>
            <a:off x="2165171" y="1517118"/>
            <a:ext cx="1850247" cy="1103350"/>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説明会</a:t>
            </a:r>
            <a:endParaRPr sz="1800" b="1" i="0" u="none" strike="noStrike" cap="none">
              <a:solidFill>
                <a:schemeClr val="lt1"/>
              </a:solidFill>
              <a:latin typeface="Calibri"/>
              <a:ea typeface="Calibri"/>
              <a:cs typeface="Calibri"/>
              <a:sym typeface="Calibri"/>
            </a:endParaRPr>
          </a:p>
        </p:txBody>
      </p:sp>
      <p:sp>
        <p:nvSpPr>
          <p:cNvPr id="707" name="Google Shape;707;p30"/>
          <p:cNvSpPr/>
          <p:nvPr/>
        </p:nvSpPr>
        <p:spPr>
          <a:xfrm>
            <a:off x="2165171" y="2718162"/>
            <a:ext cx="1850247" cy="1185184"/>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応 募</a:t>
            </a:r>
            <a:endParaRPr sz="1800" b="1" i="0" u="none" strike="noStrike" cap="none">
              <a:solidFill>
                <a:schemeClr val="lt1"/>
              </a:solidFill>
              <a:latin typeface="Calibri"/>
              <a:ea typeface="Calibri"/>
              <a:cs typeface="Calibri"/>
              <a:sym typeface="Calibri"/>
            </a:endParaRPr>
          </a:p>
        </p:txBody>
      </p:sp>
      <p:sp>
        <p:nvSpPr>
          <p:cNvPr id="720" name="Google Shape;720;p30"/>
          <p:cNvSpPr txBox="1"/>
          <p:nvPr/>
        </p:nvSpPr>
        <p:spPr>
          <a:xfrm>
            <a:off x="5515767" y="3758056"/>
            <a:ext cx="68537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6</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722" name="Google Shape;722;p30"/>
          <p:cNvSpPr txBox="1"/>
          <p:nvPr/>
        </p:nvSpPr>
        <p:spPr>
          <a:xfrm>
            <a:off x="6494874" y="1815659"/>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マッチング</a:t>
            </a:r>
            <a:endParaRPr sz="1400" b="0" i="0" u="none" strike="noStrike" cap="none">
              <a:solidFill>
                <a:srgbClr val="000000"/>
              </a:solidFill>
              <a:latin typeface="Arial"/>
              <a:ea typeface="Arial"/>
              <a:cs typeface="Arial"/>
              <a:sym typeface="Arial"/>
            </a:endParaRPr>
          </a:p>
        </p:txBody>
      </p:sp>
      <p:sp>
        <p:nvSpPr>
          <p:cNvPr id="723" name="Google Shape;723;p30"/>
          <p:cNvSpPr txBox="1"/>
          <p:nvPr/>
        </p:nvSpPr>
        <p:spPr>
          <a:xfrm>
            <a:off x="6480262" y="2748707"/>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altLang="en-US" sz="1800" b="1" i="0" u="none" strike="noStrike" cap="none"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先決定</a:t>
            </a:r>
            <a:endParaRPr sz="1400" b="0" i="0" u="none" strike="noStrike" cap="none" dirty="0">
              <a:solidFill>
                <a:srgbClr val="000000"/>
              </a:solidFill>
              <a:latin typeface="Arial"/>
              <a:ea typeface="Arial"/>
              <a:cs typeface="Arial"/>
              <a:sym typeface="Arial"/>
            </a:endParaRPr>
          </a:p>
        </p:txBody>
      </p:sp>
      <p:sp>
        <p:nvSpPr>
          <p:cNvPr id="724" name="Google Shape;724;p30"/>
          <p:cNvSpPr/>
          <p:nvPr/>
        </p:nvSpPr>
        <p:spPr>
          <a:xfrm rot="10800000">
            <a:off x="7060928" y="2363030"/>
            <a:ext cx="177496" cy="16196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5" name="Google Shape;725;p30"/>
          <p:cNvSpPr txBox="1"/>
          <p:nvPr/>
        </p:nvSpPr>
        <p:spPr>
          <a:xfrm>
            <a:off x="4554729" y="1461025"/>
            <a:ext cx="9609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a:t>
            </a:r>
            <a:r>
              <a:rPr lang="ja-JP" sz="2000">
                <a:solidFill>
                  <a:schemeClr val="dk1"/>
                </a:solidFill>
                <a:latin typeface="Poppins Medium"/>
                <a:ea typeface="Poppins Medium"/>
                <a:cs typeface="Poppins Medium"/>
                <a:sym typeface="Poppins Medium"/>
              </a:rPr>
              <a:t>5</a:t>
            </a:r>
            <a:endParaRPr sz="2000" b="0" i="0" u="none" strike="noStrike" cap="none">
              <a:solidFill>
                <a:schemeClr val="dk1"/>
              </a:solidFill>
              <a:latin typeface="Poppins Medium"/>
              <a:ea typeface="Poppins Medium"/>
              <a:cs typeface="Poppins Medium"/>
              <a:sym typeface="Poppins Medium"/>
            </a:endParaRPr>
          </a:p>
        </p:txBody>
      </p:sp>
      <p:sp>
        <p:nvSpPr>
          <p:cNvPr id="726" name="Google Shape;726;p30"/>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応募から研修までの流れ</a:t>
            </a:r>
            <a:endParaRPr/>
          </a:p>
        </p:txBody>
      </p:sp>
      <p:sp>
        <p:nvSpPr>
          <p:cNvPr id="727" name="Google Shape;727;p30"/>
          <p:cNvSpPr/>
          <p:nvPr/>
        </p:nvSpPr>
        <p:spPr>
          <a:xfrm>
            <a:off x="6137448" y="4677279"/>
            <a:ext cx="1967165" cy="1258895"/>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8" name="Google Shape;728;p30"/>
          <p:cNvSpPr/>
          <p:nvPr/>
        </p:nvSpPr>
        <p:spPr>
          <a:xfrm>
            <a:off x="6133590" y="1464141"/>
            <a:ext cx="1967165" cy="1970130"/>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9" name="Google Shape;729;p30"/>
          <p:cNvSpPr/>
          <p:nvPr/>
        </p:nvSpPr>
        <p:spPr>
          <a:xfrm>
            <a:off x="2081040" y="1433376"/>
            <a:ext cx="1983575" cy="4507877"/>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 name="Google Shape;508;p23">
            <a:extLst>
              <a:ext uri="{FF2B5EF4-FFF2-40B4-BE49-F238E27FC236}">
                <a16:creationId xmlns:a16="http://schemas.microsoft.com/office/drawing/2014/main" id="{83AB7349-F012-F399-CABE-6FAE06E9FBFD}"/>
              </a:ext>
            </a:extLst>
          </p:cNvPr>
          <p:cNvGrpSpPr/>
          <p:nvPr/>
        </p:nvGrpSpPr>
        <p:grpSpPr>
          <a:xfrm>
            <a:off x="1296021" y="1388421"/>
            <a:ext cx="687852" cy="4547754"/>
            <a:chOff x="978724" y="1817501"/>
            <a:chExt cx="687852" cy="4547754"/>
          </a:xfrm>
        </p:grpSpPr>
        <p:cxnSp>
          <p:nvCxnSpPr>
            <p:cNvPr id="3" name="Google Shape;509;p23">
              <a:extLst>
                <a:ext uri="{FF2B5EF4-FFF2-40B4-BE49-F238E27FC236}">
                  <a16:creationId xmlns:a16="http://schemas.microsoft.com/office/drawing/2014/main" id="{3DDA08F2-C693-02B6-1971-60F69E3DA766}"/>
                </a:ext>
              </a:extLst>
            </p:cNvPr>
            <p:cNvCxnSpPr/>
            <p:nvPr/>
          </p:nvCxnSpPr>
          <p:spPr>
            <a:xfrm>
              <a:off x="1273046" y="2087501"/>
              <a:ext cx="0" cy="4277754"/>
            </a:xfrm>
            <a:prstGeom prst="straightConnector1">
              <a:avLst/>
            </a:prstGeom>
            <a:noFill/>
            <a:ln w="12700" cap="flat" cmpd="sng">
              <a:solidFill>
                <a:srgbClr val="FECE00"/>
              </a:solidFill>
              <a:prstDash val="solid"/>
              <a:miter lim="800000"/>
              <a:headEnd type="none" w="sm" len="sm"/>
              <a:tailEnd type="none" w="sm" len="sm"/>
            </a:ln>
          </p:spPr>
        </p:cxnSp>
        <p:sp>
          <p:nvSpPr>
            <p:cNvPr id="4" name="Google Shape;510;p23">
              <a:extLst>
                <a:ext uri="{FF2B5EF4-FFF2-40B4-BE49-F238E27FC236}">
                  <a16:creationId xmlns:a16="http://schemas.microsoft.com/office/drawing/2014/main" id="{0F7E5907-6C3A-11CE-98CE-E113A8815CAA}"/>
                </a:ext>
              </a:extLst>
            </p:cNvPr>
            <p:cNvSpPr/>
            <p:nvPr/>
          </p:nvSpPr>
          <p:spPr>
            <a:xfrm>
              <a:off x="1015371" y="497331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 name="Google Shape;512;p23">
              <a:extLst>
                <a:ext uri="{FF2B5EF4-FFF2-40B4-BE49-F238E27FC236}">
                  <a16:creationId xmlns:a16="http://schemas.microsoft.com/office/drawing/2014/main" id="{F106B4F9-BF4F-F797-0170-B6271D6D0484}"/>
                </a:ext>
              </a:extLst>
            </p:cNvPr>
            <p:cNvSpPr/>
            <p:nvPr/>
          </p:nvSpPr>
          <p:spPr>
            <a:xfrm>
              <a:off x="1032027" y="390736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6" name="Google Shape;513;p23">
              <a:extLst>
                <a:ext uri="{FF2B5EF4-FFF2-40B4-BE49-F238E27FC236}">
                  <a16:creationId xmlns:a16="http://schemas.microsoft.com/office/drawing/2014/main" id="{7F683608-6F84-AEF1-CE02-DD1F45871A71}"/>
                </a:ext>
              </a:extLst>
            </p:cNvPr>
            <p:cNvSpPr/>
            <p:nvPr/>
          </p:nvSpPr>
          <p:spPr>
            <a:xfrm>
              <a:off x="1021086" y="2564525"/>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7" name="Google Shape;514;p23">
              <a:extLst>
                <a:ext uri="{FF2B5EF4-FFF2-40B4-BE49-F238E27FC236}">
                  <a16:creationId xmlns:a16="http://schemas.microsoft.com/office/drawing/2014/main" id="{A6992F47-18DC-DE06-09D0-42BEEDF5C5B1}"/>
                </a:ext>
              </a:extLst>
            </p:cNvPr>
            <p:cNvSpPr/>
            <p:nvPr/>
          </p:nvSpPr>
          <p:spPr>
            <a:xfrm>
              <a:off x="1016427" y="181750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8" name="Google Shape;515;p23">
              <a:extLst>
                <a:ext uri="{FF2B5EF4-FFF2-40B4-BE49-F238E27FC236}">
                  <a16:creationId xmlns:a16="http://schemas.microsoft.com/office/drawing/2014/main" id="{CC213BD9-DC22-FEFA-15F4-39105D244561}"/>
                </a:ext>
              </a:extLst>
            </p:cNvPr>
            <p:cNvSpPr txBox="1"/>
            <p:nvPr/>
          </p:nvSpPr>
          <p:spPr>
            <a:xfrm>
              <a:off x="1051624" y="1917822"/>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5</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9" name="Google Shape;516;p23">
              <a:extLst>
                <a:ext uri="{FF2B5EF4-FFF2-40B4-BE49-F238E27FC236}">
                  <a16:creationId xmlns:a16="http://schemas.microsoft.com/office/drawing/2014/main" id="{27C072AB-6DF1-1A0B-30E4-942D19B1DDDB}"/>
                </a:ext>
              </a:extLst>
            </p:cNvPr>
            <p:cNvSpPr txBox="1"/>
            <p:nvPr/>
          </p:nvSpPr>
          <p:spPr>
            <a:xfrm>
              <a:off x="1074211" y="2668639"/>
              <a:ext cx="48122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7</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10" name="Google Shape;519;p23">
              <a:extLst>
                <a:ext uri="{FF2B5EF4-FFF2-40B4-BE49-F238E27FC236}">
                  <a16:creationId xmlns:a16="http://schemas.microsoft.com/office/drawing/2014/main" id="{F105AAB7-F684-CA8D-9538-236901EF356A}"/>
                </a:ext>
              </a:extLst>
            </p:cNvPr>
            <p:cNvSpPr txBox="1"/>
            <p:nvPr/>
          </p:nvSpPr>
          <p:spPr>
            <a:xfrm>
              <a:off x="978724" y="5062831"/>
              <a:ext cx="62388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dirty="0">
                  <a:solidFill>
                    <a:schemeClr val="lt1"/>
                  </a:solidFill>
                  <a:latin typeface="Poppins"/>
                  <a:ea typeface="Poppins"/>
                  <a:cs typeface="Poppins"/>
                  <a:sym typeface="Poppins"/>
                </a:rPr>
                <a:t>1</a:t>
              </a:r>
              <a:r>
                <a:rPr lang="en-US" altLang="ja-JP" sz="1800" b="0" i="0" u="none" strike="noStrike" cap="none" dirty="0">
                  <a:solidFill>
                    <a:schemeClr val="lt1"/>
                  </a:solidFill>
                  <a:latin typeface="Poppins"/>
                  <a:ea typeface="Poppins"/>
                  <a:cs typeface="Poppins"/>
                  <a:sym typeface="Poppins"/>
                </a:rPr>
                <a:t>0</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sp>
          <p:nvSpPr>
            <p:cNvPr id="11" name="Google Shape;518;p23">
              <a:extLst>
                <a:ext uri="{FF2B5EF4-FFF2-40B4-BE49-F238E27FC236}">
                  <a16:creationId xmlns:a16="http://schemas.microsoft.com/office/drawing/2014/main" id="{D8C73903-B9F1-A993-8571-1DC68BF59F7B}"/>
                </a:ext>
              </a:extLst>
            </p:cNvPr>
            <p:cNvSpPr txBox="1"/>
            <p:nvPr/>
          </p:nvSpPr>
          <p:spPr>
            <a:xfrm>
              <a:off x="1042687" y="3993880"/>
              <a:ext cx="623889"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altLang="ja-JP" sz="1800" dirty="0">
                  <a:solidFill>
                    <a:schemeClr val="lt1"/>
                  </a:solidFill>
                  <a:latin typeface="Poppins"/>
                  <a:ea typeface="Calibri"/>
                  <a:cs typeface="Poppins"/>
                  <a:sym typeface="Poppins"/>
                </a:rPr>
                <a:t>9</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grpSp>
      <p:sp>
        <p:nvSpPr>
          <p:cNvPr id="12" name="Google Shape;521;p23">
            <a:extLst>
              <a:ext uri="{FF2B5EF4-FFF2-40B4-BE49-F238E27FC236}">
                <a16:creationId xmlns:a16="http://schemas.microsoft.com/office/drawing/2014/main" id="{6A9558EB-171F-0B06-7E5B-05AE77AB7CDD}"/>
              </a:ext>
            </a:extLst>
          </p:cNvPr>
          <p:cNvSpPr txBox="1"/>
          <p:nvPr/>
        </p:nvSpPr>
        <p:spPr>
          <a:xfrm>
            <a:off x="408799" y="1461025"/>
            <a:ext cx="8871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2024</a:t>
            </a:r>
            <a:endParaRPr sz="2000" b="0" i="0" u="none" strike="noStrike" cap="none">
              <a:solidFill>
                <a:schemeClr val="dk1"/>
              </a:solidFill>
              <a:latin typeface="Poppins Medium"/>
              <a:ea typeface="Poppins Medium"/>
              <a:cs typeface="Poppins Medium"/>
              <a:sym typeface="Poppins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grpSp>
        <p:nvGrpSpPr>
          <p:cNvPr id="734" name="Google Shape;734;p31"/>
          <p:cNvGrpSpPr/>
          <p:nvPr/>
        </p:nvGrpSpPr>
        <p:grpSpPr>
          <a:xfrm>
            <a:off x="5478955" y="1409529"/>
            <a:ext cx="612719" cy="4431979"/>
            <a:chOff x="4965737" y="1933276"/>
            <a:chExt cx="612719" cy="4431979"/>
          </a:xfrm>
        </p:grpSpPr>
        <p:cxnSp>
          <p:nvCxnSpPr>
            <p:cNvPr id="735" name="Google Shape;735;p31"/>
            <p:cNvCxnSpPr/>
            <p:nvPr/>
          </p:nvCxnSpPr>
          <p:spPr>
            <a:xfrm>
              <a:off x="5244495" y="2174171"/>
              <a:ext cx="0" cy="4191084"/>
            </a:xfrm>
            <a:prstGeom prst="straightConnector1">
              <a:avLst/>
            </a:prstGeom>
            <a:noFill/>
            <a:ln w="12700" cap="flat" cmpd="sng">
              <a:solidFill>
                <a:srgbClr val="FECE00"/>
              </a:solidFill>
              <a:prstDash val="solid"/>
              <a:miter lim="800000"/>
              <a:headEnd type="none" w="sm" len="sm"/>
              <a:tailEnd type="none" w="sm" len="sm"/>
            </a:ln>
          </p:spPr>
        </p:cxnSp>
        <p:sp>
          <p:nvSpPr>
            <p:cNvPr id="736" name="Google Shape;736;p31"/>
            <p:cNvSpPr/>
            <p:nvPr/>
          </p:nvSpPr>
          <p:spPr>
            <a:xfrm>
              <a:off x="4966628" y="418164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737" name="Google Shape;737;p31"/>
            <p:cNvSpPr/>
            <p:nvPr/>
          </p:nvSpPr>
          <p:spPr>
            <a:xfrm>
              <a:off x="4965737" y="1933276"/>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738" name="Google Shape;738;p31"/>
            <p:cNvSpPr txBox="1"/>
            <p:nvPr/>
          </p:nvSpPr>
          <p:spPr>
            <a:xfrm>
              <a:off x="5020290" y="2038968"/>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2月</a:t>
              </a:r>
              <a:endParaRPr sz="1400" b="0" i="0" u="none" strike="noStrike" cap="none">
                <a:solidFill>
                  <a:srgbClr val="000000"/>
                </a:solidFill>
                <a:latin typeface="Arial"/>
                <a:ea typeface="Arial"/>
                <a:cs typeface="Arial"/>
                <a:sym typeface="Arial"/>
              </a:endParaRPr>
            </a:p>
          </p:txBody>
        </p:sp>
        <p:sp>
          <p:nvSpPr>
            <p:cNvPr id="739" name="Google Shape;739;p31"/>
            <p:cNvSpPr/>
            <p:nvPr/>
          </p:nvSpPr>
          <p:spPr>
            <a:xfrm>
              <a:off x="4966628" y="3053407"/>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740" name="Google Shape;740;p31"/>
            <p:cNvSpPr txBox="1"/>
            <p:nvPr/>
          </p:nvSpPr>
          <p:spPr>
            <a:xfrm>
              <a:off x="5012718" y="3147242"/>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Poppins"/>
                  <a:ea typeface="Poppins"/>
                  <a:cs typeface="Poppins"/>
                  <a:sym typeface="Poppins"/>
                </a:rPr>
                <a:t>4</a:t>
              </a:r>
              <a:r>
                <a:rPr lang="ja-JP" sz="18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grpSp>
      <p:sp>
        <p:nvSpPr>
          <p:cNvPr id="741" name="Google Shape;741;p31"/>
          <p:cNvSpPr/>
          <p:nvPr/>
        </p:nvSpPr>
        <p:spPr>
          <a:xfrm>
            <a:off x="6201144" y="1474703"/>
            <a:ext cx="1845172" cy="1928572"/>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Calibri"/>
              <a:ea typeface="Calibri"/>
              <a:cs typeface="Calibri"/>
              <a:sym typeface="Calibri"/>
            </a:endParaRPr>
          </a:p>
        </p:txBody>
      </p:sp>
      <p:sp>
        <p:nvSpPr>
          <p:cNvPr id="742" name="Google Shape;742;p31"/>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38</a:t>
            </a:fld>
            <a:endParaRPr/>
          </a:p>
        </p:txBody>
      </p:sp>
      <p:sp>
        <p:nvSpPr>
          <p:cNvPr id="743" name="Google Shape;743;p31"/>
          <p:cNvSpPr/>
          <p:nvPr/>
        </p:nvSpPr>
        <p:spPr>
          <a:xfrm>
            <a:off x="2165171" y="4464802"/>
            <a:ext cx="1850247" cy="69924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面談</a:t>
            </a:r>
            <a:endParaRPr sz="1400" b="0" i="0" u="none" strike="noStrike" cap="none">
              <a:solidFill>
                <a:srgbClr val="000000"/>
              </a:solidFill>
              <a:latin typeface="Arial"/>
              <a:ea typeface="Arial"/>
              <a:cs typeface="Arial"/>
              <a:sym typeface="Arial"/>
            </a:endParaRPr>
          </a:p>
        </p:txBody>
      </p:sp>
      <p:sp>
        <p:nvSpPr>
          <p:cNvPr id="745" name="Google Shape;745;p31"/>
          <p:cNvSpPr/>
          <p:nvPr/>
        </p:nvSpPr>
        <p:spPr>
          <a:xfrm>
            <a:off x="6201144" y="3804563"/>
            <a:ext cx="1794047" cy="844706"/>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altLang="en-US" sz="1800" b="1" i="0" u="none" strike="noStrike" cap="none"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準備会</a:t>
            </a:r>
            <a:endParaRPr sz="1800" b="1" i="0" u="none" strike="noStrike" cap="none"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600"/>
              <a:buFont typeface="Arial"/>
              <a:buNone/>
            </a:pPr>
            <a:r>
              <a:rPr lang="ja-JP" sz="1600" b="1" i="0" u="none" strike="noStrike" cap="none" dirty="0">
                <a:solidFill>
                  <a:schemeClr val="lt1"/>
                </a:solidFill>
                <a:latin typeface="Calibri"/>
                <a:ea typeface="Calibri"/>
                <a:cs typeface="Calibri"/>
                <a:sym typeface="Calibri"/>
              </a:rPr>
              <a:t>（研修前準備）</a:t>
            </a:r>
            <a:endParaRPr sz="1800" b="1" i="0" u="none" strike="noStrike" cap="none" dirty="0">
              <a:solidFill>
                <a:schemeClr val="lt1"/>
              </a:solidFill>
              <a:latin typeface="Calibri"/>
              <a:ea typeface="Calibri"/>
              <a:cs typeface="Calibri"/>
              <a:sym typeface="Calibri"/>
            </a:endParaRPr>
          </a:p>
        </p:txBody>
      </p:sp>
      <p:sp>
        <p:nvSpPr>
          <p:cNvPr id="746" name="Google Shape;746;p31"/>
          <p:cNvSpPr/>
          <p:nvPr/>
        </p:nvSpPr>
        <p:spPr>
          <a:xfrm>
            <a:off x="6193447" y="4719043"/>
            <a:ext cx="1801744" cy="1174717"/>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研修開始</a:t>
            </a:r>
            <a:endParaRPr sz="1800" b="1" i="0" u="none" strike="noStrike" cap="none">
              <a:solidFill>
                <a:schemeClr val="lt1"/>
              </a:solidFill>
              <a:latin typeface="Calibri"/>
              <a:ea typeface="Calibri"/>
              <a:cs typeface="Calibri"/>
              <a:sym typeface="Calibri"/>
            </a:endParaRPr>
          </a:p>
        </p:txBody>
      </p:sp>
      <p:sp>
        <p:nvSpPr>
          <p:cNvPr id="747" name="Google Shape;747;p31"/>
          <p:cNvSpPr/>
          <p:nvPr/>
        </p:nvSpPr>
        <p:spPr>
          <a:xfrm>
            <a:off x="2165171" y="1517118"/>
            <a:ext cx="1850247" cy="1103350"/>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説明会</a:t>
            </a:r>
            <a:endParaRPr sz="1800" b="1" i="0" u="none" strike="noStrike" cap="none">
              <a:solidFill>
                <a:schemeClr val="lt1"/>
              </a:solidFill>
              <a:latin typeface="Calibri"/>
              <a:ea typeface="Calibri"/>
              <a:cs typeface="Calibri"/>
              <a:sym typeface="Calibri"/>
            </a:endParaRPr>
          </a:p>
        </p:txBody>
      </p:sp>
      <p:sp>
        <p:nvSpPr>
          <p:cNvPr id="748" name="Google Shape;748;p31"/>
          <p:cNvSpPr/>
          <p:nvPr/>
        </p:nvSpPr>
        <p:spPr>
          <a:xfrm>
            <a:off x="2165171" y="2718162"/>
            <a:ext cx="1850247" cy="1185184"/>
          </a:xfrm>
          <a:prstGeom prst="rect">
            <a:avLst/>
          </a:prstGeom>
          <a:gradFill>
            <a:gsLst>
              <a:gs pos="0">
                <a:srgbClr val="185FAE"/>
              </a:gs>
              <a:gs pos="52000">
                <a:srgbClr val="2498DA"/>
              </a:gs>
              <a:gs pos="100000">
                <a:srgbClr val="3EB4A8"/>
              </a:gs>
            </a:gsLst>
            <a:lin ang="1800000" scaled="0"/>
          </a:gra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応 募</a:t>
            </a:r>
            <a:endParaRPr sz="1800" b="1" i="0" u="none" strike="noStrike" cap="none">
              <a:solidFill>
                <a:schemeClr val="lt1"/>
              </a:solidFill>
              <a:latin typeface="Calibri"/>
              <a:ea typeface="Calibri"/>
              <a:cs typeface="Calibri"/>
              <a:sym typeface="Calibri"/>
            </a:endParaRPr>
          </a:p>
        </p:txBody>
      </p:sp>
      <p:sp>
        <p:nvSpPr>
          <p:cNvPr id="761" name="Google Shape;761;p31"/>
          <p:cNvSpPr txBox="1"/>
          <p:nvPr/>
        </p:nvSpPr>
        <p:spPr>
          <a:xfrm>
            <a:off x="5515767" y="3758056"/>
            <a:ext cx="68537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6</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763" name="Google Shape;763;p31"/>
          <p:cNvSpPr txBox="1"/>
          <p:nvPr/>
        </p:nvSpPr>
        <p:spPr>
          <a:xfrm>
            <a:off x="6494874" y="1815659"/>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1" i="0" u="none" strike="noStrike" cap="none">
                <a:solidFill>
                  <a:schemeClr val="lt1"/>
                </a:solidFill>
                <a:latin typeface="Calibri"/>
                <a:ea typeface="Calibri"/>
                <a:cs typeface="Calibri"/>
                <a:sym typeface="Calibri"/>
              </a:rPr>
              <a:t>マッチング</a:t>
            </a:r>
            <a:endParaRPr sz="1400" b="0" i="0" u="none" strike="noStrike" cap="none">
              <a:solidFill>
                <a:srgbClr val="000000"/>
              </a:solidFill>
              <a:latin typeface="Arial"/>
              <a:ea typeface="Arial"/>
              <a:cs typeface="Arial"/>
              <a:sym typeface="Arial"/>
            </a:endParaRPr>
          </a:p>
        </p:txBody>
      </p:sp>
      <p:sp>
        <p:nvSpPr>
          <p:cNvPr id="764" name="Google Shape;764;p31"/>
          <p:cNvSpPr txBox="1"/>
          <p:nvPr/>
        </p:nvSpPr>
        <p:spPr>
          <a:xfrm>
            <a:off x="6480262" y="2748707"/>
            <a:ext cx="133882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altLang="en-US" sz="1800" b="1" i="0" u="none" strike="noStrike" cap="none" dirty="0">
                <a:solidFill>
                  <a:schemeClr val="lt1"/>
                </a:solidFill>
                <a:latin typeface="Calibri"/>
                <a:ea typeface="Calibri"/>
                <a:cs typeface="Calibri"/>
                <a:sym typeface="Calibri"/>
              </a:rPr>
              <a:t>研修</a:t>
            </a:r>
            <a:r>
              <a:rPr lang="ja-JP" sz="1800" b="1" i="0" u="none" strike="noStrike" cap="none" dirty="0">
                <a:solidFill>
                  <a:schemeClr val="lt1"/>
                </a:solidFill>
                <a:latin typeface="Calibri"/>
                <a:ea typeface="Calibri"/>
                <a:cs typeface="Calibri"/>
                <a:sym typeface="Calibri"/>
              </a:rPr>
              <a:t>先決定</a:t>
            </a:r>
            <a:endParaRPr sz="1400" b="0" i="0" u="none" strike="noStrike" cap="none" dirty="0">
              <a:solidFill>
                <a:srgbClr val="000000"/>
              </a:solidFill>
              <a:latin typeface="Arial"/>
              <a:ea typeface="Arial"/>
              <a:cs typeface="Arial"/>
              <a:sym typeface="Arial"/>
            </a:endParaRPr>
          </a:p>
        </p:txBody>
      </p:sp>
      <p:sp>
        <p:nvSpPr>
          <p:cNvPr id="765" name="Google Shape;765;p31"/>
          <p:cNvSpPr/>
          <p:nvPr/>
        </p:nvSpPr>
        <p:spPr>
          <a:xfrm rot="10800000">
            <a:off x="7060928" y="2363030"/>
            <a:ext cx="177496" cy="16196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6" name="Google Shape;766;p31"/>
          <p:cNvSpPr txBox="1"/>
          <p:nvPr/>
        </p:nvSpPr>
        <p:spPr>
          <a:xfrm>
            <a:off x="4554729" y="1461025"/>
            <a:ext cx="9807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a:t>
            </a:r>
            <a:r>
              <a:rPr lang="ja-JP" sz="2000">
                <a:solidFill>
                  <a:schemeClr val="dk1"/>
                </a:solidFill>
                <a:latin typeface="Poppins Medium"/>
                <a:ea typeface="Poppins Medium"/>
                <a:cs typeface="Poppins Medium"/>
                <a:sym typeface="Poppins Medium"/>
              </a:rPr>
              <a:t>5</a:t>
            </a:r>
            <a:endParaRPr sz="2000" b="0" i="0" u="none" strike="noStrike" cap="none">
              <a:solidFill>
                <a:schemeClr val="dk1"/>
              </a:solidFill>
              <a:latin typeface="Poppins Medium"/>
              <a:ea typeface="Poppins Medium"/>
              <a:cs typeface="Poppins Medium"/>
              <a:sym typeface="Poppins Medium"/>
            </a:endParaRPr>
          </a:p>
        </p:txBody>
      </p:sp>
      <p:sp>
        <p:nvSpPr>
          <p:cNvPr id="767" name="Google Shape;767;p31"/>
          <p:cNvSpPr txBox="1">
            <a:spLocks noGrp="1"/>
          </p:cNvSpPr>
          <p:nvPr>
            <p:ph type="title"/>
          </p:nvPr>
        </p:nvSpPr>
        <p:spPr>
          <a:xfrm>
            <a:off x="229651" y="0"/>
            <a:ext cx="7983016"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ltLang="en-US" dirty="0"/>
              <a:t>応募から研修までの流れ 　（</a:t>
            </a:r>
            <a:r>
              <a:rPr lang="en-US" altLang="ja-JP" dirty="0"/>
              <a:t>9</a:t>
            </a:r>
            <a:r>
              <a:rPr lang="ja-JP" altLang="en-US" dirty="0"/>
              <a:t>月応募の</a:t>
            </a:r>
            <a:r>
              <a:rPr lang="en-US" altLang="ja-JP" dirty="0"/>
              <a:t>Exchange Internship </a:t>
            </a:r>
            <a:r>
              <a:rPr lang="ja-JP" altLang="en-US" dirty="0"/>
              <a:t>の場合）</a:t>
            </a:r>
            <a:endParaRPr dirty="0"/>
          </a:p>
        </p:txBody>
      </p:sp>
      <p:sp>
        <p:nvSpPr>
          <p:cNvPr id="768" name="Google Shape;768;p31"/>
          <p:cNvSpPr/>
          <p:nvPr/>
        </p:nvSpPr>
        <p:spPr>
          <a:xfrm>
            <a:off x="6133590" y="1472530"/>
            <a:ext cx="1967165" cy="3185128"/>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9" name="Google Shape;769;p31"/>
          <p:cNvSpPr/>
          <p:nvPr/>
        </p:nvSpPr>
        <p:spPr>
          <a:xfrm>
            <a:off x="2083778" y="1461028"/>
            <a:ext cx="1983575" cy="4507877"/>
          </a:xfrm>
          <a:prstGeom prst="rect">
            <a:avLst/>
          </a:prstGeom>
          <a:solidFill>
            <a:schemeClr val="lt1">
              <a:alpha val="6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 name="Google Shape;508;p23">
            <a:extLst>
              <a:ext uri="{FF2B5EF4-FFF2-40B4-BE49-F238E27FC236}">
                <a16:creationId xmlns:a16="http://schemas.microsoft.com/office/drawing/2014/main" id="{1AD67388-772A-A997-34D6-EE36DB7D6628}"/>
              </a:ext>
            </a:extLst>
          </p:cNvPr>
          <p:cNvGrpSpPr/>
          <p:nvPr/>
        </p:nvGrpSpPr>
        <p:grpSpPr>
          <a:xfrm>
            <a:off x="1296021" y="1388421"/>
            <a:ext cx="687852" cy="4547754"/>
            <a:chOff x="978724" y="1817501"/>
            <a:chExt cx="687852" cy="4547754"/>
          </a:xfrm>
        </p:grpSpPr>
        <p:cxnSp>
          <p:nvCxnSpPr>
            <p:cNvPr id="3" name="Google Shape;509;p23">
              <a:extLst>
                <a:ext uri="{FF2B5EF4-FFF2-40B4-BE49-F238E27FC236}">
                  <a16:creationId xmlns:a16="http://schemas.microsoft.com/office/drawing/2014/main" id="{AAE08659-2A32-EF7C-9381-EE19AAEB370C}"/>
                </a:ext>
              </a:extLst>
            </p:cNvPr>
            <p:cNvCxnSpPr/>
            <p:nvPr/>
          </p:nvCxnSpPr>
          <p:spPr>
            <a:xfrm>
              <a:off x="1273046" y="2087501"/>
              <a:ext cx="0" cy="4277754"/>
            </a:xfrm>
            <a:prstGeom prst="straightConnector1">
              <a:avLst/>
            </a:prstGeom>
            <a:noFill/>
            <a:ln w="12700" cap="flat" cmpd="sng">
              <a:solidFill>
                <a:srgbClr val="FECE00"/>
              </a:solidFill>
              <a:prstDash val="solid"/>
              <a:miter lim="800000"/>
              <a:headEnd type="none" w="sm" len="sm"/>
              <a:tailEnd type="none" w="sm" len="sm"/>
            </a:ln>
          </p:spPr>
        </p:cxnSp>
        <p:sp>
          <p:nvSpPr>
            <p:cNvPr id="4" name="Google Shape;510;p23">
              <a:extLst>
                <a:ext uri="{FF2B5EF4-FFF2-40B4-BE49-F238E27FC236}">
                  <a16:creationId xmlns:a16="http://schemas.microsoft.com/office/drawing/2014/main" id="{8D8150AB-8D32-C4B6-99C0-D312ED5B52DC}"/>
                </a:ext>
              </a:extLst>
            </p:cNvPr>
            <p:cNvSpPr/>
            <p:nvPr/>
          </p:nvSpPr>
          <p:spPr>
            <a:xfrm>
              <a:off x="1015371" y="497331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5" name="Google Shape;512;p23">
              <a:extLst>
                <a:ext uri="{FF2B5EF4-FFF2-40B4-BE49-F238E27FC236}">
                  <a16:creationId xmlns:a16="http://schemas.microsoft.com/office/drawing/2014/main" id="{54931007-D9F7-50A7-FAF8-B941A2C8902C}"/>
                </a:ext>
              </a:extLst>
            </p:cNvPr>
            <p:cNvSpPr/>
            <p:nvPr/>
          </p:nvSpPr>
          <p:spPr>
            <a:xfrm>
              <a:off x="1032027" y="390736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6" name="Google Shape;513;p23">
              <a:extLst>
                <a:ext uri="{FF2B5EF4-FFF2-40B4-BE49-F238E27FC236}">
                  <a16:creationId xmlns:a16="http://schemas.microsoft.com/office/drawing/2014/main" id="{2CE487AA-5D26-E78C-2EC0-E6AE25AD719C}"/>
                </a:ext>
              </a:extLst>
            </p:cNvPr>
            <p:cNvSpPr/>
            <p:nvPr/>
          </p:nvSpPr>
          <p:spPr>
            <a:xfrm>
              <a:off x="1021086" y="2564525"/>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7" name="Google Shape;514;p23">
              <a:extLst>
                <a:ext uri="{FF2B5EF4-FFF2-40B4-BE49-F238E27FC236}">
                  <a16:creationId xmlns:a16="http://schemas.microsoft.com/office/drawing/2014/main" id="{A7CDC1CE-F020-036B-7E0A-E133A021073A}"/>
                </a:ext>
              </a:extLst>
            </p:cNvPr>
            <p:cNvSpPr/>
            <p:nvPr/>
          </p:nvSpPr>
          <p:spPr>
            <a:xfrm>
              <a:off x="1016427" y="1817501"/>
              <a:ext cx="540000" cy="540000"/>
            </a:xfrm>
            <a:prstGeom prst="ellipse">
              <a:avLst/>
            </a:prstGeom>
            <a:solidFill>
              <a:srgbClr val="FECE00"/>
            </a:solidFill>
            <a:ln>
              <a:noFill/>
            </a:ln>
          </p:spPr>
          <p:txBody>
            <a:bodyPr spcFirstLastPara="1" wrap="square" lIns="91425" tIns="45700" rIns="91425" bIns="72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Medium"/>
                <a:ea typeface="Poppins Medium"/>
                <a:cs typeface="Poppins Medium"/>
                <a:sym typeface="Poppins Medium"/>
              </a:endParaRPr>
            </a:p>
          </p:txBody>
        </p:sp>
        <p:sp>
          <p:nvSpPr>
            <p:cNvPr id="8" name="Google Shape;515;p23">
              <a:extLst>
                <a:ext uri="{FF2B5EF4-FFF2-40B4-BE49-F238E27FC236}">
                  <a16:creationId xmlns:a16="http://schemas.microsoft.com/office/drawing/2014/main" id="{18C0224F-2FFF-A68C-556C-EB30AF1325C2}"/>
                </a:ext>
              </a:extLst>
            </p:cNvPr>
            <p:cNvSpPr txBox="1"/>
            <p:nvPr/>
          </p:nvSpPr>
          <p:spPr>
            <a:xfrm>
              <a:off x="1051624" y="1917822"/>
              <a:ext cx="5581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5</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9" name="Google Shape;516;p23">
              <a:extLst>
                <a:ext uri="{FF2B5EF4-FFF2-40B4-BE49-F238E27FC236}">
                  <a16:creationId xmlns:a16="http://schemas.microsoft.com/office/drawing/2014/main" id="{4FE256B5-524D-3725-FD04-41A96C99CFDA}"/>
                </a:ext>
              </a:extLst>
            </p:cNvPr>
            <p:cNvSpPr txBox="1"/>
            <p:nvPr/>
          </p:nvSpPr>
          <p:spPr>
            <a:xfrm>
              <a:off x="1074211" y="2668639"/>
              <a:ext cx="48122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chemeClr val="lt1"/>
                  </a:solidFill>
                  <a:latin typeface="Poppins"/>
                  <a:ea typeface="Poppins"/>
                  <a:cs typeface="Poppins"/>
                  <a:sym typeface="Poppins"/>
                </a:rPr>
                <a:t>7</a:t>
              </a:r>
              <a:r>
                <a:rPr lang="ja-JP" sz="1200" b="1" i="0" u="none" strike="noStrike" cap="none">
                  <a:solidFill>
                    <a:schemeClr val="lt1"/>
                  </a:solidFill>
                  <a:latin typeface="Calibri"/>
                  <a:ea typeface="Calibri"/>
                  <a:cs typeface="Calibri"/>
                  <a:sym typeface="Calibri"/>
                </a:rPr>
                <a:t>月</a:t>
              </a:r>
              <a:endParaRPr sz="1400" b="0" i="0" u="none" strike="noStrike" cap="none">
                <a:solidFill>
                  <a:srgbClr val="000000"/>
                </a:solidFill>
                <a:latin typeface="Arial"/>
                <a:ea typeface="Arial"/>
                <a:cs typeface="Arial"/>
                <a:sym typeface="Arial"/>
              </a:endParaRPr>
            </a:p>
          </p:txBody>
        </p:sp>
        <p:sp>
          <p:nvSpPr>
            <p:cNvPr id="10" name="Google Shape;519;p23">
              <a:extLst>
                <a:ext uri="{FF2B5EF4-FFF2-40B4-BE49-F238E27FC236}">
                  <a16:creationId xmlns:a16="http://schemas.microsoft.com/office/drawing/2014/main" id="{7350F796-1223-8969-39D6-50D9AE77497A}"/>
                </a:ext>
              </a:extLst>
            </p:cNvPr>
            <p:cNvSpPr txBox="1"/>
            <p:nvPr/>
          </p:nvSpPr>
          <p:spPr>
            <a:xfrm>
              <a:off x="978724" y="5062831"/>
              <a:ext cx="62388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dirty="0">
                  <a:solidFill>
                    <a:schemeClr val="lt1"/>
                  </a:solidFill>
                  <a:latin typeface="Poppins"/>
                  <a:ea typeface="Poppins"/>
                  <a:cs typeface="Poppins"/>
                  <a:sym typeface="Poppins"/>
                </a:rPr>
                <a:t>1</a:t>
              </a:r>
              <a:r>
                <a:rPr lang="en-US" altLang="ja-JP" sz="1800" b="0" i="0" u="none" strike="noStrike" cap="none" dirty="0">
                  <a:solidFill>
                    <a:schemeClr val="lt1"/>
                  </a:solidFill>
                  <a:latin typeface="Poppins"/>
                  <a:ea typeface="Poppins"/>
                  <a:cs typeface="Poppins"/>
                  <a:sym typeface="Poppins"/>
                </a:rPr>
                <a:t>0</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sp>
          <p:nvSpPr>
            <p:cNvPr id="11" name="Google Shape;518;p23">
              <a:extLst>
                <a:ext uri="{FF2B5EF4-FFF2-40B4-BE49-F238E27FC236}">
                  <a16:creationId xmlns:a16="http://schemas.microsoft.com/office/drawing/2014/main" id="{3FC556D5-B280-D1C3-0366-09E9C586926C}"/>
                </a:ext>
              </a:extLst>
            </p:cNvPr>
            <p:cNvSpPr txBox="1"/>
            <p:nvPr/>
          </p:nvSpPr>
          <p:spPr>
            <a:xfrm>
              <a:off x="1042687" y="3993880"/>
              <a:ext cx="623889"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altLang="ja-JP" sz="1800" dirty="0">
                  <a:solidFill>
                    <a:schemeClr val="lt1"/>
                  </a:solidFill>
                  <a:latin typeface="Poppins"/>
                  <a:ea typeface="Calibri"/>
                  <a:cs typeface="Poppins"/>
                  <a:sym typeface="Poppins"/>
                </a:rPr>
                <a:t>9</a:t>
              </a:r>
              <a:r>
                <a:rPr lang="ja-JP" sz="1200" b="1" i="0" u="none" strike="noStrike" cap="none" dirty="0">
                  <a:solidFill>
                    <a:schemeClr val="lt1"/>
                  </a:solidFill>
                  <a:latin typeface="Calibri"/>
                  <a:ea typeface="Calibri"/>
                  <a:cs typeface="Calibri"/>
                  <a:sym typeface="Calibri"/>
                </a:rPr>
                <a:t>月</a:t>
              </a:r>
              <a:endParaRPr sz="1400" b="0" i="0" u="none" strike="noStrike" cap="none" dirty="0">
                <a:solidFill>
                  <a:srgbClr val="000000"/>
                </a:solidFill>
                <a:latin typeface="Arial"/>
                <a:ea typeface="Arial"/>
                <a:cs typeface="Arial"/>
                <a:sym typeface="Arial"/>
              </a:endParaRPr>
            </a:p>
          </p:txBody>
        </p:sp>
      </p:grpSp>
      <p:sp>
        <p:nvSpPr>
          <p:cNvPr id="12" name="Google Shape;521;p23">
            <a:extLst>
              <a:ext uri="{FF2B5EF4-FFF2-40B4-BE49-F238E27FC236}">
                <a16:creationId xmlns:a16="http://schemas.microsoft.com/office/drawing/2014/main" id="{F1146DB2-0FAA-70B6-A2AB-18D6422DBD58}"/>
              </a:ext>
            </a:extLst>
          </p:cNvPr>
          <p:cNvSpPr txBox="1"/>
          <p:nvPr/>
        </p:nvSpPr>
        <p:spPr>
          <a:xfrm>
            <a:off x="408799" y="1461025"/>
            <a:ext cx="8871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0" i="0" u="none" strike="noStrike" cap="none">
                <a:solidFill>
                  <a:schemeClr val="dk1"/>
                </a:solidFill>
                <a:latin typeface="Poppins Medium"/>
                <a:ea typeface="Poppins Medium"/>
                <a:cs typeface="Poppins Medium"/>
                <a:sym typeface="Poppins Medium"/>
              </a:rPr>
              <a:t>2024</a:t>
            </a:r>
            <a:endParaRPr sz="2000" b="0" i="0" u="none" strike="noStrike" cap="none">
              <a:solidFill>
                <a:schemeClr val="dk1"/>
              </a:solidFill>
              <a:latin typeface="Poppins Medium"/>
              <a:ea typeface="Poppins Medium"/>
              <a:cs typeface="Poppins Medium"/>
              <a:sym typeface="Poppins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32"/>
          <p:cNvSpPr txBox="1">
            <a:spLocks noGrp="1"/>
          </p:cNvSpPr>
          <p:nvPr>
            <p:ph type="sldNum" idx="12"/>
          </p:nvPr>
        </p:nvSpPr>
        <p:spPr>
          <a:xfrm>
            <a:off x="6851962" y="6368951"/>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39</a:t>
            </a:fld>
            <a:endParaRPr/>
          </a:p>
        </p:txBody>
      </p:sp>
      <p:sp>
        <p:nvSpPr>
          <p:cNvPr id="775" name="Google Shape;775;p32"/>
          <p:cNvSpPr txBox="1">
            <a:spLocks noGrp="1"/>
          </p:cNvSpPr>
          <p:nvPr>
            <p:ph type="title"/>
          </p:nvPr>
        </p:nvSpPr>
        <p:spPr>
          <a:xfrm>
            <a:off x="229651" y="0"/>
            <a:ext cx="7079882" cy="609047"/>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a:t>お問い合わせ</a:t>
            </a:r>
            <a:endParaRPr/>
          </a:p>
        </p:txBody>
      </p:sp>
      <p:sp>
        <p:nvSpPr>
          <p:cNvPr id="776" name="Google Shape;776;p32"/>
          <p:cNvSpPr txBox="1"/>
          <p:nvPr/>
        </p:nvSpPr>
        <p:spPr>
          <a:xfrm>
            <a:off x="3982482" y="1761383"/>
            <a:ext cx="351512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0" i="0" u="none" strike="noStrike" cap="none">
                <a:solidFill>
                  <a:schemeClr val="dk1"/>
                </a:solidFill>
                <a:latin typeface="Poppins Medium"/>
                <a:ea typeface="Poppins Medium"/>
                <a:cs typeface="Poppins Medium"/>
                <a:sym typeface="Poppins Medium"/>
              </a:rPr>
              <a:t>www.iaeste.or.jp</a:t>
            </a:r>
            <a:endParaRPr sz="2400" b="0" i="0" u="none" strike="noStrike" cap="none">
              <a:solidFill>
                <a:schemeClr val="dk1"/>
              </a:solidFill>
              <a:latin typeface="Poppins Medium"/>
              <a:ea typeface="Poppins Medium"/>
              <a:cs typeface="Poppins Medium"/>
              <a:sym typeface="Poppins Medium"/>
            </a:endParaRPr>
          </a:p>
        </p:txBody>
      </p:sp>
      <p:sp>
        <p:nvSpPr>
          <p:cNvPr id="777" name="Google Shape;777;p32"/>
          <p:cNvSpPr txBox="1"/>
          <p:nvPr/>
        </p:nvSpPr>
        <p:spPr>
          <a:xfrm>
            <a:off x="3982482" y="3225570"/>
            <a:ext cx="4174728"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0" i="0" u="none" strike="noStrike" cap="none">
                <a:solidFill>
                  <a:schemeClr val="dk1"/>
                </a:solidFill>
                <a:latin typeface="Poppins Medium"/>
                <a:ea typeface="Poppins Medium"/>
                <a:cs typeface="Poppins Medium"/>
                <a:sym typeface="Poppins Medium"/>
              </a:rPr>
              <a:t>office@iaeste.or.jp</a:t>
            </a:r>
            <a:endParaRPr sz="2400" b="0" i="0" u="none" strike="noStrike" cap="none">
              <a:solidFill>
                <a:schemeClr val="dk1"/>
              </a:solidFill>
              <a:latin typeface="Poppins Medium"/>
              <a:ea typeface="Poppins Medium"/>
              <a:cs typeface="Poppins Medium"/>
              <a:sym typeface="Poppins Medium"/>
            </a:endParaRPr>
          </a:p>
        </p:txBody>
      </p:sp>
      <p:sp>
        <p:nvSpPr>
          <p:cNvPr id="778" name="Google Shape;778;p32"/>
          <p:cNvSpPr txBox="1"/>
          <p:nvPr/>
        </p:nvSpPr>
        <p:spPr>
          <a:xfrm>
            <a:off x="3982482" y="4774532"/>
            <a:ext cx="415212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JP" sz="2400" b="0" i="0" u="none" strike="noStrike" cap="none">
                <a:solidFill>
                  <a:schemeClr val="dk1"/>
                </a:solidFill>
                <a:latin typeface="Poppins Medium"/>
                <a:ea typeface="Poppins Medium"/>
                <a:cs typeface="Poppins Medium"/>
                <a:sym typeface="Poppins Medium"/>
              </a:rPr>
              <a:t>@iaeste.japan</a:t>
            </a:r>
            <a:endParaRPr sz="2400" b="0" i="0" u="none" strike="noStrike" cap="none">
              <a:solidFill>
                <a:schemeClr val="dk1"/>
              </a:solidFill>
              <a:latin typeface="Poppins Medium"/>
              <a:ea typeface="Poppins Medium"/>
              <a:cs typeface="Poppins Medium"/>
              <a:sym typeface="Poppins Medium"/>
            </a:endParaRPr>
          </a:p>
        </p:txBody>
      </p:sp>
      <p:grpSp>
        <p:nvGrpSpPr>
          <p:cNvPr id="779" name="Google Shape;779;p32"/>
          <p:cNvGrpSpPr/>
          <p:nvPr/>
        </p:nvGrpSpPr>
        <p:grpSpPr>
          <a:xfrm>
            <a:off x="4069904" y="2289588"/>
            <a:ext cx="2785804" cy="274487"/>
            <a:chOff x="3619673" y="2381012"/>
            <a:chExt cx="2785804" cy="274487"/>
          </a:xfrm>
        </p:grpSpPr>
        <p:sp>
          <p:nvSpPr>
            <p:cNvPr id="780" name="Google Shape;780;p32"/>
            <p:cNvSpPr/>
            <p:nvPr/>
          </p:nvSpPr>
          <p:spPr>
            <a:xfrm>
              <a:off x="3619673" y="2381012"/>
              <a:ext cx="2299682" cy="272955"/>
            </a:xfrm>
            <a:prstGeom prst="rect">
              <a:avLst/>
            </a:prstGeom>
            <a:solidFill>
              <a:schemeClr val="lt1"/>
            </a:solidFill>
            <a:ln w="12700" cap="flat" cmpd="sng">
              <a:solidFill>
                <a:srgbClr val="2498DA"/>
              </a:solidFill>
              <a:prstDash val="solid"/>
              <a:miter lim="800000"/>
              <a:headEnd type="none" w="sm" len="sm"/>
              <a:tailEnd type="none" w="sm" len="sm"/>
            </a:ln>
          </p:spPr>
          <p:txBody>
            <a:bodyPr spcFirstLastPara="1" wrap="square" lIns="91425" tIns="36000" rIns="91425" bIns="360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ja-JP" sz="1400" b="1" i="0" u="none" strike="noStrike" cap="none">
                  <a:solidFill>
                    <a:schemeClr val="dk1"/>
                  </a:solidFill>
                  <a:latin typeface="Calibri"/>
                  <a:ea typeface="Calibri"/>
                  <a:cs typeface="Calibri"/>
                  <a:sym typeface="Calibri"/>
                </a:rPr>
                <a:t>イアエステ</a:t>
              </a:r>
              <a:endParaRPr sz="1400" b="1" i="0" u="none" strike="noStrike" cap="none">
                <a:solidFill>
                  <a:schemeClr val="dk1"/>
                </a:solidFill>
                <a:latin typeface="Calibri"/>
                <a:ea typeface="Calibri"/>
                <a:cs typeface="Calibri"/>
                <a:sym typeface="Calibri"/>
              </a:endParaRPr>
            </a:p>
          </p:txBody>
        </p:sp>
        <p:sp>
          <p:nvSpPr>
            <p:cNvPr id="781" name="Google Shape;781;p32"/>
            <p:cNvSpPr/>
            <p:nvPr/>
          </p:nvSpPr>
          <p:spPr>
            <a:xfrm>
              <a:off x="5919355" y="2382544"/>
              <a:ext cx="486122" cy="272955"/>
            </a:xfrm>
            <a:prstGeom prst="rect">
              <a:avLst/>
            </a:prstGeom>
            <a:solidFill>
              <a:srgbClr val="2498DA"/>
            </a:solidFill>
            <a:ln w="12700" cap="flat" cmpd="sng">
              <a:solidFill>
                <a:srgbClr val="2498DA"/>
              </a:solidFill>
              <a:prstDash val="solid"/>
              <a:miter lim="800000"/>
              <a:headEnd type="none" w="sm" len="sm"/>
              <a:tailEnd type="none" w="sm" len="sm"/>
            </a:ln>
          </p:spPr>
          <p:txBody>
            <a:bodyPr spcFirstLastPara="1" wrap="square" lIns="91425" tIns="36000" rIns="91425" bIns="4570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JP" sz="1000" b="0" i="0" u="none" strike="noStrike" cap="none">
                  <a:solidFill>
                    <a:schemeClr val="lt1"/>
                  </a:solidFill>
                  <a:latin typeface="Arial"/>
                  <a:ea typeface="Arial"/>
                  <a:cs typeface="Arial"/>
                  <a:sym typeface="Arial"/>
                </a:rPr>
                <a:t>検 索</a:t>
              </a:r>
              <a:endParaRPr sz="1000" b="0" i="0" u="none" strike="noStrike" cap="none">
                <a:solidFill>
                  <a:schemeClr val="lt1"/>
                </a:solidFill>
                <a:latin typeface="Arial"/>
                <a:ea typeface="Arial"/>
                <a:cs typeface="Arial"/>
                <a:sym typeface="Arial"/>
              </a:endParaRPr>
            </a:p>
          </p:txBody>
        </p:sp>
      </p:grpSp>
      <p:sp>
        <p:nvSpPr>
          <p:cNvPr id="782" name="Google Shape;782;p32"/>
          <p:cNvSpPr txBox="1"/>
          <p:nvPr/>
        </p:nvSpPr>
        <p:spPr>
          <a:xfrm>
            <a:off x="3982482" y="3659340"/>
            <a:ext cx="374072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JP" sz="1400" b="0" i="0" u="none" strike="noStrike" cap="none">
                <a:solidFill>
                  <a:schemeClr val="dk1"/>
                </a:solidFill>
                <a:latin typeface="Calibri"/>
                <a:ea typeface="Calibri"/>
                <a:cs typeface="Calibri"/>
                <a:sym typeface="Calibri"/>
              </a:rPr>
              <a:t>電話によるお問い合わせはできません。</a:t>
            </a:r>
            <a:endParaRPr sz="1400" b="0" i="0" u="none" strike="noStrike" cap="none">
              <a:solidFill>
                <a:srgbClr val="000000"/>
              </a:solidFill>
              <a:latin typeface="Arial"/>
              <a:ea typeface="Arial"/>
              <a:cs typeface="Arial"/>
              <a:sym typeface="Arial"/>
            </a:endParaRPr>
          </a:p>
        </p:txBody>
      </p:sp>
      <p:sp>
        <p:nvSpPr>
          <p:cNvPr id="783" name="Google Shape;783;p32"/>
          <p:cNvSpPr txBox="1"/>
          <p:nvPr/>
        </p:nvSpPr>
        <p:spPr>
          <a:xfrm>
            <a:off x="1053812" y="2989548"/>
            <a:ext cx="2819370" cy="120032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7200"/>
              <a:buFont typeface="Arial"/>
              <a:buNone/>
            </a:pPr>
            <a:r>
              <a:rPr lang="ja-JP" sz="7200" b="1" i="0" u="none" strike="noStrike" cap="none">
                <a:solidFill>
                  <a:srgbClr val="3EB4A8"/>
                </a:solidFill>
                <a:latin typeface="Poppins Medium"/>
                <a:ea typeface="Poppins Medium"/>
                <a:cs typeface="Poppins Medium"/>
                <a:sym typeface="Poppins Medium"/>
              </a:rPr>
              <a:t>MAIL</a:t>
            </a:r>
            <a:endParaRPr sz="7200" b="1" i="0" u="none" strike="noStrike" cap="none">
              <a:solidFill>
                <a:srgbClr val="3EB4A8"/>
              </a:solidFill>
              <a:latin typeface="Poppins Medium"/>
              <a:ea typeface="Poppins Medium"/>
              <a:cs typeface="Poppins Medium"/>
              <a:sym typeface="Poppins Medium"/>
            </a:endParaRPr>
          </a:p>
        </p:txBody>
      </p:sp>
      <p:sp>
        <p:nvSpPr>
          <p:cNvPr id="784" name="Google Shape;784;p32"/>
          <p:cNvSpPr txBox="1"/>
          <p:nvPr/>
        </p:nvSpPr>
        <p:spPr>
          <a:xfrm>
            <a:off x="1479382" y="4405201"/>
            <a:ext cx="2393800" cy="120032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7200"/>
              <a:buFont typeface="Arial"/>
              <a:buNone/>
            </a:pPr>
            <a:r>
              <a:rPr lang="ja-JP" sz="7200" b="1" i="0" u="none" strike="noStrike" cap="none">
                <a:solidFill>
                  <a:srgbClr val="3EB4A8"/>
                </a:solidFill>
                <a:latin typeface="Poppins Medium"/>
                <a:ea typeface="Poppins Medium"/>
                <a:cs typeface="Poppins Medium"/>
                <a:sym typeface="Poppins Medium"/>
              </a:rPr>
              <a:t>FB</a:t>
            </a:r>
            <a:endParaRPr sz="7200" b="1" i="0" u="none" strike="noStrike" cap="none">
              <a:solidFill>
                <a:srgbClr val="3EB4A8"/>
              </a:solidFill>
              <a:latin typeface="Poppins Medium"/>
              <a:ea typeface="Poppins Medium"/>
              <a:cs typeface="Poppins Medium"/>
              <a:sym typeface="Poppins Medium"/>
            </a:endParaRPr>
          </a:p>
        </p:txBody>
      </p:sp>
      <p:sp>
        <p:nvSpPr>
          <p:cNvPr id="785" name="Google Shape;785;p32"/>
          <p:cNvSpPr txBox="1"/>
          <p:nvPr/>
        </p:nvSpPr>
        <p:spPr>
          <a:xfrm>
            <a:off x="1881274" y="1623396"/>
            <a:ext cx="1991908" cy="120032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7200"/>
              <a:buFont typeface="Arial"/>
              <a:buNone/>
            </a:pPr>
            <a:r>
              <a:rPr lang="ja-JP" sz="7200" b="1" i="0" u="none" strike="noStrike" cap="none">
                <a:solidFill>
                  <a:srgbClr val="3EB4A8"/>
                </a:solidFill>
                <a:latin typeface="Poppins Medium"/>
                <a:ea typeface="Poppins Medium"/>
                <a:cs typeface="Poppins Medium"/>
                <a:sym typeface="Poppins Medium"/>
              </a:rPr>
              <a:t>HP</a:t>
            </a:r>
            <a:endParaRPr sz="7200" b="1" i="0" u="none" strike="noStrike" cap="none">
              <a:solidFill>
                <a:srgbClr val="3EB4A8"/>
              </a:solidFill>
              <a:latin typeface="Poppins Medium"/>
              <a:ea typeface="Poppins Medium"/>
              <a:cs typeface="Poppins Medium"/>
              <a:sym typeface="Poppins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pic>
        <p:nvPicPr>
          <p:cNvPr id="790" name="Google Shape;790;g24bee65766c_3_7"/>
          <p:cNvPicPr preferRelativeResize="0"/>
          <p:nvPr/>
        </p:nvPicPr>
        <p:blipFill rotWithShape="1">
          <a:blip r:embed="rId3">
            <a:alphaModFix/>
          </a:blip>
          <a:srcRect/>
          <a:stretch/>
        </p:blipFill>
        <p:spPr>
          <a:xfrm>
            <a:off x="596669" y="2758573"/>
            <a:ext cx="2298424" cy="2328630"/>
          </a:xfrm>
          <a:prstGeom prst="rect">
            <a:avLst/>
          </a:prstGeom>
          <a:noFill/>
          <a:ln>
            <a:noFill/>
          </a:ln>
        </p:spPr>
      </p:pic>
      <p:pic>
        <p:nvPicPr>
          <p:cNvPr id="791" name="Google Shape;791;g24bee65766c_3_7"/>
          <p:cNvPicPr preferRelativeResize="0"/>
          <p:nvPr/>
        </p:nvPicPr>
        <p:blipFill rotWithShape="1">
          <a:blip r:embed="rId4">
            <a:alphaModFix/>
          </a:blip>
          <a:srcRect/>
          <a:stretch/>
        </p:blipFill>
        <p:spPr>
          <a:xfrm>
            <a:off x="6283063" y="2752732"/>
            <a:ext cx="2354516" cy="2292281"/>
          </a:xfrm>
          <a:prstGeom prst="rect">
            <a:avLst/>
          </a:prstGeom>
          <a:noFill/>
          <a:ln>
            <a:noFill/>
          </a:ln>
        </p:spPr>
      </p:pic>
      <p:sp>
        <p:nvSpPr>
          <p:cNvPr id="792" name="Google Shape;792;g24bee65766c_3_7"/>
          <p:cNvSpPr txBox="1">
            <a:spLocks noGrp="1"/>
          </p:cNvSpPr>
          <p:nvPr>
            <p:ph type="sldNum" idx="12"/>
          </p:nvPr>
        </p:nvSpPr>
        <p:spPr>
          <a:xfrm>
            <a:off x="7207199" y="6418733"/>
            <a:ext cx="1805700" cy="320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40</a:t>
            </a:fld>
            <a:endParaRPr/>
          </a:p>
        </p:txBody>
      </p:sp>
      <p:sp>
        <p:nvSpPr>
          <p:cNvPr id="793" name="Google Shape;793;g24bee65766c_3_7"/>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Poppins Medium"/>
              <a:buNone/>
            </a:pPr>
            <a:r>
              <a:rPr lang="ja-JP" b="0">
                <a:latin typeface="Poppins Medium"/>
                <a:ea typeface="Poppins Medium"/>
                <a:cs typeface="Poppins Medium"/>
                <a:sym typeface="Poppins Medium"/>
              </a:rPr>
              <a:t>SNS</a:t>
            </a:r>
            <a:endParaRPr b="0">
              <a:latin typeface="Poppins Medium"/>
              <a:ea typeface="Poppins Medium"/>
              <a:cs typeface="Poppins Medium"/>
              <a:sym typeface="Poppins Medium"/>
            </a:endParaRPr>
          </a:p>
        </p:txBody>
      </p:sp>
      <p:sp>
        <p:nvSpPr>
          <p:cNvPr id="794" name="Google Shape;794;g24bee65766c_3_7"/>
          <p:cNvSpPr txBox="1"/>
          <p:nvPr/>
        </p:nvSpPr>
        <p:spPr>
          <a:xfrm>
            <a:off x="180375" y="2198225"/>
            <a:ext cx="31311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ja-JP" sz="4000" b="1" i="0" u="none" strike="noStrike" cap="none">
                <a:solidFill>
                  <a:srgbClr val="3EB4A8"/>
                </a:solidFill>
                <a:latin typeface="Poppins Medium"/>
                <a:ea typeface="Poppins Medium"/>
                <a:cs typeface="Poppins Medium"/>
                <a:sym typeface="Poppins Medium"/>
              </a:rPr>
              <a:t>Facebook</a:t>
            </a:r>
            <a:endParaRPr sz="4000" b="1" i="0" u="none" strike="noStrike" cap="none">
              <a:solidFill>
                <a:srgbClr val="3EB4A8"/>
              </a:solidFill>
              <a:latin typeface="Poppins Medium"/>
              <a:ea typeface="Poppins Medium"/>
              <a:cs typeface="Poppins Medium"/>
              <a:sym typeface="Poppins Medium"/>
            </a:endParaRPr>
          </a:p>
        </p:txBody>
      </p:sp>
      <p:sp>
        <p:nvSpPr>
          <p:cNvPr id="795" name="Google Shape;795;g24bee65766c_3_7"/>
          <p:cNvSpPr txBox="1"/>
          <p:nvPr/>
        </p:nvSpPr>
        <p:spPr>
          <a:xfrm>
            <a:off x="5957025" y="2198226"/>
            <a:ext cx="30066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ja-JP" sz="4000" b="1" i="0" u="none" strike="noStrike" cap="none">
                <a:solidFill>
                  <a:srgbClr val="3EB4A8"/>
                </a:solidFill>
                <a:latin typeface="Poppins Medium"/>
                <a:ea typeface="Poppins Medium"/>
                <a:cs typeface="Poppins Medium"/>
                <a:sym typeface="Poppins Medium"/>
              </a:rPr>
              <a:t>X(</a:t>
            </a:r>
            <a:r>
              <a:rPr lang="ja-JP" sz="3200" b="1" i="0" u="none" strike="noStrike" cap="none">
                <a:solidFill>
                  <a:srgbClr val="3EB4A8"/>
                </a:solidFill>
                <a:latin typeface="Poppins Medium"/>
                <a:ea typeface="Poppins Medium"/>
                <a:cs typeface="Poppins Medium"/>
                <a:sym typeface="Poppins Medium"/>
              </a:rPr>
              <a:t>Twitter</a:t>
            </a:r>
            <a:r>
              <a:rPr lang="ja-JP" sz="4000" b="1" i="0" u="none" strike="noStrike" cap="none">
                <a:solidFill>
                  <a:srgbClr val="3EB4A8"/>
                </a:solidFill>
                <a:latin typeface="Poppins Medium"/>
                <a:ea typeface="Poppins Medium"/>
                <a:cs typeface="Poppins Medium"/>
                <a:sym typeface="Poppins Medium"/>
              </a:rPr>
              <a:t>)</a:t>
            </a:r>
            <a:endParaRPr sz="4000" b="1" i="0" u="none" strike="noStrike" cap="none">
              <a:solidFill>
                <a:srgbClr val="3EB4A8"/>
              </a:solidFill>
              <a:latin typeface="Poppins Medium"/>
              <a:ea typeface="Poppins Medium"/>
              <a:cs typeface="Poppins Medium"/>
              <a:sym typeface="Poppins Medium"/>
            </a:endParaRPr>
          </a:p>
        </p:txBody>
      </p:sp>
      <p:sp>
        <p:nvSpPr>
          <p:cNvPr id="796" name="Google Shape;796;g24bee65766c_3_7"/>
          <p:cNvSpPr/>
          <p:nvPr/>
        </p:nvSpPr>
        <p:spPr>
          <a:xfrm>
            <a:off x="1376961" y="5046650"/>
            <a:ext cx="1508100" cy="327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2000" b="0" i="0" u="none" strike="noStrike" cap="none">
                <a:solidFill>
                  <a:srgbClr val="7F7F7F"/>
                </a:solidFill>
                <a:latin typeface="Arial"/>
                <a:ea typeface="Arial"/>
                <a:cs typeface="Arial"/>
                <a:sym typeface="Arial"/>
              </a:rPr>
              <a:t>@iaeste.japan</a:t>
            </a:r>
            <a:endParaRPr sz="1400" b="0" i="0" u="none" strike="noStrike" cap="none">
              <a:solidFill>
                <a:srgbClr val="000000"/>
              </a:solidFill>
              <a:latin typeface="Arial"/>
              <a:ea typeface="Arial"/>
              <a:cs typeface="Arial"/>
              <a:sym typeface="Arial"/>
            </a:endParaRPr>
          </a:p>
        </p:txBody>
      </p:sp>
      <p:sp>
        <p:nvSpPr>
          <p:cNvPr id="797" name="Google Shape;797;g24bee65766c_3_7"/>
          <p:cNvSpPr/>
          <p:nvPr/>
        </p:nvSpPr>
        <p:spPr>
          <a:xfrm>
            <a:off x="6856182" y="5002113"/>
            <a:ext cx="1767000" cy="3225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ja-JP" sz="2000" b="0" i="0" u="none" strike="noStrike" cap="none">
                <a:solidFill>
                  <a:srgbClr val="7F7F7F"/>
                </a:solidFill>
                <a:latin typeface="Poppins Medium"/>
                <a:ea typeface="Poppins Medium"/>
                <a:cs typeface="Poppins Medium"/>
                <a:sym typeface="Poppins Medium"/>
              </a:rPr>
              <a:t>@iaestejp_tokyo</a:t>
            </a:r>
            <a:endParaRPr sz="1400" b="0" i="0" u="none" strike="noStrike" cap="none">
              <a:solidFill>
                <a:srgbClr val="000000"/>
              </a:solidFill>
              <a:latin typeface="Arial"/>
              <a:ea typeface="Arial"/>
              <a:cs typeface="Arial"/>
              <a:sym typeface="Arial"/>
            </a:endParaRPr>
          </a:p>
        </p:txBody>
      </p:sp>
      <p:sp>
        <p:nvSpPr>
          <p:cNvPr id="798" name="Google Shape;798;g24bee65766c_3_7"/>
          <p:cNvSpPr/>
          <p:nvPr/>
        </p:nvSpPr>
        <p:spPr>
          <a:xfrm>
            <a:off x="707345" y="2870704"/>
            <a:ext cx="2077200" cy="2104500"/>
          </a:xfrm>
          <a:prstGeom prst="rect">
            <a:avLst/>
          </a:prstGeom>
          <a:noFill/>
          <a:ln w="38100" cap="flat" cmpd="sng">
            <a:solidFill>
              <a:srgbClr val="3EB4A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9" name="Google Shape;799;g24bee65766c_3_7"/>
          <p:cNvSpPr/>
          <p:nvPr/>
        </p:nvSpPr>
        <p:spPr>
          <a:xfrm>
            <a:off x="6396441" y="2860208"/>
            <a:ext cx="2127600" cy="2071500"/>
          </a:xfrm>
          <a:prstGeom prst="rect">
            <a:avLst/>
          </a:prstGeom>
          <a:noFill/>
          <a:ln w="38100" cap="flat" cmpd="sng">
            <a:solidFill>
              <a:srgbClr val="3EB4A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0" name="Google Shape;800;g24bee65766c_3_7"/>
          <p:cNvSpPr txBox="1"/>
          <p:nvPr/>
        </p:nvSpPr>
        <p:spPr>
          <a:xfrm>
            <a:off x="3080225" y="2200988"/>
            <a:ext cx="31311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ja-JP" sz="4000" b="1" i="0" u="none" strike="noStrike" cap="none">
                <a:solidFill>
                  <a:srgbClr val="3EB4A8"/>
                </a:solidFill>
                <a:latin typeface="Poppins Medium"/>
                <a:ea typeface="Poppins Medium"/>
                <a:cs typeface="Poppins Medium"/>
                <a:sym typeface="Poppins Medium"/>
              </a:rPr>
              <a:t>Instagram</a:t>
            </a:r>
            <a:endParaRPr sz="4000" b="1" i="0" u="none" strike="noStrike" cap="none">
              <a:solidFill>
                <a:srgbClr val="3EB4A8"/>
              </a:solidFill>
              <a:latin typeface="Poppins Medium"/>
              <a:ea typeface="Poppins Medium"/>
              <a:cs typeface="Poppins Medium"/>
              <a:sym typeface="Poppins Medium"/>
            </a:endParaRPr>
          </a:p>
        </p:txBody>
      </p:sp>
      <p:pic>
        <p:nvPicPr>
          <p:cNvPr id="801" name="Google Shape;801;g24bee65766c_3_7"/>
          <p:cNvPicPr preferRelativeResize="0"/>
          <p:nvPr/>
        </p:nvPicPr>
        <p:blipFill rotWithShape="1">
          <a:blip r:embed="rId5">
            <a:alphaModFix/>
          </a:blip>
          <a:srcRect l="18365" t="24335" r="20517" b="33722"/>
          <a:stretch/>
        </p:blipFill>
        <p:spPr>
          <a:xfrm>
            <a:off x="3406813" y="2860200"/>
            <a:ext cx="2354500" cy="27304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dde2198658_4_11"/>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41</a:t>
            </a:fld>
            <a:endParaRPr/>
          </a:p>
        </p:txBody>
      </p:sp>
      <p:sp>
        <p:nvSpPr>
          <p:cNvPr id="807" name="Google Shape;807;g2dde2198658_4_11"/>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100000"/>
              </a:lnSpc>
              <a:spcBef>
                <a:spcPts val="0"/>
              </a:spcBef>
              <a:spcAft>
                <a:spcPts val="0"/>
              </a:spcAft>
              <a:buClr>
                <a:schemeClr val="dk1"/>
              </a:buClr>
              <a:buSzPts val="2550"/>
              <a:buFont typeface="Arial"/>
              <a:buNone/>
            </a:pPr>
            <a:r>
              <a:rPr lang="ja-JP" sz="2550" b="0">
                <a:latin typeface="Century"/>
                <a:ea typeface="Century"/>
                <a:cs typeface="Century"/>
                <a:sym typeface="Century"/>
              </a:rPr>
              <a:t>Ⅰ部　 IAESTEについて</a:t>
            </a:r>
            <a:endParaRPr>
              <a:latin typeface="Century"/>
              <a:ea typeface="Century"/>
              <a:cs typeface="Century"/>
              <a:sym typeface="Century"/>
            </a:endParaRPr>
          </a:p>
        </p:txBody>
      </p:sp>
      <p:sp>
        <p:nvSpPr>
          <p:cNvPr id="808" name="Google Shape;808;g2dde2198658_4_11"/>
          <p:cNvSpPr txBox="1"/>
          <p:nvPr/>
        </p:nvSpPr>
        <p:spPr>
          <a:xfrm>
            <a:off x="386850" y="1823600"/>
            <a:ext cx="8370300" cy="416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:00~1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:05　開会</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A5A5A5"/>
                </a:solidFill>
                <a:latin typeface="Century"/>
                <a:ea typeface="Century"/>
                <a:cs typeface="Century"/>
                <a:sym typeface="Century"/>
              </a:rPr>
              <a:t>1</a:t>
            </a:r>
            <a:r>
              <a:rPr lang="ja-JP" sz="2550">
                <a:solidFill>
                  <a:srgbClr val="A5A5A5"/>
                </a:solidFill>
                <a:latin typeface="Century"/>
                <a:ea typeface="Century"/>
                <a:cs typeface="Century"/>
                <a:sym typeface="Century"/>
              </a:rPr>
              <a:t>0</a:t>
            </a:r>
            <a:r>
              <a:rPr lang="ja-JP" sz="2550" b="0" i="0" u="none" strike="noStrike" cap="none">
                <a:solidFill>
                  <a:srgbClr val="A5A5A5"/>
                </a:solidFill>
                <a:latin typeface="Century"/>
                <a:ea typeface="Century"/>
                <a:cs typeface="Century"/>
                <a:sym typeface="Century"/>
              </a:rPr>
              <a:t>:05~1</a:t>
            </a:r>
            <a:r>
              <a:rPr lang="ja-JP" sz="2550">
                <a:solidFill>
                  <a:srgbClr val="A5A5A5"/>
                </a:solidFill>
                <a:latin typeface="Century"/>
                <a:ea typeface="Century"/>
                <a:cs typeface="Century"/>
                <a:sym typeface="Century"/>
              </a:rPr>
              <a:t>0</a:t>
            </a:r>
            <a:r>
              <a:rPr lang="ja-JP" sz="2550" b="0" i="0" u="none" strike="noStrike" cap="none">
                <a:solidFill>
                  <a:srgbClr val="A5A5A5"/>
                </a:solidFill>
                <a:latin typeface="Century"/>
                <a:ea typeface="Century"/>
                <a:cs typeface="Century"/>
                <a:sym typeface="Century"/>
              </a:rPr>
              <a:t>:25   Ⅰ部　 IAESTEについて</a:t>
            </a:r>
            <a:endParaRPr sz="2550" b="0" i="0" u="none" strike="noStrike" cap="none">
              <a:solidFill>
                <a:srgbClr val="A5A5A5"/>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30</a:t>
            </a: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55</a:t>
            </a:r>
            <a:r>
              <a:rPr lang="ja-JP" sz="2550" b="0" i="0" u="none" strike="noStrike" cap="none">
                <a:solidFill>
                  <a:schemeClr val="dk1"/>
                </a:solidFill>
                <a:latin typeface="Century"/>
                <a:ea typeface="Century"/>
                <a:cs typeface="Century"/>
                <a:sym typeface="Century"/>
              </a:rPr>
              <a:t>    </a:t>
            </a:r>
            <a:r>
              <a:rPr lang="ja-JP" sz="2550">
                <a:solidFill>
                  <a:schemeClr val="dk1"/>
                </a:solidFill>
                <a:latin typeface="Century"/>
                <a:ea typeface="Century"/>
                <a:cs typeface="Century"/>
                <a:sym typeface="Century"/>
              </a:rPr>
              <a:t>Ⅱ部　OB内田崇志様による発表</a:t>
            </a:r>
            <a:endParaRPr sz="2550">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a:solidFill>
                  <a:schemeClr val="dk1"/>
                </a:solidFill>
                <a:latin typeface="Century"/>
                <a:ea typeface="Century"/>
                <a:cs typeface="Century"/>
                <a:sym typeface="Century"/>
              </a:rPr>
              <a:t>　　　　　　　　　(プレゼン15分+質疑応答10分)</a:t>
            </a:r>
            <a:endParaRPr sz="2550">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30</a:t>
            </a:r>
            <a:r>
              <a:rPr lang="ja-JP" sz="2550" b="0" i="0" u="none" strike="noStrike" cap="none">
                <a:solidFill>
                  <a:srgbClr val="BFBFBF"/>
                </a:solidFill>
                <a:latin typeface="Century"/>
                <a:ea typeface="Century"/>
                <a:cs typeface="Century"/>
                <a:sym typeface="Century"/>
              </a:rPr>
              <a:t>    </a:t>
            </a:r>
            <a:r>
              <a:rPr lang="ja-JP" sz="2550">
                <a:solidFill>
                  <a:srgbClr val="BFBFBF"/>
                </a:solidFill>
                <a:latin typeface="Century"/>
                <a:ea typeface="Century"/>
                <a:cs typeface="Century"/>
                <a:sym typeface="Century"/>
              </a:rPr>
              <a:t>Ⅲ</a:t>
            </a:r>
            <a:r>
              <a:rPr lang="ja-JP" sz="2550" b="0" i="0" u="none" strike="noStrike" cap="none">
                <a:solidFill>
                  <a:srgbClr val="BFBFBF"/>
                </a:solidFill>
                <a:latin typeface="Century"/>
                <a:ea typeface="Century"/>
                <a:cs typeface="Century"/>
                <a:sym typeface="Century"/>
              </a:rPr>
              <a:t>部　篠崎様</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chemeClr val="dk1"/>
              </a:buClr>
              <a:buSzPts val="2550"/>
              <a:buFont typeface="Arial"/>
              <a:buNone/>
            </a:pPr>
            <a:r>
              <a:rPr lang="ja-JP" sz="2550" b="0" i="0" u="none" strike="noStrike" cap="none">
                <a:solidFill>
                  <a:srgbClr val="BFBFBF"/>
                </a:solidFill>
                <a:latin typeface="Century"/>
                <a:ea typeface="Century"/>
                <a:cs typeface="Century"/>
                <a:sym typeface="Century"/>
              </a:rPr>
              <a:t>　　　　　　　　(</a:t>
            </a:r>
            <a:r>
              <a:rPr lang="ja-JP" sz="2550" b="0" i="0" u="none" strike="noStrike" cap="none">
                <a:solidFill>
                  <a:srgbClr val="BFBFBF"/>
                </a:solidFill>
                <a:latin typeface="Meiryo"/>
                <a:ea typeface="Meiryo"/>
                <a:cs typeface="Meiryo"/>
                <a:sym typeface="Meiryo"/>
              </a:rPr>
              <a:t>IAESTEJAPAN理事局 National </a:t>
            </a:r>
            <a:endParaRPr sz="2550" b="0" i="0" u="none" strike="noStrike" cap="none">
              <a:solidFill>
                <a:srgbClr val="BFBFBF"/>
              </a:solidFill>
              <a:latin typeface="Meiryo"/>
              <a:ea typeface="Meiryo"/>
              <a:cs typeface="Meiryo"/>
              <a:sym typeface="Meiryo"/>
            </a:endParaRPr>
          </a:p>
          <a:p>
            <a:pPr marL="1371600" marR="0" lvl="0" indent="457200" algn="l" rtl="0">
              <a:lnSpc>
                <a:spcPct val="100000"/>
              </a:lnSpc>
              <a:spcBef>
                <a:spcPts val="0"/>
              </a:spcBef>
              <a:spcAft>
                <a:spcPts val="0"/>
              </a:spcAft>
              <a:buClr>
                <a:schemeClr val="dk1"/>
              </a:buClr>
              <a:buSzPts val="2550"/>
              <a:buFont typeface="Arial"/>
              <a:buNone/>
            </a:pPr>
            <a:r>
              <a:rPr lang="ja-JP" sz="2550" b="0" i="0" u="none" strike="noStrike" cap="none">
                <a:solidFill>
                  <a:srgbClr val="BFBFBF"/>
                </a:solidFill>
                <a:latin typeface="Meiryo"/>
                <a:ea typeface="Meiryo"/>
                <a:cs typeface="Meiryo"/>
                <a:sym typeface="Meiryo"/>
              </a:rPr>
              <a:t>  　　Exchange Coordinator)</a:t>
            </a:r>
            <a:r>
              <a:rPr lang="ja-JP" sz="2550" b="0" i="0" u="none" strike="noStrike" cap="none">
                <a:solidFill>
                  <a:srgbClr val="BFBFBF"/>
                </a:solidFill>
                <a:latin typeface="Century"/>
                <a:ea typeface="Century"/>
                <a:cs typeface="Century"/>
                <a:sym typeface="Century"/>
              </a:rPr>
              <a:t>への質問会</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3</a:t>
            </a:r>
            <a:r>
              <a:rPr lang="ja-JP" sz="2550" b="0" i="0" u="none" strike="noStrike" cap="none">
                <a:solidFill>
                  <a:srgbClr val="BFBFBF"/>
                </a:solidFill>
                <a:latin typeface="Century"/>
                <a:ea typeface="Century"/>
                <a:cs typeface="Century"/>
                <a:sym typeface="Century"/>
              </a:rPr>
              <a:t>0~1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40</a:t>
            </a:r>
            <a:r>
              <a:rPr lang="ja-JP" sz="2550" b="0" i="0" u="none" strike="noStrike" cap="none">
                <a:solidFill>
                  <a:srgbClr val="BFBFBF"/>
                </a:solidFill>
                <a:latin typeface="Century"/>
                <a:ea typeface="Century"/>
                <a:cs typeface="Century"/>
                <a:sym typeface="Century"/>
              </a:rPr>
              <a:t>　</a:t>
            </a:r>
            <a:r>
              <a:rPr lang="ja-JP" sz="2550">
                <a:solidFill>
                  <a:srgbClr val="BFBFBF"/>
                </a:solidFill>
                <a:latin typeface="Century"/>
                <a:ea typeface="Century"/>
                <a:cs typeface="Century"/>
                <a:sym typeface="Century"/>
              </a:rPr>
              <a:t>閉会</a:t>
            </a:r>
            <a:r>
              <a:rPr lang="ja-JP" sz="2550" b="0" i="0" u="none" strike="noStrike" cap="none">
                <a:solidFill>
                  <a:srgbClr val="BFBFBF"/>
                </a:solidFill>
                <a:latin typeface="Century"/>
                <a:ea typeface="Century"/>
                <a:cs typeface="Century"/>
                <a:sym typeface="Century"/>
              </a:rPr>
              <a:t>     </a:t>
            </a: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82880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371600" marR="0" lvl="0" indent="457200" algn="l" rtl="0">
              <a:lnSpc>
                <a:spcPct val="100000"/>
              </a:lnSpc>
              <a:spcBef>
                <a:spcPts val="0"/>
              </a:spcBef>
              <a:spcAft>
                <a:spcPts val="0"/>
              </a:spcAft>
              <a:buClr>
                <a:srgbClr val="000000"/>
              </a:buClr>
              <a:buSzPts val="2550"/>
              <a:buFont typeface="Arial"/>
              <a:buNone/>
            </a:pPr>
            <a:endParaRPr sz="2900" b="0" i="0"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2dde2198658_4_17"/>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42</a:t>
            </a:fld>
            <a:endParaRPr/>
          </a:p>
        </p:txBody>
      </p:sp>
      <p:sp>
        <p:nvSpPr>
          <p:cNvPr id="814" name="Google Shape;814;g2dde2198658_4_17"/>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100000"/>
              </a:lnSpc>
              <a:spcBef>
                <a:spcPts val="0"/>
              </a:spcBef>
              <a:spcAft>
                <a:spcPts val="0"/>
              </a:spcAft>
              <a:buClr>
                <a:schemeClr val="dk1"/>
              </a:buClr>
              <a:buSzPts val="2550"/>
              <a:buFont typeface="Arial"/>
              <a:buNone/>
            </a:pPr>
            <a:r>
              <a:rPr lang="ja-JP" sz="2550" b="0">
                <a:latin typeface="Century"/>
                <a:ea typeface="Century"/>
                <a:cs typeface="Century"/>
                <a:sym typeface="Century"/>
              </a:rPr>
              <a:t>Ⅰ部　 IAESTEについて</a:t>
            </a:r>
            <a:endParaRPr>
              <a:latin typeface="Century"/>
              <a:ea typeface="Century"/>
              <a:cs typeface="Century"/>
              <a:sym typeface="Century"/>
            </a:endParaRPr>
          </a:p>
        </p:txBody>
      </p:sp>
      <p:sp>
        <p:nvSpPr>
          <p:cNvPr id="815" name="Google Shape;815;g2dde2198658_4_17"/>
          <p:cNvSpPr txBox="1"/>
          <p:nvPr/>
        </p:nvSpPr>
        <p:spPr>
          <a:xfrm>
            <a:off x="386850" y="1823600"/>
            <a:ext cx="8370300" cy="416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:00~1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:05　開会</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A5A5A5"/>
                </a:solidFill>
                <a:latin typeface="Century"/>
                <a:ea typeface="Century"/>
                <a:cs typeface="Century"/>
                <a:sym typeface="Century"/>
              </a:rPr>
              <a:t>1</a:t>
            </a:r>
            <a:r>
              <a:rPr lang="ja-JP" sz="2550">
                <a:solidFill>
                  <a:srgbClr val="A5A5A5"/>
                </a:solidFill>
                <a:latin typeface="Century"/>
                <a:ea typeface="Century"/>
                <a:cs typeface="Century"/>
                <a:sym typeface="Century"/>
              </a:rPr>
              <a:t>0</a:t>
            </a:r>
            <a:r>
              <a:rPr lang="ja-JP" sz="2550" b="0" i="0" u="none" strike="noStrike" cap="none">
                <a:solidFill>
                  <a:srgbClr val="A5A5A5"/>
                </a:solidFill>
                <a:latin typeface="Century"/>
                <a:ea typeface="Century"/>
                <a:cs typeface="Century"/>
                <a:sym typeface="Century"/>
              </a:rPr>
              <a:t>:05~1</a:t>
            </a:r>
            <a:r>
              <a:rPr lang="ja-JP" sz="2550">
                <a:solidFill>
                  <a:srgbClr val="A5A5A5"/>
                </a:solidFill>
                <a:latin typeface="Century"/>
                <a:ea typeface="Century"/>
                <a:cs typeface="Century"/>
                <a:sym typeface="Century"/>
              </a:rPr>
              <a:t>0</a:t>
            </a:r>
            <a:r>
              <a:rPr lang="ja-JP" sz="2550" b="0" i="0" u="none" strike="noStrike" cap="none">
                <a:solidFill>
                  <a:srgbClr val="A5A5A5"/>
                </a:solidFill>
                <a:latin typeface="Century"/>
                <a:ea typeface="Century"/>
                <a:cs typeface="Century"/>
                <a:sym typeface="Century"/>
              </a:rPr>
              <a:t>:25   Ⅰ部　 IAESTEについて</a:t>
            </a:r>
            <a:endParaRPr sz="2550" b="0" i="0" u="none" strike="noStrike" cap="none">
              <a:solidFill>
                <a:srgbClr val="A5A5A5"/>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30</a:t>
            </a: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55</a:t>
            </a:r>
            <a:r>
              <a:rPr lang="ja-JP" sz="2550" b="0" i="0" u="none" strike="noStrike" cap="none">
                <a:solidFill>
                  <a:srgbClr val="BFBFBF"/>
                </a:solidFill>
                <a:latin typeface="Century"/>
                <a:ea typeface="Century"/>
                <a:cs typeface="Century"/>
                <a:sym typeface="Century"/>
              </a:rPr>
              <a:t>    </a:t>
            </a:r>
            <a:r>
              <a:rPr lang="ja-JP" sz="2550">
                <a:solidFill>
                  <a:srgbClr val="BFBFBF"/>
                </a:solidFill>
                <a:latin typeface="Century"/>
                <a:ea typeface="Century"/>
                <a:cs typeface="Century"/>
                <a:sym typeface="Century"/>
              </a:rPr>
              <a:t>Ⅱ部　OB内田崇志様による発表</a:t>
            </a:r>
            <a:endParaRPr sz="2550">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a:solidFill>
                  <a:srgbClr val="BFBFBF"/>
                </a:solidFill>
                <a:latin typeface="Century"/>
                <a:ea typeface="Century"/>
                <a:cs typeface="Century"/>
                <a:sym typeface="Century"/>
              </a:rPr>
              <a:t>　　　　　　　　　(プレゼン15分+質疑応答10分)</a:t>
            </a:r>
            <a:endParaRPr sz="2550">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1</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0</a:t>
            </a:r>
            <a:r>
              <a:rPr lang="ja-JP" sz="2550" b="0" i="0" u="none" strike="noStrike" cap="none">
                <a:solidFill>
                  <a:schemeClr val="dk1"/>
                </a:solidFill>
                <a:latin typeface="Century"/>
                <a:ea typeface="Century"/>
                <a:cs typeface="Century"/>
                <a:sym typeface="Century"/>
              </a:rPr>
              <a:t>0~1</a:t>
            </a:r>
            <a:r>
              <a:rPr lang="ja-JP" sz="2550">
                <a:solidFill>
                  <a:schemeClr val="dk1"/>
                </a:solidFill>
                <a:latin typeface="Century"/>
                <a:ea typeface="Century"/>
                <a:cs typeface="Century"/>
                <a:sym typeface="Century"/>
              </a:rPr>
              <a:t>1</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30</a:t>
            </a:r>
            <a:r>
              <a:rPr lang="ja-JP" sz="2550" b="0" i="0" u="none" strike="noStrike" cap="none">
                <a:solidFill>
                  <a:schemeClr val="dk1"/>
                </a:solidFill>
                <a:latin typeface="Century"/>
                <a:ea typeface="Century"/>
                <a:cs typeface="Century"/>
                <a:sym typeface="Century"/>
              </a:rPr>
              <a:t>    </a:t>
            </a:r>
            <a:r>
              <a:rPr lang="ja-JP" sz="2550">
                <a:solidFill>
                  <a:schemeClr val="dk1"/>
                </a:solidFill>
                <a:latin typeface="Century"/>
                <a:ea typeface="Century"/>
                <a:cs typeface="Century"/>
                <a:sym typeface="Century"/>
              </a:rPr>
              <a:t>Ⅲ</a:t>
            </a:r>
            <a:r>
              <a:rPr lang="ja-JP" sz="2550" b="0" i="0" u="none" strike="noStrike" cap="none">
                <a:solidFill>
                  <a:schemeClr val="dk1"/>
                </a:solidFill>
                <a:latin typeface="Century"/>
                <a:ea typeface="Century"/>
                <a:cs typeface="Century"/>
                <a:sym typeface="Century"/>
              </a:rPr>
              <a:t>部　篠崎様</a:t>
            </a:r>
            <a:endParaRPr sz="2550" b="0" i="0" u="none" strike="noStrike" cap="none">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chemeClr val="dk1"/>
              </a:buClr>
              <a:buSzPts val="2550"/>
              <a:buFont typeface="Arial"/>
              <a:buNone/>
            </a:pPr>
            <a:r>
              <a:rPr lang="ja-JP" sz="2550" b="0" i="0" u="none" strike="noStrike" cap="none">
                <a:solidFill>
                  <a:schemeClr val="dk1"/>
                </a:solidFill>
                <a:latin typeface="Century"/>
                <a:ea typeface="Century"/>
                <a:cs typeface="Century"/>
                <a:sym typeface="Century"/>
              </a:rPr>
              <a:t>　　　　　　　　(</a:t>
            </a:r>
            <a:r>
              <a:rPr lang="ja-JP" sz="2550" b="0" i="0" u="none" strike="noStrike" cap="none">
                <a:solidFill>
                  <a:schemeClr val="dk1"/>
                </a:solidFill>
                <a:latin typeface="Meiryo"/>
                <a:ea typeface="Meiryo"/>
                <a:cs typeface="Meiryo"/>
                <a:sym typeface="Meiryo"/>
              </a:rPr>
              <a:t>IAESTEJAPAN理事局 National </a:t>
            </a:r>
            <a:endParaRPr sz="2550" b="0" i="0" u="none" strike="noStrike" cap="none">
              <a:solidFill>
                <a:schemeClr val="dk1"/>
              </a:solidFill>
              <a:latin typeface="Meiryo"/>
              <a:ea typeface="Meiryo"/>
              <a:cs typeface="Meiryo"/>
              <a:sym typeface="Meiryo"/>
            </a:endParaRPr>
          </a:p>
          <a:p>
            <a:pPr marL="1371600" marR="0" lvl="0" indent="457200" algn="l" rtl="0">
              <a:lnSpc>
                <a:spcPct val="100000"/>
              </a:lnSpc>
              <a:spcBef>
                <a:spcPts val="0"/>
              </a:spcBef>
              <a:spcAft>
                <a:spcPts val="0"/>
              </a:spcAft>
              <a:buClr>
                <a:schemeClr val="dk1"/>
              </a:buClr>
              <a:buSzPts val="2550"/>
              <a:buFont typeface="Arial"/>
              <a:buNone/>
            </a:pPr>
            <a:r>
              <a:rPr lang="ja-JP" sz="2550" b="0" i="0" u="none" strike="noStrike" cap="none">
                <a:solidFill>
                  <a:schemeClr val="dk1"/>
                </a:solidFill>
                <a:latin typeface="Meiryo"/>
                <a:ea typeface="Meiryo"/>
                <a:cs typeface="Meiryo"/>
                <a:sym typeface="Meiryo"/>
              </a:rPr>
              <a:t>  　　Exchange Coordinator)</a:t>
            </a:r>
            <a:r>
              <a:rPr lang="ja-JP" sz="2550" b="0" i="0" u="none" strike="noStrike" cap="none">
                <a:solidFill>
                  <a:schemeClr val="dk1"/>
                </a:solidFill>
                <a:latin typeface="Century"/>
                <a:ea typeface="Century"/>
                <a:cs typeface="Century"/>
                <a:sym typeface="Century"/>
              </a:rPr>
              <a:t>への質問会</a:t>
            </a:r>
            <a:endParaRPr sz="2550" b="0" i="0" u="none" strike="noStrike" cap="none">
              <a:solidFill>
                <a:schemeClr val="dk1"/>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3</a:t>
            </a:r>
            <a:r>
              <a:rPr lang="ja-JP" sz="2550" b="0" i="0" u="none" strike="noStrike" cap="none">
                <a:solidFill>
                  <a:srgbClr val="BFBFBF"/>
                </a:solidFill>
                <a:latin typeface="Century"/>
                <a:ea typeface="Century"/>
                <a:cs typeface="Century"/>
                <a:sym typeface="Century"/>
              </a:rPr>
              <a:t>0~1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40</a:t>
            </a:r>
            <a:r>
              <a:rPr lang="ja-JP" sz="2550" b="0" i="0" u="none" strike="noStrike" cap="none">
                <a:solidFill>
                  <a:srgbClr val="BFBFBF"/>
                </a:solidFill>
                <a:latin typeface="Century"/>
                <a:ea typeface="Century"/>
                <a:cs typeface="Century"/>
                <a:sym typeface="Century"/>
              </a:rPr>
              <a:t>　</a:t>
            </a:r>
            <a:r>
              <a:rPr lang="ja-JP" sz="2550">
                <a:solidFill>
                  <a:srgbClr val="BFBFBF"/>
                </a:solidFill>
                <a:latin typeface="Century"/>
                <a:ea typeface="Century"/>
                <a:cs typeface="Century"/>
                <a:sym typeface="Century"/>
              </a:rPr>
              <a:t>閉会</a:t>
            </a:r>
            <a:r>
              <a:rPr lang="ja-JP" sz="2550" b="0" i="0" u="none" strike="noStrike" cap="none">
                <a:solidFill>
                  <a:srgbClr val="BFBFBF"/>
                </a:solidFill>
                <a:latin typeface="Century"/>
                <a:ea typeface="Century"/>
                <a:cs typeface="Century"/>
                <a:sym typeface="Century"/>
              </a:rPr>
              <a:t>     </a:t>
            </a: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82880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371600" marR="0" lvl="0" indent="457200" algn="l" rtl="0">
              <a:lnSpc>
                <a:spcPct val="100000"/>
              </a:lnSpc>
              <a:spcBef>
                <a:spcPts val="0"/>
              </a:spcBef>
              <a:spcAft>
                <a:spcPts val="0"/>
              </a:spcAft>
              <a:buClr>
                <a:srgbClr val="000000"/>
              </a:buClr>
              <a:buSzPts val="2550"/>
              <a:buFont typeface="Arial"/>
              <a:buNone/>
            </a:pPr>
            <a:endParaRPr sz="2900" b="0" i="0" u="none" strike="noStrike" cap="non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dde2198658_4_23"/>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a:t>43</a:t>
            </a:fld>
            <a:endParaRPr/>
          </a:p>
        </p:txBody>
      </p:sp>
      <p:sp>
        <p:nvSpPr>
          <p:cNvPr id="821" name="Google Shape;821;g2dde2198658_4_23"/>
          <p:cNvSpPr txBox="1">
            <a:spLocks noGrp="1"/>
          </p:cNvSpPr>
          <p:nvPr>
            <p:ph type="title"/>
          </p:nvPr>
        </p:nvSpPr>
        <p:spPr>
          <a:xfrm>
            <a:off x="229651" y="0"/>
            <a:ext cx="7080000" cy="609000"/>
          </a:xfrm>
          <a:prstGeom prst="rect">
            <a:avLst/>
          </a:prstGeom>
          <a:noFill/>
          <a:ln>
            <a:noFill/>
          </a:ln>
        </p:spPr>
        <p:txBody>
          <a:bodyPr spcFirstLastPara="1" wrap="square" lIns="91425" tIns="72000" rIns="91425" bIns="45700" anchor="ctr" anchorCtr="0">
            <a:normAutofit/>
          </a:bodyPr>
          <a:lstStyle/>
          <a:p>
            <a:pPr marL="0" lvl="0" indent="0" algn="l" rtl="0">
              <a:lnSpc>
                <a:spcPct val="100000"/>
              </a:lnSpc>
              <a:spcBef>
                <a:spcPts val="0"/>
              </a:spcBef>
              <a:spcAft>
                <a:spcPts val="0"/>
              </a:spcAft>
              <a:buClr>
                <a:schemeClr val="dk1"/>
              </a:buClr>
              <a:buSzPts val="2550"/>
              <a:buFont typeface="Arial"/>
              <a:buNone/>
            </a:pPr>
            <a:r>
              <a:rPr lang="ja-JP" sz="2550" b="0">
                <a:latin typeface="Century"/>
                <a:ea typeface="Century"/>
                <a:cs typeface="Century"/>
                <a:sym typeface="Century"/>
              </a:rPr>
              <a:t>Ⅰ部　 IAESTEについて</a:t>
            </a:r>
            <a:endParaRPr>
              <a:latin typeface="Century"/>
              <a:ea typeface="Century"/>
              <a:cs typeface="Century"/>
              <a:sym typeface="Century"/>
            </a:endParaRPr>
          </a:p>
        </p:txBody>
      </p:sp>
      <p:sp>
        <p:nvSpPr>
          <p:cNvPr id="822" name="Google Shape;822;g2dde2198658_4_23"/>
          <p:cNvSpPr txBox="1"/>
          <p:nvPr/>
        </p:nvSpPr>
        <p:spPr>
          <a:xfrm>
            <a:off x="386850" y="1823600"/>
            <a:ext cx="8370300" cy="4163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:00~1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:05　開会</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A5A5A5"/>
                </a:solidFill>
                <a:latin typeface="Century"/>
                <a:ea typeface="Century"/>
                <a:cs typeface="Century"/>
                <a:sym typeface="Century"/>
              </a:rPr>
              <a:t>1</a:t>
            </a:r>
            <a:r>
              <a:rPr lang="ja-JP" sz="2550">
                <a:solidFill>
                  <a:srgbClr val="A5A5A5"/>
                </a:solidFill>
                <a:latin typeface="Century"/>
                <a:ea typeface="Century"/>
                <a:cs typeface="Century"/>
                <a:sym typeface="Century"/>
              </a:rPr>
              <a:t>0</a:t>
            </a:r>
            <a:r>
              <a:rPr lang="ja-JP" sz="2550" b="0" i="0" u="none" strike="noStrike" cap="none">
                <a:solidFill>
                  <a:srgbClr val="A5A5A5"/>
                </a:solidFill>
                <a:latin typeface="Century"/>
                <a:ea typeface="Century"/>
                <a:cs typeface="Century"/>
                <a:sym typeface="Century"/>
              </a:rPr>
              <a:t>:05~1</a:t>
            </a:r>
            <a:r>
              <a:rPr lang="ja-JP" sz="2550">
                <a:solidFill>
                  <a:srgbClr val="A5A5A5"/>
                </a:solidFill>
                <a:latin typeface="Century"/>
                <a:ea typeface="Century"/>
                <a:cs typeface="Century"/>
                <a:sym typeface="Century"/>
              </a:rPr>
              <a:t>0</a:t>
            </a:r>
            <a:r>
              <a:rPr lang="ja-JP" sz="2550" b="0" i="0" u="none" strike="noStrike" cap="none">
                <a:solidFill>
                  <a:srgbClr val="A5A5A5"/>
                </a:solidFill>
                <a:latin typeface="Century"/>
                <a:ea typeface="Century"/>
                <a:cs typeface="Century"/>
                <a:sym typeface="Century"/>
              </a:rPr>
              <a:t>:25   Ⅰ部　 IAESTEについて</a:t>
            </a:r>
            <a:endParaRPr sz="2550" b="0" i="0" u="none" strike="noStrike" cap="none">
              <a:solidFill>
                <a:srgbClr val="A5A5A5"/>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30</a:t>
            </a: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55</a:t>
            </a:r>
            <a:r>
              <a:rPr lang="ja-JP" sz="2550" b="0" i="0" u="none" strike="noStrike" cap="none">
                <a:solidFill>
                  <a:srgbClr val="BFBFBF"/>
                </a:solidFill>
                <a:latin typeface="Century"/>
                <a:ea typeface="Century"/>
                <a:cs typeface="Century"/>
                <a:sym typeface="Century"/>
              </a:rPr>
              <a:t>    </a:t>
            </a:r>
            <a:r>
              <a:rPr lang="ja-JP" sz="2550">
                <a:solidFill>
                  <a:srgbClr val="BFBFBF"/>
                </a:solidFill>
                <a:latin typeface="Century"/>
                <a:ea typeface="Century"/>
                <a:cs typeface="Century"/>
                <a:sym typeface="Century"/>
              </a:rPr>
              <a:t>Ⅱ部　OB内田崇志様による発表</a:t>
            </a:r>
            <a:endParaRPr sz="2550">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a:solidFill>
                  <a:srgbClr val="BFBFBF"/>
                </a:solidFill>
                <a:latin typeface="Century"/>
                <a:ea typeface="Century"/>
                <a:cs typeface="Century"/>
                <a:sym typeface="Century"/>
              </a:rPr>
              <a:t>　　　　　　　　　(プレゼン15分+質疑応答10分)</a:t>
            </a:r>
            <a:endParaRPr sz="2550">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rgbClr val="BFBFBF"/>
                </a:solidFill>
                <a:latin typeface="Century"/>
                <a:ea typeface="Century"/>
                <a:cs typeface="Century"/>
                <a:sym typeface="Century"/>
              </a:rPr>
              <a:t>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0</a:t>
            </a:r>
            <a:r>
              <a:rPr lang="ja-JP" sz="2550" b="0" i="0" u="none" strike="noStrike" cap="none">
                <a:solidFill>
                  <a:srgbClr val="BFBFBF"/>
                </a:solidFill>
                <a:latin typeface="Century"/>
                <a:ea typeface="Century"/>
                <a:cs typeface="Century"/>
                <a:sym typeface="Century"/>
              </a:rPr>
              <a:t>0~1</a:t>
            </a:r>
            <a:r>
              <a:rPr lang="ja-JP" sz="2550">
                <a:solidFill>
                  <a:srgbClr val="BFBFBF"/>
                </a:solidFill>
                <a:latin typeface="Century"/>
                <a:ea typeface="Century"/>
                <a:cs typeface="Century"/>
                <a:sym typeface="Century"/>
              </a:rPr>
              <a:t>1</a:t>
            </a:r>
            <a:r>
              <a:rPr lang="ja-JP" sz="2550" b="0" i="0" u="none" strike="noStrike" cap="none">
                <a:solidFill>
                  <a:srgbClr val="BFBFBF"/>
                </a:solidFill>
                <a:latin typeface="Century"/>
                <a:ea typeface="Century"/>
                <a:cs typeface="Century"/>
                <a:sym typeface="Century"/>
              </a:rPr>
              <a:t>:</a:t>
            </a:r>
            <a:r>
              <a:rPr lang="ja-JP" sz="2550">
                <a:solidFill>
                  <a:srgbClr val="BFBFBF"/>
                </a:solidFill>
                <a:latin typeface="Century"/>
                <a:ea typeface="Century"/>
                <a:cs typeface="Century"/>
                <a:sym typeface="Century"/>
              </a:rPr>
              <a:t>30</a:t>
            </a:r>
            <a:r>
              <a:rPr lang="ja-JP" sz="2550" b="0" i="0" u="none" strike="noStrike" cap="none">
                <a:solidFill>
                  <a:srgbClr val="BFBFBF"/>
                </a:solidFill>
                <a:latin typeface="Century"/>
                <a:ea typeface="Century"/>
                <a:cs typeface="Century"/>
                <a:sym typeface="Century"/>
              </a:rPr>
              <a:t>    </a:t>
            </a:r>
            <a:r>
              <a:rPr lang="ja-JP" sz="2550">
                <a:solidFill>
                  <a:srgbClr val="BFBFBF"/>
                </a:solidFill>
                <a:latin typeface="Century"/>
                <a:ea typeface="Century"/>
                <a:cs typeface="Century"/>
                <a:sym typeface="Century"/>
              </a:rPr>
              <a:t>Ⅲ</a:t>
            </a:r>
            <a:r>
              <a:rPr lang="ja-JP" sz="2550" b="0" i="0" u="none" strike="noStrike" cap="none">
                <a:solidFill>
                  <a:srgbClr val="BFBFBF"/>
                </a:solidFill>
                <a:latin typeface="Century"/>
                <a:ea typeface="Century"/>
                <a:cs typeface="Century"/>
                <a:sym typeface="Century"/>
              </a:rPr>
              <a:t>部　篠崎様</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chemeClr val="dk1"/>
              </a:buClr>
              <a:buSzPts val="2550"/>
              <a:buFont typeface="Arial"/>
              <a:buNone/>
            </a:pPr>
            <a:r>
              <a:rPr lang="ja-JP" sz="2550" b="0" i="0" u="none" strike="noStrike" cap="none">
                <a:solidFill>
                  <a:srgbClr val="BFBFBF"/>
                </a:solidFill>
                <a:latin typeface="Century"/>
                <a:ea typeface="Century"/>
                <a:cs typeface="Century"/>
                <a:sym typeface="Century"/>
              </a:rPr>
              <a:t>　　　　　　　　(</a:t>
            </a:r>
            <a:r>
              <a:rPr lang="ja-JP" sz="2550" b="0" i="0" u="none" strike="noStrike" cap="none">
                <a:solidFill>
                  <a:srgbClr val="BFBFBF"/>
                </a:solidFill>
                <a:latin typeface="Meiryo"/>
                <a:ea typeface="Meiryo"/>
                <a:cs typeface="Meiryo"/>
                <a:sym typeface="Meiryo"/>
              </a:rPr>
              <a:t>IAESTEJAPAN理事局 National </a:t>
            </a:r>
            <a:endParaRPr sz="2550" b="0" i="0" u="none" strike="noStrike" cap="none">
              <a:solidFill>
                <a:srgbClr val="BFBFBF"/>
              </a:solidFill>
              <a:latin typeface="Meiryo"/>
              <a:ea typeface="Meiryo"/>
              <a:cs typeface="Meiryo"/>
              <a:sym typeface="Meiryo"/>
            </a:endParaRPr>
          </a:p>
          <a:p>
            <a:pPr marL="1371600" marR="0" lvl="0" indent="457200" algn="l" rtl="0">
              <a:lnSpc>
                <a:spcPct val="100000"/>
              </a:lnSpc>
              <a:spcBef>
                <a:spcPts val="0"/>
              </a:spcBef>
              <a:spcAft>
                <a:spcPts val="0"/>
              </a:spcAft>
              <a:buClr>
                <a:schemeClr val="dk1"/>
              </a:buClr>
              <a:buSzPts val="2550"/>
              <a:buFont typeface="Arial"/>
              <a:buNone/>
            </a:pPr>
            <a:r>
              <a:rPr lang="ja-JP" sz="2550" b="0" i="0" u="none" strike="noStrike" cap="none">
                <a:solidFill>
                  <a:srgbClr val="BFBFBF"/>
                </a:solidFill>
                <a:latin typeface="Meiryo"/>
                <a:ea typeface="Meiryo"/>
                <a:cs typeface="Meiryo"/>
                <a:sym typeface="Meiryo"/>
              </a:rPr>
              <a:t>  　　Exchange Coordinator)</a:t>
            </a:r>
            <a:r>
              <a:rPr lang="ja-JP" sz="2550" b="0" i="0" u="none" strike="noStrike" cap="none">
                <a:solidFill>
                  <a:srgbClr val="BFBFBF"/>
                </a:solidFill>
                <a:latin typeface="Century"/>
                <a:ea typeface="Century"/>
                <a:cs typeface="Century"/>
                <a:sym typeface="Century"/>
              </a:rPr>
              <a:t>への質問会</a:t>
            </a:r>
            <a:endParaRPr sz="2550" b="0" i="0" u="none" strike="noStrike" cap="none">
              <a:solidFill>
                <a:srgbClr val="BFBFBF"/>
              </a:solidFill>
              <a:latin typeface="Century"/>
              <a:ea typeface="Century"/>
              <a:cs typeface="Century"/>
              <a:sym typeface="Century"/>
            </a:endParaRPr>
          </a:p>
          <a:p>
            <a:pPr marL="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1</a:t>
            </a:r>
            <a:r>
              <a:rPr lang="ja-JP" sz="2550">
                <a:solidFill>
                  <a:schemeClr val="dk1"/>
                </a:solidFill>
                <a:latin typeface="Century"/>
                <a:ea typeface="Century"/>
                <a:cs typeface="Century"/>
                <a:sym typeface="Century"/>
              </a:rPr>
              <a:t>1</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3</a:t>
            </a:r>
            <a:r>
              <a:rPr lang="ja-JP" sz="2550" b="0" i="0" u="none" strike="noStrike" cap="none">
                <a:solidFill>
                  <a:schemeClr val="dk1"/>
                </a:solidFill>
                <a:latin typeface="Century"/>
                <a:ea typeface="Century"/>
                <a:cs typeface="Century"/>
                <a:sym typeface="Century"/>
              </a:rPr>
              <a:t>0~1</a:t>
            </a:r>
            <a:r>
              <a:rPr lang="ja-JP" sz="2550">
                <a:solidFill>
                  <a:schemeClr val="dk1"/>
                </a:solidFill>
                <a:latin typeface="Century"/>
                <a:ea typeface="Century"/>
                <a:cs typeface="Century"/>
                <a:sym typeface="Century"/>
              </a:rPr>
              <a:t>1</a:t>
            </a:r>
            <a:r>
              <a:rPr lang="ja-JP" sz="2550" b="0" i="0" u="none" strike="noStrike" cap="none">
                <a:solidFill>
                  <a:schemeClr val="dk1"/>
                </a:solidFill>
                <a:latin typeface="Century"/>
                <a:ea typeface="Century"/>
                <a:cs typeface="Century"/>
                <a:sym typeface="Century"/>
              </a:rPr>
              <a:t>:</a:t>
            </a:r>
            <a:r>
              <a:rPr lang="ja-JP" sz="2550">
                <a:solidFill>
                  <a:schemeClr val="dk1"/>
                </a:solidFill>
                <a:latin typeface="Century"/>
                <a:ea typeface="Century"/>
                <a:cs typeface="Century"/>
                <a:sym typeface="Century"/>
              </a:rPr>
              <a:t>40</a:t>
            </a:r>
            <a:r>
              <a:rPr lang="ja-JP" sz="2550" b="0" i="0" u="none" strike="noStrike" cap="none">
                <a:solidFill>
                  <a:schemeClr val="dk1"/>
                </a:solidFill>
                <a:latin typeface="Century"/>
                <a:ea typeface="Century"/>
                <a:cs typeface="Century"/>
                <a:sym typeface="Century"/>
              </a:rPr>
              <a:t>　</a:t>
            </a:r>
            <a:r>
              <a:rPr lang="ja-JP" sz="2550">
                <a:solidFill>
                  <a:schemeClr val="dk1"/>
                </a:solidFill>
                <a:latin typeface="Century"/>
                <a:ea typeface="Century"/>
                <a:cs typeface="Century"/>
                <a:sym typeface="Century"/>
              </a:rPr>
              <a:t>閉会</a:t>
            </a:r>
            <a:r>
              <a:rPr lang="ja-JP" sz="2550" b="0" i="0" u="none" strike="noStrike" cap="none">
                <a:solidFill>
                  <a:srgbClr val="BFBFBF"/>
                </a:solidFill>
                <a:latin typeface="Century"/>
                <a:ea typeface="Century"/>
                <a:cs typeface="Century"/>
                <a:sym typeface="Century"/>
              </a:rPr>
              <a:t>     </a:t>
            </a: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828800" marR="0" lvl="0" indent="0" algn="l" rtl="0">
              <a:lnSpc>
                <a:spcPct val="100000"/>
              </a:lnSpc>
              <a:spcBef>
                <a:spcPts val="0"/>
              </a:spcBef>
              <a:spcAft>
                <a:spcPts val="0"/>
              </a:spcAft>
              <a:buClr>
                <a:srgbClr val="000000"/>
              </a:buClr>
              <a:buSzPts val="2550"/>
              <a:buFont typeface="Arial"/>
              <a:buNone/>
            </a:pPr>
            <a:r>
              <a:rPr lang="ja-JP" sz="2550" b="0" i="0" u="none" strike="noStrike" cap="none">
                <a:solidFill>
                  <a:schemeClr val="dk1"/>
                </a:solidFill>
                <a:latin typeface="Century"/>
                <a:ea typeface="Century"/>
                <a:cs typeface="Century"/>
                <a:sym typeface="Century"/>
              </a:rPr>
              <a:t>　　　　</a:t>
            </a:r>
            <a:endParaRPr sz="2550" b="0" i="0" u="none" strike="noStrike" cap="none">
              <a:solidFill>
                <a:schemeClr val="dk1"/>
              </a:solidFill>
              <a:latin typeface="Century"/>
              <a:ea typeface="Century"/>
              <a:cs typeface="Century"/>
              <a:sym typeface="Century"/>
            </a:endParaRPr>
          </a:p>
          <a:p>
            <a:pPr marL="1371600" marR="0" lvl="0" indent="457200" algn="l" rtl="0">
              <a:lnSpc>
                <a:spcPct val="100000"/>
              </a:lnSpc>
              <a:spcBef>
                <a:spcPts val="0"/>
              </a:spcBef>
              <a:spcAft>
                <a:spcPts val="0"/>
              </a:spcAft>
              <a:buClr>
                <a:srgbClr val="000000"/>
              </a:buClr>
              <a:buSzPts val="2550"/>
              <a:buFont typeface="Arial"/>
              <a:buNone/>
            </a:pPr>
            <a:endParaRPr sz="2900" b="0" i="0" u="none" strike="noStrike" cap="non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4bee65766c_0_339"/>
          <p:cNvSpPr txBox="1">
            <a:spLocks noGrp="1"/>
          </p:cNvSpPr>
          <p:nvPr>
            <p:ph type="title"/>
          </p:nvPr>
        </p:nvSpPr>
        <p:spPr>
          <a:xfrm>
            <a:off x="172238" y="0"/>
            <a:ext cx="5310000" cy="609000"/>
          </a:xfrm>
          <a:prstGeom prst="rect">
            <a:avLst/>
          </a:prstGeom>
          <a:noFill/>
          <a:ln>
            <a:noFill/>
          </a:ln>
        </p:spPr>
        <p:txBody>
          <a:bodyPr spcFirstLastPara="1" wrap="square" lIns="91425" tIns="72000" rIns="91425" bIns="45700" anchor="ctr" anchorCtr="0">
            <a:normAutofit/>
          </a:bodyPr>
          <a:lstStyle/>
          <a:p>
            <a:pPr marL="0" lvl="0" indent="0" algn="l" rtl="0">
              <a:lnSpc>
                <a:spcPct val="90000"/>
              </a:lnSpc>
              <a:spcBef>
                <a:spcPts val="0"/>
              </a:spcBef>
              <a:spcAft>
                <a:spcPts val="0"/>
              </a:spcAft>
              <a:buClr>
                <a:schemeClr val="lt1"/>
              </a:buClr>
              <a:buSzPts val="2000"/>
              <a:buFont typeface="Calibri"/>
              <a:buNone/>
            </a:pPr>
            <a:r>
              <a:rPr lang="ja-JP" sz="2500"/>
              <a:t>最後に</a:t>
            </a:r>
            <a:endParaRPr sz="2500"/>
          </a:p>
        </p:txBody>
      </p:sp>
      <p:sp>
        <p:nvSpPr>
          <p:cNvPr id="828" name="Google Shape;828;g24bee65766c_0_339"/>
          <p:cNvSpPr txBox="1"/>
          <p:nvPr/>
        </p:nvSpPr>
        <p:spPr>
          <a:xfrm>
            <a:off x="1080900" y="1153525"/>
            <a:ext cx="6982200" cy="2124000"/>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chemeClr val="dk1"/>
              </a:buClr>
              <a:buSzPts val="2400"/>
              <a:buFont typeface="Arial"/>
              <a:buNone/>
            </a:pPr>
            <a:r>
              <a:rPr lang="ja-JP" sz="2400" b="0" i="0" u="none" strike="noStrike" cap="none">
                <a:solidFill>
                  <a:schemeClr val="dk1"/>
                </a:solidFill>
                <a:latin typeface="Meiryo"/>
                <a:ea typeface="Meiryo"/>
                <a:cs typeface="Meiryo"/>
                <a:sym typeface="Meiryo"/>
              </a:rPr>
              <a:t>本日はご参加いただきありがとうございました。</a:t>
            </a:r>
            <a:endParaRPr sz="2400" b="0" i="0" u="none" strike="noStrike" cap="none">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2400"/>
              <a:buFont typeface="Arial"/>
              <a:buNone/>
            </a:pPr>
            <a:r>
              <a:rPr lang="ja-JP" sz="2400" b="0" i="0" u="none" strike="noStrike" cap="none">
                <a:solidFill>
                  <a:schemeClr val="dk1"/>
                </a:solidFill>
                <a:latin typeface="Meiryo"/>
                <a:ea typeface="Meiryo"/>
                <a:cs typeface="Meiryo"/>
                <a:sym typeface="Meiryo"/>
              </a:rPr>
              <a:t>以下のQRコードを読み取り、</a:t>
            </a:r>
            <a:endParaRPr sz="2400" b="0" i="0" u="none" strike="noStrike" cap="none">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2400"/>
              <a:buFont typeface="Arial"/>
              <a:buNone/>
            </a:pPr>
            <a:r>
              <a:rPr lang="ja-JP" sz="2400" b="0" i="0" u="none" strike="noStrike" cap="none">
                <a:solidFill>
                  <a:schemeClr val="dk1"/>
                </a:solidFill>
                <a:latin typeface="Meiryo"/>
                <a:ea typeface="Meiryo"/>
                <a:cs typeface="Meiryo"/>
                <a:sym typeface="Meiryo"/>
              </a:rPr>
              <a:t>アンケートにご協力ください。</a:t>
            </a:r>
            <a:endParaRPr sz="2400" b="0" i="0" u="none" strike="noStrike" cap="none">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rgbClr val="000000"/>
              </a:buClr>
              <a:buSzPts val="2400"/>
              <a:buFont typeface="Arial"/>
              <a:buNone/>
            </a:pPr>
            <a:r>
              <a:rPr lang="ja-JP" sz="2400" b="0" i="0" u="none" strike="noStrike" cap="none">
                <a:solidFill>
                  <a:schemeClr val="dk1"/>
                </a:solidFill>
                <a:latin typeface="Meiryo"/>
                <a:ea typeface="Meiryo"/>
                <a:cs typeface="Meiryo"/>
                <a:sym typeface="Meiryo"/>
              </a:rPr>
              <a:t>記入が終わった方からご退出ください。</a:t>
            </a:r>
            <a:endParaRPr sz="1800" b="0" i="0" u="none" strike="noStrike" cap="none">
              <a:solidFill>
                <a:schemeClr val="dk1"/>
              </a:solidFill>
              <a:latin typeface="Arial"/>
              <a:ea typeface="Arial"/>
              <a:cs typeface="Arial"/>
              <a:sym typeface="Arial"/>
            </a:endParaRPr>
          </a:p>
        </p:txBody>
      </p:sp>
      <p:sp>
        <p:nvSpPr>
          <p:cNvPr id="829" name="Google Shape;829;g24bee65766c_0_339"/>
          <p:cNvSpPr txBox="1">
            <a:spLocks noGrp="1"/>
          </p:cNvSpPr>
          <p:nvPr>
            <p:ph type="sldNum" idx="12"/>
          </p:nvPr>
        </p:nvSpPr>
        <p:spPr>
          <a:xfrm>
            <a:off x="6851962" y="6368951"/>
            <a:ext cx="20574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tLang="ja-JP"/>
              <a:t>44</a:t>
            </a:fld>
            <a:endParaRPr/>
          </a:p>
        </p:txBody>
      </p:sp>
      <p:pic>
        <p:nvPicPr>
          <p:cNvPr id="830" name="Google Shape;830;g24bee65766c_0_339"/>
          <p:cNvPicPr preferRelativeResize="0"/>
          <p:nvPr/>
        </p:nvPicPr>
        <p:blipFill>
          <a:blip r:embed="rId3">
            <a:alphaModFix/>
          </a:blip>
          <a:stretch>
            <a:fillRect/>
          </a:stretch>
        </p:blipFill>
        <p:spPr>
          <a:xfrm>
            <a:off x="3464575" y="3901450"/>
            <a:ext cx="2832600" cy="2832600"/>
          </a:xfrm>
          <a:prstGeom prst="rect">
            <a:avLst/>
          </a:prstGeom>
          <a:noFill/>
          <a:ln>
            <a:noFill/>
          </a:ln>
        </p:spPr>
      </p:pic>
      <p:sp>
        <p:nvSpPr>
          <p:cNvPr id="831" name="Google Shape;831;g24bee65766c_0_339"/>
          <p:cNvSpPr txBox="1"/>
          <p:nvPr/>
        </p:nvSpPr>
        <p:spPr>
          <a:xfrm>
            <a:off x="3072900" y="3778625"/>
            <a:ext cx="2670300" cy="274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JP" sz="1200"/>
              <a:t>﻿</a:t>
            </a:r>
            <a:endParaRPr sz="1200"/>
          </a:p>
          <a:p>
            <a:pPr marL="0" lvl="0" indent="0" algn="l" rtl="0">
              <a:spcBef>
                <a:spcPts val="0"/>
              </a:spcBef>
              <a:spcAft>
                <a:spcPts val="0"/>
              </a:spcAft>
              <a:buNone/>
            </a:pPr>
            <a:r>
              <a:rPr lang="ja-JP" sz="1200"/>
              <a:t>﻿</a:t>
            </a:r>
            <a:endParaRPr sz="1200"/>
          </a:p>
          <a:p>
            <a:pPr marL="0" lvl="0" indent="0" algn="l" rtl="0">
              <a:spcBef>
                <a:spcPts val="0"/>
              </a:spcBef>
              <a:spcAft>
                <a:spcPts val="0"/>
              </a:spcAft>
              <a:buNone/>
            </a:pPr>
            <a:endParaRPr sz="1100"/>
          </a:p>
        </p:txBody>
      </p:sp>
    </p:spTree>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4395</Words>
  <Application>Microsoft Office PowerPoint</Application>
  <PresentationFormat>画面に合わせる (4:3)</PresentationFormat>
  <Paragraphs>670</Paragraphs>
  <Slides>44</Slides>
  <Notes>44</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44</vt:i4>
      </vt:variant>
    </vt:vector>
  </HeadingPairs>
  <TitlesOfParts>
    <vt:vector size="55" baseType="lpstr">
      <vt:lpstr>Meiryo</vt:lpstr>
      <vt:lpstr>Arial</vt:lpstr>
      <vt:lpstr>Helvetica Neue Light</vt:lpstr>
      <vt:lpstr>Noto Sans Symbols</vt:lpstr>
      <vt:lpstr>Poppins Medium</vt:lpstr>
      <vt:lpstr>Century</vt:lpstr>
      <vt:lpstr>Calibri</vt:lpstr>
      <vt:lpstr>Poppins</vt:lpstr>
      <vt:lpstr>Helvetica Neue</vt:lpstr>
      <vt:lpstr>Poppins Light</vt:lpstr>
      <vt:lpstr>Office テーマ</vt:lpstr>
      <vt:lpstr>PowerPoint プレゼンテーション</vt:lpstr>
      <vt:lpstr>本日の流れ</vt:lpstr>
      <vt:lpstr>Ⅰ部　 IAESTEについて</vt:lpstr>
      <vt:lpstr>Contents</vt:lpstr>
      <vt:lpstr>Contents</vt:lpstr>
      <vt:lpstr>IAESTE とは</vt:lpstr>
      <vt:lpstr>幅広いネットワーク</vt:lpstr>
      <vt:lpstr>Contents</vt:lpstr>
      <vt:lpstr>プログラムの特徴</vt:lpstr>
      <vt:lpstr>プログラムの特徴</vt:lpstr>
      <vt:lpstr>プログラムの特徴</vt:lpstr>
      <vt:lpstr>プログラムの特徴</vt:lpstr>
      <vt:lpstr>プログラムの特徴</vt:lpstr>
      <vt:lpstr>プログラムの特徴</vt:lpstr>
      <vt:lpstr>プログラムの特徴</vt:lpstr>
      <vt:lpstr>プログラムの特徴</vt:lpstr>
      <vt:lpstr>プログラムの特徴</vt:lpstr>
      <vt:lpstr>プログラムの特徴</vt:lpstr>
      <vt:lpstr>プログラムの特徴</vt:lpstr>
      <vt:lpstr>プログラムの特徴</vt:lpstr>
      <vt:lpstr>プログラムの特徴</vt:lpstr>
      <vt:lpstr>Contents</vt:lpstr>
      <vt:lpstr>プログラムの概要</vt:lpstr>
      <vt:lpstr>応募方法　いずれかを選択</vt:lpstr>
      <vt:lpstr>リモートインターンシップについて</vt:lpstr>
      <vt:lpstr>プログラム参加費</vt:lpstr>
      <vt:lpstr>大学会員校</vt:lpstr>
      <vt:lpstr>その他の費用</vt:lpstr>
      <vt:lpstr>応募から研修までの流れ 　（9月応募のExchange Internship の場合）</vt:lpstr>
      <vt:lpstr>応募から研修までの流れ 　（9月応募のExchange Internship の場合）</vt:lpstr>
      <vt:lpstr>1.面談について</vt:lpstr>
      <vt:lpstr>1.面接について</vt:lpstr>
      <vt:lpstr>語学試験について（Exchage Internshipの場合）</vt:lpstr>
      <vt:lpstr>語学試験について（Global Internshipの場合）</vt:lpstr>
      <vt:lpstr>応募から研修までの流れ 　（9月応募のExchange Internship の場合）</vt:lpstr>
      <vt:lpstr>2. マッチング</vt:lpstr>
      <vt:lpstr>応募から研修までの流れ</vt:lpstr>
      <vt:lpstr>応募から研修までの流れ 　（9月応募のExchange Internship の場合）</vt:lpstr>
      <vt:lpstr>お問い合わせ</vt:lpstr>
      <vt:lpstr>SNS</vt:lpstr>
      <vt:lpstr>Ⅰ部　 IAESTEについて</vt:lpstr>
      <vt:lpstr>Ⅰ部　 IAESTEについて</vt:lpstr>
      <vt:lpstr>Ⅰ部　 IAESTEについて</vt:lpstr>
      <vt:lpstr>最後に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2024-08-03T00:10:05Z</dcterms:created>
  <dcterms:modified xsi:type="dcterms:W3CDTF">2024-08-03T00:10:33Z</dcterms:modified>
</cp:coreProperties>
</file>